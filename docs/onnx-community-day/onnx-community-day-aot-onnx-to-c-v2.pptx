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as lessons learned, not a product pitch. The focus is not only what the compiler supports, but what the project taught us about ONNX as input to a deterministic AOT compiler. emx-onnx-cgen is an open-source ahead-of-time compiler that turns ONNX models into portable, deterministic C for deeply embedded, safety-critical and resource-constrained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practical history. This was not initially a 'build a complete ONNX compiler' project. The first driver was control over generated C. onnx2c demonstrated the value of ONNX-to-C, but generated-code quality and control were insufficient, and dynamic dimensions were the central irritation.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VLA parameters are a representation technique for known rank with runtime extents. They keep the ABI explicit and preserve tensor structure in the type — accessing beyond a declared array object is undefined behaviour even when the next row is contiguous, so typed arrays carry more information than flat pointers. But representation is not semantics: VLAs do not bound memory, do not solve dynamic rank, and do not solve unbounded sequences or strings. This experiment justified building a new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Once broad coverage became the goal, the project needed real architecture and testing discipline. Import, normalization, lowering and codegen needed clear boundaries; unsupported cases needed explicit, testable diagnostics; coverage reports became part of the daily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concise — just enough context before the lessons. AOT ONNX-to-C, portable and deterministic, for embedded targets, avoiding dynamic memory and external runtimes. The generated API is deliberately tiny: a load function and a model function. C is not only the output language; it is the handoff IR into emmtrix's source-to-source vectorizer and safety-critical toolchains (ISO 26262, DO-178C contexts).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is not just a number — it forced the system to be modular and deterministic. Small functions, clear pass contracts, explicit context objects instead of globals, deterministic output for stable golden tests. The point of the talk is that the coverage target produced better compiler architecture, not merely a high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compile/verify parity matters. Bad pattern: verify reads representative input_*.pb files whose values or shapes make codegen succeed, while plain compile would fail or emit different code. If a model needs representative inputs to resolve dynamic shapes, it should fail clearly or require an explicit option that compile also has. Floating outputs are compared with ULP thresholds after an absolute epsilon; non-floating outputs must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AOT lesson. ONNX is intentionally flexible as an interchange format; embedded C needs concrete bounds. General static memory planning is impossible without additional assumptions. A tensor dimension asks 'how large is this axis?'; a sequence asks 'how many tensor objects, and what shape each?' — comfortable for runtimes, hard for static C. emx-onnx-cgen bounds these explicitly via fixed-capacity arrays, fixed string slots, and override macros, and fails clearly when bounds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mismatch, not only a flaw: a flexible model format versus a static compiler input. Inference should be separable from code generation and from a fixed operator universe. A shared, extensible inference library that preserves symbolic/dynamic dimensions and constraints — and writes results back into the model — would stop every backend reimplementing it. We are exploring a DSL where a rule is written once and runs from both C++ and Python, numerically for concrete dims and symbolically (e.g. SymPy) for symbolic dims, and could ship inside ONNX models for custom operators. Present as vision/research, not finished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Highly relevant to backend authors. Validation is an engineering policy unless the standard defines the contract. A single fixed rtol/atol is not equally meaningful across dtypes — float16/32/64 differ enormously in spacing. emx uses an absolute-epsilon gate then ULP distance, exact for non-float. Some ONNX reference outputs are effectively high precision, which under strict ULP forced 64-bit accumulation on selected tests, exposed as --fp32-accumulation-strategy fp64.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coverage as report-based and corpus-based — don't make exact percentages the point. The scoreboard placement (directly after ONNX Reference in the stable build) is credibility, but it measures backend unit-test execution, not auditability or deterministic AOT constraints. The real message: coverage became systematic, reproducible and visible. emx-ort-test-artifacts extends the same artifact idea to ORT-derived tests; the idea was raised in ORT forums with near-zero response — mention as an underused community opportunity, not a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constructively. AOT-friendly ONNX usage needs explicit bounds; compiler-oriented infrastructure should include reliable, reusable, extensible shape/type inference whose results can be persisted in the model; numerical accuracy requirements should be more explicit; generated-code quality, determinism and auditability are backend features. The closing question for the room: what would an AOT-friendly ONNX profile need to specify so embedded backends can compile deterministically without hidden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Lead with the profile question, then let the room pick threads: shared inference artifact, domain registration, portable custom-op rules, numerical contracts, and how scoreboards could reflect deterministic, auditable code generation rather than only unit-test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777240" y="914400"/>
            <a:ext cx="256032" cy="256032"/>
          </a:xfrm>
          <a:prstGeom prst="roundRect">
            <a:avLst>
              <a:gd name="adj" fmla="val 21429"/>
            </a:avLst>
          </a:prstGeom>
          <a:solidFill>
            <a:srgbClr val="16A39A"/>
          </a:solidFill>
          <a:ln/>
        </p:spPr>
      </p:sp>
      <p:sp>
        <p:nvSpPr>
          <p:cNvPr id="3" name="Text 1"/>
          <p:cNvSpPr/>
          <p:nvPr/>
        </p:nvSpPr>
        <p:spPr>
          <a:xfrm>
            <a:off x="1143000" y="868680"/>
            <a:ext cx="8229600" cy="365760"/>
          </a:xfrm>
          <a:prstGeom prst="rect">
            <a:avLst/>
          </a:prstGeom>
          <a:noFill/>
          <a:ln/>
        </p:spPr>
        <p:txBody>
          <a:bodyPr wrap="square" lIns="0" tIns="0" rIns="0" bIns="0" rtlCol="0" anchor="ctr"/>
          <a:lstStyle/>
          <a:p>
            <a:pPr indent="0" marL="0">
              <a:buNone/>
            </a:pPr>
            <a:r>
              <a:rPr lang="en-US" sz="1400" b="1" spc="300" kern="0" dirty="0">
                <a:solidFill>
                  <a:srgbClr val="16A39A"/>
                </a:solidFill>
                <a:latin typeface="Calibri" pitchFamily="34" charset="0"/>
                <a:ea typeface="Calibri" pitchFamily="34" charset="-122"/>
                <a:cs typeface="Calibri" pitchFamily="34" charset="-120"/>
              </a:rPr>
              <a:t>LESSONS LEARNED</a:t>
            </a:r>
            <a:endParaRPr lang="en-US" sz="1400" dirty="0"/>
          </a:p>
        </p:txBody>
      </p:sp>
      <p:sp>
        <p:nvSpPr>
          <p:cNvPr id="4" name="Text 2"/>
          <p:cNvSpPr/>
          <p:nvPr/>
        </p:nvSpPr>
        <p:spPr>
          <a:xfrm>
            <a:off x="777240" y="1554480"/>
            <a:ext cx="10607040" cy="2011680"/>
          </a:xfrm>
          <a:prstGeom prst="rect">
            <a:avLst/>
          </a:prstGeom>
          <a:noFill/>
          <a:ln/>
        </p:spPr>
        <p:txBody>
          <a:bodyPr wrap="square" lIns="0" tIns="0" rIns="0" bIns="0"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Building an AOT</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ONNX-to-C Compiler</a:t>
            </a:r>
            <a:endParaRPr lang="en-US" sz="5200" dirty="0"/>
          </a:p>
        </p:txBody>
      </p:sp>
      <p:sp>
        <p:nvSpPr>
          <p:cNvPr id="5" name="Text 3"/>
          <p:cNvSpPr/>
          <p:nvPr/>
        </p:nvSpPr>
        <p:spPr>
          <a:xfrm>
            <a:off x="795528" y="3611880"/>
            <a:ext cx="10058400" cy="548640"/>
          </a:xfrm>
          <a:prstGeom prst="rect">
            <a:avLst/>
          </a:prstGeom>
          <a:noFill/>
          <a:ln/>
        </p:spPr>
        <p:txBody>
          <a:bodyPr wrap="square" lIns="0" tIns="0" rIns="0" bIns="0" rtlCol="0" anchor="ctr"/>
          <a:lstStyle/>
          <a:p>
            <a:pPr indent="0" marL="0">
              <a:buNone/>
            </a:pPr>
            <a:r>
              <a:rPr lang="en-US" sz="1800" dirty="0">
                <a:solidFill>
                  <a:srgbClr val="B9CEDD"/>
                </a:solidFill>
                <a:latin typeface="Calibri" pitchFamily="34" charset="0"/>
                <a:ea typeface="Calibri" pitchFamily="34" charset="-122"/>
                <a:cs typeface="Calibri" pitchFamily="34" charset="-120"/>
              </a:rPr>
              <a:t>emx-onnx-cgen — deterministic, portable C for embedded and resource-constrained systems</a:t>
            </a:r>
            <a:endParaRPr lang="en-US" sz="1800" dirty="0"/>
          </a:p>
        </p:txBody>
      </p:sp>
      <p:sp>
        <p:nvSpPr>
          <p:cNvPr id="6" name="Shape 4"/>
          <p:cNvSpPr/>
          <p:nvPr/>
        </p:nvSpPr>
        <p:spPr>
          <a:xfrm>
            <a:off x="795528" y="4572000"/>
            <a:ext cx="1371600" cy="457200"/>
          </a:xfrm>
          <a:prstGeom prst="roundRect">
            <a:avLst>
              <a:gd name="adj" fmla="val 20000"/>
            </a:avLst>
          </a:prstGeom>
          <a:solidFill>
            <a:srgbClr val="0A1F38"/>
          </a:solidFill>
          <a:ln w="9525">
            <a:solidFill>
              <a:srgbClr val="16A39A"/>
            </a:solidFill>
            <a:prstDash val="solid"/>
          </a:ln>
        </p:spPr>
      </p:sp>
      <p:sp>
        <p:nvSpPr>
          <p:cNvPr id="7" name="Text 5"/>
          <p:cNvSpPr/>
          <p:nvPr/>
        </p:nvSpPr>
        <p:spPr>
          <a:xfrm>
            <a:off x="795528" y="4572000"/>
            <a:ext cx="1371600"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ONNX model</a:t>
            </a:r>
            <a:endParaRPr lang="en-US" sz="1250" dirty="0"/>
          </a:p>
        </p:txBody>
      </p:sp>
      <p:sp>
        <p:nvSpPr>
          <p:cNvPr id="8" name="Text 6"/>
          <p:cNvSpPr/>
          <p:nvPr/>
        </p:nvSpPr>
        <p:spPr>
          <a:xfrm>
            <a:off x="2167128" y="457200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578608" y="4572000"/>
            <a:ext cx="1687068" cy="457200"/>
          </a:xfrm>
          <a:prstGeom prst="roundRect">
            <a:avLst>
              <a:gd name="adj" fmla="val 20000"/>
            </a:avLst>
          </a:prstGeom>
          <a:solidFill>
            <a:srgbClr val="0E7C77"/>
          </a:solidFill>
          <a:ln w="19050">
            <a:solidFill>
              <a:srgbClr val="16A39A"/>
            </a:solidFill>
            <a:prstDash val="solid"/>
          </a:ln>
        </p:spPr>
      </p:sp>
      <p:sp>
        <p:nvSpPr>
          <p:cNvPr id="10" name="Text 8"/>
          <p:cNvSpPr/>
          <p:nvPr/>
        </p:nvSpPr>
        <p:spPr>
          <a:xfrm>
            <a:off x="2578608" y="4572000"/>
            <a:ext cx="1687068" cy="457200"/>
          </a:xfrm>
          <a:prstGeom prst="rect">
            <a:avLst/>
          </a:prstGeom>
          <a:noFill/>
          <a:ln/>
        </p:spPr>
        <p:txBody>
          <a:bodyPr wrap="square" lIns="0" tIns="0" rIns="0" bIns="0" rtlCol="0" anchor="ctr"/>
          <a:lstStyle/>
          <a:p>
            <a:pPr algn="ctr" indent="0" marL="0">
              <a:buNone/>
            </a:pPr>
            <a:r>
              <a:rPr lang="en-US" sz="1250" dirty="0">
                <a:solidFill>
                  <a:srgbClr val="FFFFFF"/>
                </a:solidFill>
                <a:latin typeface="Consolas" pitchFamily="34" charset="0"/>
                <a:ea typeface="Consolas" pitchFamily="34" charset="-122"/>
                <a:cs typeface="Consolas" pitchFamily="34" charset="-120"/>
              </a:rPr>
              <a:t>emx-onnx-cgen</a:t>
            </a:r>
            <a:endParaRPr lang="en-US" sz="1250" dirty="0"/>
          </a:p>
        </p:txBody>
      </p:sp>
      <p:sp>
        <p:nvSpPr>
          <p:cNvPr id="11" name="Text 9"/>
          <p:cNvSpPr/>
          <p:nvPr/>
        </p:nvSpPr>
        <p:spPr>
          <a:xfrm>
            <a:off x="4265676" y="457200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677156" y="4572000"/>
            <a:ext cx="1056132" cy="457200"/>
          </a:xfrm>
          <a:prstGeom prst="roundRect">
            <a:avLst>
              <a:gd name="adj" fmla="val 20000"/>
            </a:avLst>
          </a:prstGeom>
          <a:solidFill>
            <a:srgbClr val="0A1F38"/>
          </a:solidFill>
          <a:ln w="9525">
            <a:solidFill>
              <a:srgbClr val="16A39A"/>
            </a:solidFill>
            <a:prstDash val="solid"/>
          </a:ln>
        </p:spPr>
      </p:sp>
      <p:sp>
        <p:nvSpPr>
          <p:cNvPr id="13" name="Text 11"/>
          <p:cNvSpPr/>
          <p:nvPr/>
        </p:nvSpPr>
        <p:spPr>
          <a:xfrm>
            <a:off x="4677156" y="4572000"/>
            <a:ext cx="1056132"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clean C</a:t>
            </a:r>
            <a:endParaRPr lang="en-US" sz="1250" dirty="0"/>
          </a:p>
        </p:txBody>
      </p:sp>
      <p:sp>
        <p:nvSpPr>
          <p:cNvPr id="14" name="Text 12"/>
          <p:cNvSpPr/>
          <p:nvPr/>
        </p:nvSpPr>
        <p:spPr>
          <a:xfrm>
            <a:off x="5733288" y="4572000"/>
            <a:ext cx="411480" cy="457200"/>
          </a:xfrm>
          <a:prstGeom prst="rect">
            <a:avLst/>
          </a:prstGeom>
          <a:noFill/>
          <a:ln/>
        </p:spPr>
        <p:txBody>
          <a:bodyPr wrap="square" lIns="0" tIns="0" rIns="0" bIns="0" rtlCol="0" anchor="ctr"/>
          <a:lstStyle/>
          <a:p>
            <a:pPr algn="ctr" indent="0" marL="0">
              <a:buNone/>
            </a:pPr>
            <a:r>
              <a:rPr lang="en-US" sz="1800" dirty="0">
                <a:solidFill>
                  <a:srgbClr val="16A39A"/>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144768" y="4572000"/>
            <a:ext cx="1897380" cy="457200"/>
          </a:xfrm>
          <a:prstGeom prst="roundRect">
            <a:avLst>
              <a:gd name="adj" fmla="val 20000"/>
            </a:avLst>
          </a:prstGeom>
          <a:solidFill>
            <a:srgbClr val="0A1F38"/>
          </a:solidFill>
          <a:ln w="9525">
            <a:solidFill>
              <a:srgbClr val="16A39A"/>
            </a:solidFill>
            <a:prstDash val="solid"/>
          </a:ln>
        </p:spPr>
      </p:sp>
      <p:sp>
        <p:nvSpPr>
          <p:cNvPr id="16" name="Text 14"/>
          <p:cNvSpPr/>
          <p:nvPr/>
        </p:nvSpPr>
        <p:spPr>
          <a:xfrm>
            <a:off x="6144768" y="4572000"/>
            <a:ext cx="1897380" cy="457200"/>
          </a:xfrm>
          <a:prstGeom prst="rect">
            <a:avLst/>
          </a:prstGeom>
          <a:noFill/>
          <a:ln/>
        </p:spPr>
        <p:txBody>
          <a:bodyPr wrap="square" lIns="0" tIns="0" rIns="0" bIns="0" rtlCol="0" anchor="ctr"/>
          <a:lstStyle/>
          <a:p>
            <a:pPr algn="ctr" indent="0" marL="0">
              <a:buNone/>
            </a:pPr>
            <a:r>
              <a:rPr lang="en-US" sz="1250" dirty="0">
                <a:solidFill>
                  <a:srgbClr val="C7D8E5"/>
                </a:solidFill>
                <a:latin typeface="Consolas" pitchFamily="34" charset="0"/>
                <a:ea typeface="Consolas" pitchFamily="34" charset="-122"/>
                <a:cs typeface="Consolas" pitchFamily="34" charset="-120"/>
              </a:rPr>
              <a:t>embedded target</a:t>
            </a:r>
            <a:endParaRPr lang="en-US" sz="1250" dirty="0"/>
          </a:p>
        </p:txBody>
      </p:sp>
      <p:sp>
        <p:nvSpPr>
          <p:cNvPr id="17" name="Text 15"/>
          <p:cNvSpPr/>
          <p:nvPr/>
        </p:nvSpPr>
        <p:spPr>
          <a:xfrm>
            <a:off x="795528" y="5897880"/>
            <a:ext cx="10058400" cy="365760"/>
          </a:xfrm>
          <a:prstGeom prst="rect">
            <a:avLst/>
          </a:prstGeom>
          <a:noFill/>
          <a:ln/>
        </p:spPr>
        <p:txBody>
          <a:bodyPr wrap="square" lIns="0" tIns="0" rIns="0" bIns="0" rtlCol="0" anchor="ctr"/>
          <a:lstStyle/>
          <a:p>
            <a:pPr indent="0" marL="0">
              <a:buNone/>
            </a:pPr>
            <a:r>
              <a:rPr lang="en-US" sz="1300" dirty="0">
                <a:solidFill>
                  <a:srgbClr val="8AA3B5"/>
                </a:solidFill>
                <a:latin typeface="Calibri" pitchFamily="34" charset="0"/>
                <a:ea typeface="Calibri" pitchFamily="34" charset="-122"/>
                <a:cs typeface="Calibri" pitchFamily="34" charset="-120"/>
              </a:rPr>
              <a:t>ONNX Community Day  ·  emmtrix Technologies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HISTORY  ·  MOTIVATION</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Why we started</a:t>
            </a:r>
            <a:endParaRPr lang="en-US" sz="3000" dirty="0"/>
          </a:p>
        </p:txBody>
      </p:sp>
      <p:sp>
        <p:nvSpPr>
          <p:cNvPr id="5" name="Shape 3"/>
          <p:cNvSpPr/>
          <p:nvPr/>
        </p:nvSpPr>
        <p:spPr>
          <a:xfrm>
            <a:off x="548640" y="1874520"/>
            <a:ext cx="5349240" cy="4160520"/>
          </a:xfrm>
          <a:prstGeom prst="roundRect">
            <a:avLst>
              <a:gd name="adj" fmla="val 1538"/>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804672" y="2075688"/>
            <a:ext cx="489204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We first used onnx2c</a:t>
            </a:r>
            <a:endParaRPr lang="en-US" sz="1500" dirty="0"/>
          </a:p>
        </p:txBody>
      </p:sp>
      <p:sp>
        <p:nvSpPr>
          <p:cNvPr id="7" name="Text 5"/>
          <p:cNvSpPr/>
          <p:nvPr/>
        </p:nvSpPr>
        <p:spPr>
          <a:xfrm>
            <a:off x="804672" y="2532888"/>
            <a:ext cx="4892040" cy="331927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It proved that compiling ONNX graphs to C is genuinely useful</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It gave a concrete reference for what generated C could look like</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It helped surface real requirements for embedded deployment</a:t>
            </a:r>
            <a:endParaRPr lang="en-US" sz="1250" dirty="0"/>
          </a:p>
        </p:txBody>
      </p:sp>
      <p:sp>
        <p:nvSpPr>
          <p:cNvPr id="8" name="Shape 6"/>
          <p:cNvSpPr/>
          <p:nvPr/>
        </p:nvSpPr>
        <p:spPr>
          <a:xfrm>
            <a:off x="6263640" y="1874520"/>
            <a:ext cx="5349240" cy="4160520"/>
          </a:xfrm>
          <a:prstGeom prst="roundRect">
            <a:avLst>
              <a:gd name="adj" fmla="val 1538"/>
            </a:avLst>
          </a:prstGeom>
          <a:solidFill>
            <a:srgbClr val="FBF3E7"/>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6519672" y="2075688"/>
            <a:ext cx="4892040" cy="365760"/>
          </a:xfrm>
          <a:prstGeom prst="rect">
            <a:avLst/>
          </a:prstGeom>
          <a:noFill/>
          <a:ln/>
        </p:spPr>
        <p:txBody>
          <a:bodyPr wrap="square" lIns="0" tIns="0" rIns="0" bIns="0" rtlCol="0" anchor="ctr"/>
          <a:lstStyle/>
          <a:p>
            <a:pPr indent="0" marL="0">
              <a:buNone/>
            </a:pPr>
            <a:r>
              <a:rPr lang="en-US" sz="1500" b="1" dirty="0">
                <a:solidFill>
                  <a:srgbClr val="B5781F"/>
                </a:solidFill>
                <a:latin typeface="Calibri" pitchFamily="34" charset="0"/>
                <a:ea typeface="Calibri" pitchFamily="34" charset="-122"/>
                <a:cs typeface="Calibri" pitchFamily="34" charset="-120"/>
              </a:rPr>
              <a:t>But it was not enough for us</a:t>
            </a:r>
            <a:endParaRPr lang="en-US" sz="1500" dirty="0"/>
          </a:p>
        </p:txBody>
      </p:sp>
      <p:sp>
        <p:nvSpPr>
          <p:cNvPr id="10" name="Text 8"/>
          <p:cNvSpPr/>
          <p:nvPr/>
        </p:nvSpPr>
        <p:spPr>
          <a:xfrm>
            <a:off x="6519672" y="2532888"/>
            <a:ext cx="4892040" cy="331927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Generated-code quality was hard for our target use case</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Not enough control over the structure of the emitted C</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Dynamic-dimension support was a major pain point</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Embedded C must be readable, deterministic and reviewable</a:t>
            </a:r>
            <a:endParaRPr lang="en-US" sz="1250" dirty="0"/>
          </a:p>
        </p:txBody>
      </p:sp>
      <p:sp>
        <p:nvSpPr>
          <p:cNvPr id="11" name="Text 9"/>
          <p:cNvSpPr/>
          <p:nvPr/>
        </p:nvSpPr>
        <p:spPr>
          <a:xfrm>
            <a:off x="548640" y="6172200"/>
            <a:ext cx="11064240" cy="457200"/>
          </a:xfrm>
          <a:prstGeom prst="rect">
            <a:avLst/>
          </a:prstGeom>
          <a:noFill/>
          <a:ln/>
        </p:spPr>
        <p:txBody>
          <a:bodyPr wrap="square" lIns="0" tIns="0" rIns="0" bIns="0" rtlCol="0" anchor="ctr"/>
          <a:lstStyle/>
          <a:p>
            <a:pPr indent="0" marL="0">
              <a:buNone/>
            </a:pPr>
            <a:r>
              <a:rPr lang="en-US" sz="1300" i="1" dirty="0">
                <a:solidFill>
                  <a:srgbClr val="6B7C8F"/>
                </a:solidFill>
                <a:latin typeface="Calibri" pitchFamily="34" charset="0"/>
                <a:ea typeface="Calibri" pitchFamily="34" charset="-122"/>
                <a:cs typeface="Calibri" pitchFamily="34" charset="-120"/>
              </a:rPr>
              <a:t>For embedded systems, generated code is not an implementation detail — it is an artifact to review, analyze, certify, debug and further optimize.</a:t>
            </a:r>
            <a:endParaRPr lang="en-US" sz="1300" dirty="0"/>
          </a:p>
        </p:txBody>
      </p:sp>
      <p:sp>
        <p:nvSpPr>
          <p:cNvPr id="12" name="Text 1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13" name="Text 1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TRIGGER</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The dynamic-dimension idea: VLA parameters</a:t>
            </a:r>
            <a:endParaRPr lang="en-US" sz="3000" dirty="0"/>
          </a:p>
        </p:txBody>
      </p:sp>
      <p:sp>
        <p:nvSpPr>
          <p:cNvPr id="5" name="Shape 3"/>
          <p:cNvSpPr/>
          <p:nvPr/>
        </p:nvSpPr>
        <p:spPr>
          <a:xfrm>
            <a:off x="548640" y="1874520"/>
            <a:ext cx="4937760" cy="2743200"/>
          </a:xfrm>
          <a:prstGeom prst="roundRect">
            <a:avLst>
              <a:gd name="adj" fmla="val 2333"/>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804672" y="2075688"/>
            <a:ext cx="448056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The pain point</a:t>
            </a:r>
            <a:endParaRPr lang="en-US" sz="1500" dirty="0"/>
          </a:p>
        </p:txBody>
      </p:sp>
      <p:sp>
        <p:nvSpPr>
          <p:cNvPr id="7" name="Text 5"/>
          <p:cNvSpPr/>
          <p:nvPr/>
        </p:nvSpPr>
        <p:spPr>
          <a:xfrm>
            <a:off x="804672" y="2532888"/>
            <a:ext cx="4480560" cy="190195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onnx2c's weak spot was dynamic dimensions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Idea: represent some dynamic dims as C99 VLA parameters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Rank stays static; extents become runtime arguments</a:t>
            </a:r>
            <a:endParaRPr lang="en-US" sz="1250" dirty="0"/>
          </a:p>
        </p:txBody>
      </p:sp>
      <p:sp>
        <p:nvSpPr>
          <p:cNvPr id="8" name="Shape 6"/>
          <p:cNvSpPr/>
          <p:nvPr/>
        </p:nvSpPr>
        <p:spPr>
          <a:xfrm>
            <a:off x="548640" y="4754880"/>
            <a:ext cx="4937760" cy="1783080"/>
          </a:xfrm>
          <a:prstGeom prst="roundRect">
            <a:avLst>
              <a:gd name="adj" fmla="val 3590"/>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9" name="Text 7"/>
          <p:cNvSpPr/>
          <p:nvPr/>
        </p:nvSpPr>
        <p:spPr>
          <a:xfrm>
            <a:off x="804672" y="4956048"/>
            <a:ext cx="448056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Why N-D types matter</a:t>
            </a:r>
            <a:endParaRPr lang="en-US" sz="1500" dirty="0"/>
          </a:p>
        </p:txBody>
      </p:sp>
      <p:sp>
        <p:nvSpPr>
          <p:cNvPr id="10" name="Text 8"/>
          <p:cNvSpPr/>
          <p:nvPr/>
        </p:nvSpPr>
        <p:spPr>
          <a:xfrm>
            <a:off x="804672" y="5413248"/>
            <a:ext cx="4480560" cy="941832"/>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33475B"/>
                </a:solidFill>
                <a:latin typeface="Calibri" pitchFamily="34" charset="0"/>
                <a:ea typeface="Calibri" pitchFamily="34" charset="-122"/>
                <a:cs typeface="Calibri" pitchFamily="34" charset="-120"/>
              </a:rPr>
              <a:t>float x[N][C] keeps rank + inner extent in the type</a:t>
            </a:r>
            <a:endParaRPr lang="en-US" sz="1200" dirty="0"/>
          </a:p>
          <a:p>
            <a:pPr algn="l" marL="177800" indent="-177800">
              <a:spcAft>
                <a:spcPts val="500"/>
              </a:spcAft>
              <a:buSzPct val="100000"/>
              <a:buChar char="•"/>
            </a:pPr>
            <a:r>
              <a:rPr lang="en-US" sz="1200" dirty="0">
                <a:solidFill>
                  <a:srgbClr val="33475B"/>
                </a:solidFill>
                <a:latin typeface="Calibri" pitchFamily="34" charset="0"/>
                <a:ea typeface="Calibri" pitchFamily="34" charset="-122"/>
                <a:cs typeface="Calibri" pitchFamily="34" charset="-120"/>
              </a:rPr>
              <a:t>float *x leaves structure only as an offset convention</a:t>
            </a:r>
            <a:endParaRPr lang="en-US" sz="1200" dirty="0"/>
          </a:p>
          <a:p>
            <a:pPr algn="l" marL="177800" indent="-177800">
              <a:spcAft>
                <a:spcPts val="500"/>
              </a:spcAft>
              <a:buSzPct val="100000"/>
              <a:buChar char="•"/>
            </a:pPr>
            <a:r>
              <a:rPr lang="en-US" sz="1200" dirty="0">
                <a:solidFill>
                  <a:srgbClr val="33475B"/>
                </a:solidFill>
                <a:latin typeface="Calibri" pitchFamily="34" charset="0"/>
                <a:ea typeface="Calibri" pitchFamily="34" charset="-122"/>
                <a:cs typeface="Calibri" pitchFamily="34" charset="-120"/>
              </a:rPr>
              <a:t>Typed arrays aid readability, review and analysis</a:t>
            </a:r>
            <a:endParaRPr lang="en-US" sz="1200" dirty="0"/>
          </a:p>
        </p:txBody>
      </p:sp>
      <p:sp>
        <p:nvSpPr>
          <p:cNvPr id="11" name="Shape 9"/>
          <p:cNvSpPr/>
          <p:nvPr/>
        </p:nvSpPr>
        <p:spPr>
          <a:xfrm>
            <a:off x="5852160" y="1874520"/>
            <a:ext cx="5760720" cy="2331720"/>
          </a:xfrm>
          <a:prstGeom prst="roundRect">
            <a:avLst>
              <a:gd name="adj" fmla="val 2353"/>
            </a:avLst>
          </a:prstGeom>
          <a:solidFill>
            <a:srgbClr val="0C2138"/>
          </a:solidFill>
          <a:ln/>
          <a:effectLst>
            <a:outerShdw sx="100000" sy="100000" kx="0" ky="0" algn="bl" rotWithShape="0" blurRad="114300" dist="38100" dir="5400000">
              <a:srgbClr val="0A1F38">
                <a:alpha val="14000"/>
              </a:srgbClr>
            </a:outerShdw>
          </a:effectLst>
        </p:spPr>
      </p:sp>
      <p:sp>
        <p:nvSpPr>
          <p:cNvPr id="12" name="Text 10"/>
          <p:cNvSpPr/>
          <p:nvPr/>
        </p:nvSpPr>
        <p:spPr>
          <a:xfrm>
            <a:off x="6035040" y="1984248"/>
            <a:ext cx="5394960" cy="2112264"/>
          </a:xfrm>
          <a:prstGeom prst="rect">
            <a:avLst/>
          </a:prstGeom>
          <a:noFill/>
          <a:ln/>
        </p:spPr>
        <p:txBody>
          <a:bodyPr wrap="square" lIns="0" tIns="0" rIns="0" bIns="0" rtlCol="0" anchor="t"/>
          <a:lstStyle/>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void model(int N, int C,</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const float x[restrict N][C],</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float       y[restrict N][C]);</a:t>
            </a:r>
            <a:endParaRPr lang="en-US" sz="1300" dirty="0"/>
          </a:p>
          <a:p>
            <a:pPr algn="l" indent="0" marL="0">
              <a:lnSpc>
                <a:spcPct val="105000"/>
              </a:lnSpc>
              <a:buNone/>
            </a:pP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extents in the ABI, rank known at compile time,</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loop bounds use explicit N, C parameters       */</a:t>
            </a:r>
            <a:endParaRPr lang="en-US" sz="1300" dirty="0"/>
          </a:p>
        </p:txBody>
      </p:sp>
      <p:sp>
        <p:nvSpPr>
          <p:cNvPr id="13" name="Shape 11"/>
          <p:cNvSpPr/>
          <p:nvPr/>
        </p:nvSpPr>
        <p:spPr>
          <a:xfrm>
            <a:off x="5852160" y="4434840"/>
            <a:ext cx="5760720" cy="2103120"/>
          </a:xfrm>
          <a:prstGeom prst="roundRect">
            <a:avLst>
              <a:gd name="adj" fmla="val 3043"/>
            </a:avLst>
          </a:prstGeom>
          <a:solidFill>
            <a:srgbClr val="FBF3E7"/>
          </a:solidFill>
          <a:ln w="12700">
            <a:solidFill>
              <a:srgbClr val="EAD9BC"/>
            </a:solidFill>
            <a:prstDash val="solid"/>
          </a:ln>
        </p:spPr>
      </p:sp>
      <p:sp>
        <p:nvSpPr>
          <p:cNvPr id="14" name="Text 12"/>
          <p:cNvSpPr/>
          <p:nvPr/>
        </p:nvSpPr>
        <p:spPr>
          <a:xfrm>
            <a:off x="6080760" y="4572000"/>
            <a:ext cx="5303520" cy="320040"/>
          </a:xfrm>
          <a:prstGeom prst="rect">
            <a:avLst/>
          </a:prstGeom>
          <a:noFill/>
          <a:ln/>
        </p:spPr>
        <p:txBody>
          <a:bodyPr wrap="square" lIns="0" tIns="0" rIns="0" bIns="0" rtlCol="0" anchor="ctr"/>
          <a:lstStyle/>
          <a:p>
            <a:pPr indent="0" marL="0">
              <a:buNone/>
            </a:pPr>
            <a:r>
              <a:rPr lang="en-US" sz="1400" b="1" dirty="0">
                <a:solidFill>
                  <a:srgbClr val="B5781F"/>
                </a:solidFill>
                <a:latin typeface="Calibri" pitchFamily="34" charset="0"/>
                <a:ea typeface="Calibri" pitchFamily="34" charset="-122"/>
                <a:cs typeface="Calibri" pitchFamily="34" charset="-120"/>
              </a:rPr>
              <a:t>What VLAs do NOT solve</a:t>
            </a:r>
            <a:endParaRPr lang="en-US" sz="1400" dirty="0"/>
          </a:p>
        </p:txBody>
      </p:sp>
      <p:sp>
        <p:nvSpPr>
          <p:cNvPr id="15" name="Text 13"/>
          <p:cNvSpPr/>
          <p:nvPr/>
        </p:nvSpPr>
        <p:spPr>
          <a:xfrm>
            <a:off x="6080760" y="4983480"/>
            <a:ext cx="534924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33475B"/>
                </a:solidFill>
                <a:latin typeface="Calibri" pitchFamily="34" charset="0"/>
                <a:ea typeface="Calibri" pitchFamily="34" charset="-122"/>
                <a:cs typeface="Calibri" pitchFamily="34" charset="-120"/>
              </a:rPr>
              <a:t>Static memory bounds for temporaries and buffers</a:t>
            </a:r>
            <a:endParaRPr lang="en-US" sz="1200" dirty="0"/>
          </a:p>
          <a:p>
            <a:pPr marL="342900" indent="-342900">
              <a:spcAft>
                <a:spcPts val="400"/>
              </a:spcAft>
              <a:buSzPct val="100000"/>
              <a:buChar char="•"/>
            </a:pPr>
            <a:r>
              <a:rPr lang="en-US" sz="1200" dirty="0">
                <a:solidFill>
                  <a:srgbClr val="33475B"/>
                </a:solidFill>
                <a:latin typeface="Calibri" pitchFamily="34" charset="0"/>
                <a:ea typeface="Calibri" pitchFamily="34" charset="-122"/>
                <a:cs typeface="Calibri" pitchFamily="34" charset="-120"/>
              </a:rPr>
              <a:t>Dynamic rank</a:t>
            </a:r>
            <a:endParaRPr lang="en-US" sz="1200" dirty="0"/>
          </a:p>
          <a:p>
            <a:pPr marL="342900" indent="-342900">
              <a:spcAft>
                <a:spcPts val="400"/>
              </a:spcAft>
              <a:buSzPct val="100000"/>
              <a:buChar char="•"/>
            </a:pPr>
            <a:r>
              <a:rPr lang="en-US" sz="1200" dirty="0">
                <a:solidFill>
                  <a:srgbClr val="33475B"/>
                </a:solidFill>
                <a:latin typeface="Calibri" pitchFamily="34" charset="0"/>
                <a:ea typeface="Calibri" pitchFamily="34" charset="-122"/>
                <a:cs typeface="Calibri" pitchFamily="34" charset="-120"/>
              </a:rPr>
              <a:t>Unbounded sequence length and string size</a:t>
            </a:r>
            <a:endParaRPr lang="en-US" sz="1200" dirty="0"/>
          </a:p>
          <a:p>
            <a:pPr marL="342900" indent="-342900">
              <a:buSzPct val="100000"/>
              <a:buChar char="•"/>
            </a:pPr>
            <a:r>
              <a:rPr lang="en-US" sz="1200" dirty="0">
                <a:solidFill>
                  <a:srgbClr val="33475B"/>
                </a:solidFill>
                <a:latin typeface="Calibri" pitchFamily="34" charset="0"/>
                <a:ea typeface="Calibri" pitchFamily="34" charset="-122"/>
                <a:cs typeface="Calibri" pitchFamily="34" charset="-120"/>
              </a:rPr>
              <a:t>Targets that lack VLA support</a:t>
            </a:r>
            <a:endParaRPr lang="en-US" sz="1200" dirty="0"/>
          </a:p>
        </p:txBody>
      </p:sp>
      <p:sp>
        <p:nvSpPr>
          <p:cNvPr id="16" name="Text 14"/>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17" name="Text 15"/>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TURNING POINT</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From experiment to coverage project</a:t>
            </a:r>
            <a:endParaRPr lang="en-US" sz="3000" dirty="0"/>
          </a:p>
        </p:txBody>
      </p:sp>
      <p:sp>
        <p:nvSpPr>
          <p:cNvPr id="5" name="Shape 3"/>
          <p:cNvSpPr/>
          <p:nvPr/>
        </p:nvSpPr>
        <p:spPr>
          <a:xfrm>
            <a:off x="548640" y="2057400"/>
            <a:ext cx="3611880" cy="2743200"/>
          </a:xfrm>
          <a:prstGeom prst="roundRect">
            <a:avLst>
              <a:gd name="adj" fmla="val 266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Shape 4"/>
          <p:cNvSpPr/>
          <p:nvPr/>
        </p:nvSpPr>
        <p:spPr>
          <a:xfrm>
            <a:off x="822960" y="233172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7" name="Text 5"/>
          <p:cNvSpPr/>
          <p:nvPr/>
        </p:nvSpPr>
        <p:spPr>
          <a:xfrm>
            <a:off x="822960" y="2331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822960" y="306324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Proof of concept</a:t>
            </a:r>
            <a:endParaRPr lang="en-US" sz="1700" dirty="0"/>
          </a:p>
        </p:txBody>
      </p:sp>
      <p:sp>
        <p:nvSpPr>
          <p:cNvPr id="9" name="Text 7"/>
          <p:cNvSpPr/>
          <p:nvPr/>
        </p:nvSpPr>
        <p:spPr>
          <a:xfrm>
            <a:off x="822960" y="3566160"/>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VLA-based C representation worked on early models</a:t>
            </a:r>
            <a:endParaRPr lang="en-US" sz="1300" dirty="0"/>
          </a:p>
        </p:txBody>
      </p:sp>
      <p:sp>
        <p:nvSpPr>
          <p:cNvPr id="10" name="Text 8"/>
          <p:cNvSpPr/>
          <p:nvPr/>
        </p:nvSpPr>
        <p:spPr>
          <a:xfrm>
            <a:off x="4142232" y="2057400"/>
            <a:ext cx="292608" cy="2743200"/>
          </a:xfrm>
          <a:prstGeom prst="rect">
            <a:avLst/>
          </a:prstGeom>
          <a:noFill/>
          <a:ln/>
        </p:spPr>
        <p:txBody>
          <a:bodyPr wrap="square" lIns="0" tIns="0" rIns="0" bIns="0" rtlCol="0" anchor="ctr"/>
          <a:lstStyle/>
          <a:p>
            <a:pPr algn="ctr" indent="0" marL="0">
              <a:buNone/>
            </a:pPr>
            <a:r>
              <a:rPr lang="en-US" sz="2200" dirty="0">
                <a:solidFill>
                  <a:srgbClr val="16A39A"/>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4416552" y="2057400"/>
            <a:ext cx="3611880" cy="2743200"/>
          </a:xfrm>
          <a:prstGeom prst="roundRect">
            <a:avLst>
              <a:gd name="adj" fmla="val 266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2" name="Shape 10"/>
          <p:cNvSpPr/>
          <p:nvPr/>
        </p:nvSpPr>
        <p:spPr>
          <a:xfrm>
            <a:off x="4690872" y="233172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13" name="Text 11"/>
          <p:cNvSpPr/>
          <p:nvPr/>
        </p:nvSpPr>
        <p:spPr>
          <a:xfrm>
            <a:off x="4690872" y="2331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4690872" y="306324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Goal expanded</a:t>
            </a:r>
            <a:endParaRPr lang="en-US" sz="1700" dirty="0"/>
          </a:p>
        </p:txBody>
      </p:sp>
      <p:sp>
        <p:nvSpPr>
          <p:cNvPr id="15" name="Text 13"/>
          <p:cNvSpPr/>
          <p:nvPr/>
        </p:nvSpPr>
        <p:spPr>
          <a:xfrm>
            <a:off x="4690872" y="3566160"/>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From prototype to broad ONNX operator &amp; model coverage</a:t>
            </a:r>
            <a:endParaRPr lang="en-US" sz="1300" dirty="0"/>
          </a:p>
        </p:txBody>
      </p:sp>
      <p:sp>
        <p:nvSpPr>
          <p:cNvPr id="16" name="Text 14"/>
          <p:cNvSpPr/>
          <p:nvPr/>
        </p:nvSpPr>
        <p:spPr>
          <a:xfrm>
            <a:off x="8010144" y="2057400"/>
            <a:ext cx="292608" cy="2743200"/>
          </a:xfrm>
          <a:prstGeom prst="rect">
            <a:avLst/>
          </a:prstGeom>
          <a:noFill/>
          <a:ln/>
        </p:spPr>
        <p:txBody>
          <a:bodyPr wrap="square" lIns="0" tIns="0" rIns="0" bIns="0" rtlCol="0" anchor="ctr"/>
          <a:lstStyle/>
          <a:p>
            <a:pPr algn="ctr" indent="0" marL="0">
              <a:buNone/>
            </a:pPr>
            <a:r>
              <a:rPr lang="en-US" sz="2200" dirty="0">
                <a:solidFill>
                  <a:srgbClr val="16A39A"/>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8284464" y="2057400"/>
            <a:ext cx="3611880" cy="2743200"/>
          </a:xfrm>
          <a:prstGeom prst="roundRect">
            <a:avLst>
              <a:gd name="adj" fmla="val 266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Shape 16"/>
          <p:cNvSpPr/>
          <p:nvPr/>
        </p:nvSpPr>
        <p:spPr>
          <a:xfrm>
            <a:off x="8558784" y="233172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19" name="Text 17"/>
          <p:cNvSpPr/>
          <p:nvPr/>
        </p:nvSpPr>
        <p:spPr>
          <a:xfrm>
            <a:off x="8558784" y="2331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8558784" y="3063240"/>
            <a:ext cx="3063240" cy="457200"/>
          </a:xfrm>
          <a:prstGeom prst="rect">
            <a:avLst/>
          </a:prstGeom>
          <a:noFill/>
          <a:ln/>
        </p:spPr>
        <p:txBody>
          <a:bodyPr wrap="square" lIns="0" tIns="0" rIns="0" bIns="0" rtlCol="0" anchor="ctr"/>
          <a:lstStyle/>
          <a:p>
            <a:pPr indent="0" marL="0">
              <a:buNone/>
            </a:pPr>
            <a:r>
              <a:rPr lang="en-US" sz="1700" b="1" dirty="0">
                <a:solidFill>
                  <a:srgbClr val="0E2A47"/>
                </a:solidFill>
                <a:latin typeface="Calibri" pitchFamily="34" charset="0"/>
                <a:ea typeface="Calibri" pitchFamily="34" charset="-122"/>
                <a:cs typeface="Calibri" pitchFamily="34" charset="-120"/>
              </a:rPr>
              <a:t>Became a compiler</a:t>
            </a:r>
            <a:endParaRPr lang="en-US" sz="1700" dirty="0"/>
          </a:p>
        </p:txBody>
      </p:sp>
      <p:sp>
        <p:nvSpPr>
          <p:cNvPr id="21" name="Text 19"/>
          <p:cNvSpPr/>
          <p:nvPr/>
        </p:nvSpPr>
        <p:spPr>
          <a:xfrm>
            <a:off x="8558784" y="3566160"/>
            <a:ext cx="3063240" cy="100584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Pass-based AOT pipeline with verification &amp; coverage reports</a:t>
            </a:r>
            <a:endParaRPr lang="en-US" sz="1300" dirty="0"/>
          </a:p>
        </p:txBody>
      </p:sp>
      <p:sp>
        <p:nvSpPr>
          <p:cNvPr id="22" name="Shape 20"/>
          <p:cNvSpPr/>
          <p:nvPr/>
        </p:nvSpPr>
        <p:spPr>
          <a:xfrm>
            <a:off x="548640" y="5166360"/>
            <a:ext cx="11064240" cy="960120"/>
          </a:xfrm>
          <a:prstGeom prst="roundRect">
            <a:avLst>
              <a:gd name="adj" fmla="val 6667"/>
            </a:avLst>
          </a:prstGeom>
          <a:solidFill>
            <a:srgbClr val="0E2A47"/>
          </a:solidFill>
          <a:ln/>
        </p:spPr>
      </p:sp>
      <p:sp>
        <p:nvSpPr>
          <p:cNvPr id="23" name="Text 21"/>
          <p:cNvSpPr/>
          <p:nvPr/>
        </p:nvSpPr>
        <p:spPr>
          <a:xfrm>
            <a:off x="868680" y="5166360"/>
            <a:ext cx="10424160" cy="960120"/>
          </a:xfrm>
          <a:prstGeom prst="rect">
            <a:avLst/>
          </a:prstGeom>
          <a:noFill/>
          <a:ln/>
        </p:spPr>
        <p:txBody>
          <a:bodyPr wrap="square" lIns="0" tIns="0" rIns="0" bIns="0" rtlCol="0" anchor="ctr"/>
          <a:lstStyle/>
          <a:p>
            <a:pPr indent="0" marL="0">
              <a:buNone/>
            </a:pPr>
            <a:r>
              <a:rPr lang="en-US" sz="1450" i="1" dirty="0">
                <a:solidFill>
                  <a:srgbClr val="DCE8F0"/>
                </a:solidFill>
                <a:latin typeface="Calibri" pitchFamily="34" charset="0"/>
                <a:ea typeface="Calibri" pitchFamily="34" charset="-122"/>
                <a:cs typeface="Calibri" pitchFamily="34" charset="-120"/>
              </a:rPr>
              <a:t>A high-coverage ONNX compiler cannot be a pile of special cases — it needs registries, structured lowering, stable IR objects and a verification strategy.</a:t>
            </a:r>
            <a:endParaRPr lang="en-US" sz="1450" dirty="0"/>
          </a:p>
        </p:txBody>
      </p:sp>
      <p:sp>
        <p:nvSpPr>
          <p:cNvPr id="24" name="Text 22"/>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25" name="Text 23"/>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THE PROJECT</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What emx-onnx-cgen does</a:t>
            </a:r>
            <a:endParaRPr lang="en-US" sz="3000" dirty="0"/>
          </a:p>
        </p:txBody>
      </p:sp>
      <p:sp>
        <p:nvSpPr>
          <p:cNvPr id="5" name="Shape 3"/>
          <p:cNvSpPr/>
          <p:nvPr/>
        </p:nvSpPr>
        <p:spPr>
          <a:xfrm>
            <a:off x="548640" y="1874520"/>
            <a:ext cx="5577840" cy="4160520"/>
          </a:xfrm>
          <a:prstGeom prst="roundRect">
            <a:avLst>
              <a:gd name="adj" fmla="val 1538"/>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6" name="Text 4"/>
          <p:cNvSpPr/>
          <p:nvPr/>
        </p:nvSpPr>
        <p:spPr>
          <a:xfrm>
            <a:off x="804672" y="2075688"/>
            <a:ext cx="512064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Ahead-of-time ONNX → C</a:t>
            </a:r>
            <a:endParaRPr lang="en-US" sz="1500" dirty="0"/>
          </a:p>
        </p:txBody>
      </p:sp>
      <p:sp>
        <p:nvSpPr>
          <p:cNvPr id="7" name="Text 5"/>
          <p:cNvSpPr/>
          <p:nvPr/>
        </p:nvSpPr>
        <p:spPr>
          <a:xfrm>
            <a:off x="804672" y="2532888"/>
            <a:ext cx="5120640" cy="331927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Compiles ONNX models to portable, deterministic C</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Targets deeply embedded &amp; resource-constrained systems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No dynamic allocation, no OS dependency, no runtime</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No hidden dispatch or callbacks — explicit loops &amp; layout</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Auditable, readable, reproducible builds</a:t>
            </a:r>
            <a:endParaRPr lang="en-US" sz="1250" dirty="0"/>
          </a:p>
        </p:txBody>
      </p:sp>
      <p:sp>
        <p:nvSpPr>
          <p:cNvPr id="8" name="Text 6"/>
          <p:cNvSpPr/>
          <p:nvPr/>
        </p:nvSpPr>
        <p:spPr>
          <a:xfrm>
            <a:off x="6400800" y="1920240"/>
            <a:ext cx="521208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Intentionally small public API</a:t>
            </a:r>
            <a:endParaRPr lang="en-US" sz="1500" dirty="0"/>
          </a:p>
        </p:txBody>
      </p:sp>
      <p:sp>
        <p:nvSpPr>
          <p:cNvPr id="9" name="Shape 7"/>
          <p:cNvSpPr/>
          <p:nvPr/>
        </p:nvSpPr>
        <p:spPr>
          <a:xfrm>
            <a:off x="6400800" y="2331720"/>
            <a:ext cx="5212080" cy="2331720"/>
          </a:xfrm>
          <a:prstGeom prst="roundRect">
            <a:avLst>
              <a:gd name="adj" fmla="val 2353"/>
            </a:avLst>
          </a:prstGeom>
          <a:solidFill>
            <a:srgbClr val="0C2138"/>
          </a:solidFill>
          <a:ln/>
          <a:effectLst>
            <a:outerShdw sx="100000" sy="100000" kx="0" ky="0" algn="bl" rotWithShape="0" blurRad="114300" dist="38100" dir="5400000">
              <a:srgbClr val="0A1F38">
                <a:alpha val="14000"/>
              </a:srgbClr>
            </a:outerShdw>
          </a:effectLst>
        </p:spPr>
      </p:sp>
      <p:sp>
        <p:nvSpPr>
          <p:cNvPr id="10" name="Text 8"/>
          <p:cNvSpPr/>
          <p:nvPr/>
        </p:nvSpPr>
        <p:spPr>
          <a:xfrm>
            <a:off x="6583680" y="2441448"/>
            <a:ext cx="4846320" cy="2112264"/>
          </a:xfrm>
          <a:prstGeom prst="rect">
            <a:avLst/>
          </a:prstGeom>
          <a:noFill/>
          <a:ln/>
        </p:spPr>
        <p:txBody>
          <a:bodyPr wrap="square" lIns="0" tIns="0" rIns="0" bIns="0" rtlCol="0" anchor="t"/>
          <a:lstStyle/>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_Bool model_load(const char *path);</a:t>
            </a:r>
            <a:endParaRPr lang="en-US" sz="1300" dirty="0"/>
          </a:p>
          <a:p>
            <a:pPr algn="l" indent="0" marL="0">
              <a:lnSpc>
                <a:spcPct val="105000"/>
              </a:lnSpc>
              <a:buNone/>
            </a:pP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void  model(/* ...inputs... */,</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 ...outputs... */);</a:t>
            </a:r>
            <a:endParaRPr lang="en-US" sz="1300" dirty="0"/>
          </a:p>
          <a:p>
            <a:pPr algn="l" indent="0" marL="0">
              <a:lnSpc>
                <a:spcPct val="105000"/>
              </a:lnSpc>
              <a:buNone/>
            </a:pP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tensor IO -&gt; C array parameters</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dynamic dims -&gt; C99 VLAs</a:t>
            </a:r>
            <a:endParaRPr lang="en-US" sz="1300" dirty="0"/>
          </a:p>
          <a:p>
            <a:pPr algn="l" indent="0" marL="0">
              <a:lnSpc>
                <a:spcPct val="105000"/>
              </a:lnSpc>
              <a:buNone/>
            </a:pPr>
            <a:r>
              <a:rPr lang="en-US" sz="1300" dirty="0">
                <a:solidFill>
                  <a:srgbClr val="D7E4EC"/>
                </a:solidFill>
                <a:latin typeface="Consolas" pitchFamily="34" charset="0"/>
                <a:ea typeface="Consolas" pitchFamily="34" charset="-122"/>
                <a:cs typeface="Consolas" pitchFamily="34" charset="-120"/>
              </a:rPr>
              <a:t>   weights      -&gt; optional model.bin */</a:t>
            </a:r>
            <a:endParaRPr lang="en-US" sz="1300" dirty="0"/>
          </a:p>
        </p:txBody>
      </p:sp>
      <p:sp>
        <p:nvSpPr>
          <p:cNvPr id="11" name="Shape 9"/>
          <p:cNvSpPr/>
          <p:nvPr/>
        </p:nvSpPr>
        <p:spPr>
          <a:xfrm>
            <a:off x="6400800" y="4892040"/>
            <a:ext cx="5212080" cy="1143000"/>
          </a:xfrm>
          <a:prstGeom prst="roundRect">
            <a:avLst>
              <a:gd name="adj" fmla="val 5600"/>
            </a:avLst>
          </a:prstGeom>
          <a:solidFill>
            <a:srgbClr val="F2F6F8"/>
          </a:solidFill>
          <a:ln w="12700">
            <a:solidFill>
              <a:srgbClr val="DBE6EA"/>
            </a:solidFill>
            <a:prstDash val="solid"/>
          </a:ln>
        </p:spPr>
      </p:sp>
      <p:sp>
        <p:nvSpPr>
          <p:cNvPr id="12" name="Text 10"/>
          <p:cNvSpPr/>
          <p:nvPr/>
        </p:nvSpPr>
        <p:spPr>
          <a:xfrm>
            <a:off x="6583680" y="4983480"/>
            <a:ext cx="4846320" cy="32004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Frontend of the emmtrix embedded-AI flow</a:t>
            </a:r>
            <a:endParaRPr lang="en-US" sz="1250" dirty="0"/>
          </a:p>
        </p:txBody>
      </p:sp>
      <p:sp>
        <p:nvSpPr>
          <p:cNvPr id="13" name="Text 11"/>
          <p:cNvSpPr/>
          <p:nvPr/>
        </p:nvSpPr>
        <p:spPr>
          <a:xfrm>
            <a:off x="6583680" y="5349240"/>
            <a:ext cx="4846320" cy="548640"/>
          </a:xfrm>
          <a:prstGeom prst="rect">
            <a:avLst/>
          </a:prstGeom>
          <a:noFill/>
          <a:ln/>
        </p:spPr>
        <p:txBody>
          <a:bodyPr wrap="square" lIns="0" tIns="0" rIns="0" bIns="0" rtlCol="0" anchor="t"/>
          <a:lstStyle/>
          <a:p>
            <a:pPr indent="0" marL="0">
              <a:buNone/>
            </a:pPr>
            <a:r>
              <a:rPr lang="en-US" sz="1250" dirty="0">
                <a:solidFill>
                  <a:srgbClr val="0E7C77"/>
                </a:solidFill>
                <a:latin typeface="Consolas" pitchFamily="34" charset="0"/>
                <a:ea typeface="Consolas" pitchFamily="34" charset="-122"/>
                <a:cs typeface="Consolas" pitchFamily="34" charset="-120"/>
              </a:rPr>
              <a:t>ONNX → clean C → Vectorizer → target architecture</a:t>
            </a:r>
            <a:endParaRPr lang="en-US" sz="1250" dirty="0"/>
          </a:p>
        </p:txBody>
      </p:sp>
      <p:sp>
        <p:nvSpPr>
          <p:cNvPr id="14" name="Text 12"/>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15" name="Text 13"/>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100% coverage shaped the architecture</a:t>
            </a:r>
            <a:endParaRPr lang="en-US" sz="3000" dirty="0"/>
          </a:p>
        </p:txBody>
      </p:sp>
      <p:sp>
        <p:nvSpPr>
          <p:cNvPr id="5" name="Text 3"/>
          <p:cNvSpPr/>
          <p:nvPr/>
        </p:nvSpPr>
        <p:spPr>
          <a:xfrm>
            <a:off x="548640" y="1691640"/>
            <a:ext cx="11064240" cy="411480"/>
          </a:xfrm>
          <a:prstGeom prst="rect">
            <a:avLst/>
          </a:prstGeom>
          <a:noFill/>
          <a:ln/>
        </p:spPr>
        <p:txBody>
          <a:bodyPr wrap="square" lIns="0" tIns="0" rIns="0" bIns="0" rtlCol="0" anchor="ctr"/>
          <a:lstStyle/>
          <a:p>
            <a:pPr indent="0" marL="0">
              <a:buNone/>
            </a:pPr>
            <a:r>
              <a:rPr lang="en-US" sz="1450" dirty="0">
                <a:solidFill>
                  <a:srgbClr val="33475B"/>
                </a:solidFill>
                <a:latin typeface="Calibri" pitchFamily="34" charset="0"/>
                <a:ea typeface="Calibri" pitchFamily="34" charset="-122"/>
                <a:cs typeface="Calibri" pitchFamily="34" charset="-120"/>
              </a:rPr>
              <a:t>Goal: 100% test coverage across the compiler pipeline — not just a metric, an architectural constraint.</a:t>
            </a:r>
            <a:endParaRPr lang="en-US" sz="1450" dirty="0"/>
          </a:p>
        </p:txBody>
      </p:sp>
      <p:sp>
        <p:nvSpPr>
          <p:cNvPr id="6" name="Shape 4"/>
          <p:cNvSpPr/>
          <p:nvPr/>
        </p:nvSpPr>
        <p:spPr>
          <a:xfrm>
            <a:off x="548640" y="2286000"/>
            <a:ext cx="5486400" cy="3749040"/>
          </a:xfrm>
          <a:prstGeom prst="roundRect">
            <a:avLst>
              <a:gd name="adj" fmla="val 1951"/>
            </a:avLst>
          </a:prstGeom>
          <a:solidFill>
            <a:srgbClr val="EAF5F3"/>
          </a:solidFill>
          <a:ln w="12700">
            <a:solidFill>
              <a:srgbClr val="C9E5E1"/>
            </a:solidFill>
            <a:prstDash val="solid"/>
          </a:ln>
          <a:effectLst>
            <a:outerShdw sx="100000" sy="100000" kx="0" ky="0" algn="bl" rotWithShape="0" blurRad="114300" dist="38100" dir="5400000">
              <a:srgbClr val="0A1F38">
                <a:alpha val="10000"/>
              </a:srgbClr>
            </a:outerShdw>
          </a:effectLst>
        </p:spPr>
      </p:sp>
      <p:sp>
        <p:nvSpPr>
          <p:cNvPr id="7" name="Text 5"/>
          <p:cNvSpPr/>
          <p:nvPr/>
        </p:nvSpPr>
        <p:spPr>
          <a:xfrm>
            <a:off x="822960" y="2468880"/>
            <a:ext cx="4937760" cy="365760"/>
          </a:xfrm>
          <a:prstGeom prst="rect">
            <a:avLst/>
          </a:prstGeom>
          <a:noFill/>
          <a:ln/>
        </p:spPr>
        <p:txBody>
          <a:bodyPr wrap="square" lIns="0" tIns="0" rIns="0" bIns="0" rtlCol="0" anchor="ctr"/>
          <a:lstStyle/>
          <a:p>
            <a:pPr indent="0" marL="0">
              <a:buNone/>
            </a:pPr>
            <a:r>
              <a:rPr lang="en-US" sz="1600" b="1" dirty="0">
                <a:solidFill>
                  <a:srgbClr val="0E7C77"/>
                </a:solidFill>
                <a:latin typeface="Calibri" pitchFamily="34" charset="0"/>
                <a:ea typeface="Calibri" pitchFamily="34" charset="-122"/>
                <a:cs typeface="Calibri" pitchFamily="34" charset="-120"/>
              </a:rPr>
              <a:t>It forced</a:t>
            </a:r>
            <a:endParaRPr lang="en-US" sz="1600" dirty="0"/>
          </a:p>
        </p:txBody>
      </p:sp>
      <p:sp>
        <p:nvSpPr>
          <p:cNvPr id="8" name="Text 6"/>
          <p:cNvSpPr/>
          <p:nvPr/>
        </p:nvSpPr>
        <p:spPr>
          <a:xfrm>
            <a:off x="822960" y="2880360"/>
            <a:ext cx="4937760" cy="30175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Pass-based architecture</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Explicit IR boundaries</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Deterministic codegen</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Precise diagnostics</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Reference-based verification</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Explicit context, no global state</a:t>
            </a:r>
            <a:endParaRPr lang="en-US" sz="1350" dirty="0"/>
          </a:p>
        </p:txBody>
      </p:sp>
      <p:sp>
        <p:nvSpPr>
          <p:cNvPr id="9" name="Shape 7"/>
          <p:cNvSpPr/>
          <p:nvPr/>
        </p:nvSpPr>
        <p:spPr>
          <a:xfrm>
            <a:off x="6263640" y="2286000"/>
            <a:ext cx="5349240" cy="3749040"/>
          </a:xfrm>
          <a:prstGeom prst="roundRect">
            <a:avLst>
              <a:gd name="adj" fmla="val 1951"/>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10" name="Text 8"/>
          <p:cNvSpPr/>
          <p:nvPr/>
        </p:nvSpPr>
        <p:spPr>
          <a:xfrm>
            <a:off x="6537960" y="2468880"/>
            <a:ext cx="4846320" cy="365760"/>
          </a:xfrm>
          <a:prstGeom prst="rect">
            <a:avLst/>
          </a:prstGeom>
          <a:noFill/>
          <a:ln/>
        </p:spPr>
        <p:txBody>
          <a:bodyPr wrap="square" lIns="0" tIns="0" rIns="0" bIns="0" rtlCol="0" anchor="ctr"/>
          <a:lstStyle/>
          <a:p>
            <a:pPr indent="0" marL="0">
              <a:buNone/>
            </a:pPr>
            <a:r>
              <a:rPr lang="en-US" sz="1600" b="1" dirty="0">
                <a:solidFill>
                  <a:srgbClr val="B5503A"/>
                </a:solidFill>
                <a:latin typeface="Calibri" pitchFamily="34" charset="0"/>
                <a:ea typeface="Calibri" pitchFamily="34" charset="-122"/>
                <a:cs typeface="Calibri" pitchFamily="34" charset="-120"/>
              </a:rPr>
              <a:t>It discouraged</a:t>
            </a:r>
            <a:endParaRPr lang="en-US" sz="1600" dirty="0"/>
          </a:p>
        </p:txBody>
      </p:sp>
      <p:sp>
        <p:nvSpPr>
          <p:cNvPr id="11" name="Text 9"/>
          <p:cNvSpPr/>
          <p:nvPr/>
        </p:nvSpPr>
        <p:spPr>
          <a:xfrm>
            <a:off x="6537960" y="2880360"/>
            <a:ext cx="4846320" cy="30175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Hidden global state</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Oversized “god” modules</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Implicit shape assumptions</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Broad mutation in passes</a:t>
            </a:r>
            <a:endParaRPr lang="en-US" sz="1350" dirty="0"/>
          </a:p>
          <a:p>
            <a:pPr marL="342900" indent="-342900">
              <a:spcAft>
                <a:spcPts val="700"/>
              </a:spcAft>
              <a:buSzPct val="100000"/>
              <a:buChar char="✕"/>
            </a:pPr>
            <a:r>
              <a:rPr lang="en-US" sz="1350" dirty="0">
                <a:solidFill>
                  <a:srgbClr val="33475B"/>
                </a:solidFill>
                <a:latin typeface="Calibri" pitchFamily="34" charset="0"/>
                <a:ea typeface="Calibri" pitchFamily="34" charset="-122"/>
                <a:cs typeface="Calibri" pitchFamily="34" charset="-120"/>
              </a:rPr>
              <a:t>Codegen driven by verify-only inputs</a:t>
            </a:r>
            <a:endParaRPr lang="en-US" sz="1350" dirty="0"/>
          </a:p>
        </p:txBody>
      </p:sp>
      <p:sp>
        <p:nvSpPr>
          <p:cNvPr id="12" name="Text 1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13" name="Text 1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VERIFICATION</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The verification loop</a:t>
            </a:r>
            <a:endParaRPr lang="en-US" sz="3000" dirty="0"/>
          </a:p>
        </p:txBody>
      </p:sp>
      <p:sp>
        <p:nvSpPr>
          <p:cNvPr id="5" name="Shape 3"/>
          <p:cNvSpPr/>
          <p:nvPr/>
        </p:nvSpPr>
        <p:spPr>
          <a:xfrm>
            <a:off x="548640" y="2103120"/>
            <a:ext cx="2121408" cy="214884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6" name="Text 4"/>
          <p:cNvSpPr/>
          <p:nvPr/>
        </p:nvSpPr>
        <p:spPr>
          <a:xfrm>
            <a:off x="713232" y="224942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31520" y="2761488"/>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Generate</a:t>
            </a:r>
            <a:endParaRPr lang="en-US" sz="1450" dirty="0"/>
          </a:p>
        </p:txBody>
      </p:sp>
      <p:sp>
        <p:nvSpPr>
          <p:cNvPr id="8" name="Text 6"/>
          <p:cNvSpPr/>
          <p:nvPr/>
        </p:nvSpPr>
        <p:spPr>
          <a:xfrm>
            <a:off x="731520" y="3182112"/>
            <a:ext cx="1755648" cy="96012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Emit C with a testbench</a:t>
            </a:r>
            <a:endParaRPr lang="en-US" sz="1150" dirty="0"/>
          </a:p>
        </p:txBody>
      </p:sp>
      <p:sp>
        <p:nvSpPr>
          <p:cNvPr id="9" name="Text 7"/>
          <p:cNvSpPr/>
          <p:nvPr/>
        </p:nvSpPr>
        <p:spPr>
          <a:xfrm>
            <a:off x="2624328" y="2103120"/>
            <a:ext cx="210312" cy="214884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788920" y="2103120"/>
            <a:ext cx="2121408" cy="2148840"/>
          </a:xfrm>
          <a:prstGeom prst="roundRect">
            <a:avLst>
              <a:gd name="adj" fmla="val 3448"/>
            </a:avLst>
          </a:prstGeom>
          <a:solidFill>
            <a:srgbClr val="F2F6F8"/>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11" name="Text 9"/>
          <p:cNvSpPr/>
          <p:nvPr/>
        </p:nvSpPr>
        <p:spPr>
          <a:xfrm>
            <a:off x="2953512" y="224942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1800" y="2761488"/>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Compile &amp; run</a:t>
            </a:r>
            <a:endParaRPr lang="en-US" sz="1450" dirty="0"/>
          </a:p>
        </p:txBody>
      </p:sp>
      <p:sp>
        <p:nvSpPr>
          <p:cNvPr id="13" name="Text 11"/>
          <p:cNvSpPr/>
          <p:nvPr/>
        </p:nvSpPr>
        <p:spPr>
          <a:xfrm>
            <a:off x="2971800" y="3182112"/>
            <a:ext cx="1755648" cy="96012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Build and execute the generated C</a:t>
            </a:r>
            <a:endParaRPr lang="en-US" sz="1150" dirty="0"/>
          </a:p>
        </p:txBody>
      </p:sp>
      <p:sp>
        <p:nvSpPr>
          <p:cNvPr id="14" name="Text 12"/>
          <p:cNvSpPr/>
          <p:nvPr/>
        </p:nvSpPr>
        <p:spPr>
          <a:xfrm>
            <a:off x="4864608" y="2103120"/>
            <a:ext cx="210312" cy="214884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29200" y="2103120"/>
            <a:ext cx="2121408" cy="214884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16" name="Text 14"/>
          <p:cNvSpPr/>
          <p:nvPr/>
        </p:nvSpPr>
        <p:spPr>
          <a:xfrm>
            <a:off x="5193792" y="224942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12080" y="2761488"/>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Reference</a:t>
            </a:r>
            <a:endParaRPr lang="en-US" sz="1450" dirty="0"/>
          </a:p>
        </p:txBody>
      </p:sp>
      <p:sp>
        <p:nvSpPr>
          <p:cNvPr id="18" name="Text 16"/>
          <p:cNvSpPr/>
          <p:nvPr/>
        </p:nvSpPr>
        <p:spPr>
          <a:xfrm>
            <a:off x="5212080" y="3182112"/>
            <a:ext cx="1755648" cy="96012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Run ONNX Runtime / ONNX Reference on same inputs</a:t>
            </a:r>
            <a:endParaRPr lang="en-US" sz="1150" dirty="0"/>
          </a:p>
        </p:txBody>
      </p:sp>
      <p:sp>
        <p:nvSpPr>
          <p:cNvPr id="19" name="Text 17"/>
          <p:cNvSpPr/>
          <p:nvPr/>
        </p:nvSpPr>
        <p:spPr>
          <a:xfrm>
            <a:off x="7104888" y="2103120"/>
            <a:ext cx="210312" cy="214884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269480" y="2103120"/>
            <a:ext cx="2121408" cy="2148840"/>
          </a:xfrm>
          <a:prstGeom prst="roundRect">
            <a:avLst>
              <a:gd name="adj" fmla="val 3448"/>
            </a:avLst>
          </a:prstGeom>
          <a:solidFill>
            <a:srgbClr val="F2F6F8"/>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21" name="Text 19"/>
          <p:cNvSpPr/>
          <p:nvPr/>
        </p:nvSpPr>
        <p:spPr>
          <a:xfrm>
            <a:off x="7434072" y="224942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452360" y="2761488"/>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Compare</a:t>
            </a:r>
            <a:endParaRPr lang="en-US" sz="1450" dirty="0"/>
          </a:p>
        </p:txBody>
      </p:sp>
      <p:sp>
        <p:nvSpPr>
          <p:cNvPr id="23" name="Text 21"/>
          <p:cNvSpPr/>
          <p:nvPr/>
        </p:nvSpPr>
        <p:spPr>
          <a:xfrm>
            <a:off x="7452360" y="3182112"/>
            <a:ext cx="1755648" cy="96012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ULP threshold after abs-epsilon; exact for non-float</a:t>
            </a:r>
            <a:endParaRPr lang="en-US" sz="1150" dirty="0"/>
          </a:p>
        </p:txBody>
      </p:sp>
      <p:sp>
        <p:nvSpPr>
          <p:cNvPr id="24" name="Text 22"/>
          <p:cNvSpPr/>
          <p:nvPr/>
        </p:nvSpPr>
        <p:spPr>
          <a:xfrm>
            <a:off x="9345168" y="2103120"/>
            <a:ext cx="210312" cy="2148840"/>
          </a:xfrm>
          <a:prstGeom prst="rect">
            <a:avLst/>
          </a:prstGeom>
          <a:noFill/>
          <a:ln/>
        </p:spPr>
        <p:txBody>
          <a:bodyPr wrap="square" lIns="0" tIns="0" rIns="0" bIns="0" rtlCol="0" anchor="ctr"/>
          <a:lstStyle/>
          <a:p>
            <a:pPr algn="ctr" indent="0" marL="0">
              <a:buNone/>
            </a:pPr>
            <a:r>
              <a:rPr lang="en-US" sz="2000" b="1" dirty="0">
                <a:solidFill>
                  <a:srgbClr val="16A39A"/>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509760" y="2103120"/>
            <a:ext cx="2121408" cy="2148840"/>
          </a:xfrm>
          <a:prstGeom prst="roundRect">
            <a:avLst>
              <a:gd name="adj" fmla="val 3448"/>
            </a:avLst>
          </a:prstGeom>
          <a:solidFill>
            <a:srgbClr val="EAF5F3"/>
          </a:solidFill>
          <a:ln w="12700">
            <a:solidFill>
              <a:srgbClr val="DBE6EA"/>
            </a:solidFill>
            <a:prstDash val="solid"/>
          </a:ln>
          <a:effectLst>
            <a:outerShdw sx="100000" sy="100000" kx="0" ky="0" algn="bl" rotWithShape="0" blurRad="114300" dist="38100" dir="5400000">
              <a:srgbClr val="0A1F38">
                <a:alpha val="9000"/>
              </a:srgbClr>
            </a:outerShdw>
          </a:effectLst>
        </p:spPr>
      </p:sp>
      <p:sp>
        <p:nvSpPr>
          <p:cNvPr id="26" name="Text 24"/>
          <p:cNvSpPr/>
          <p:nvPr/>
        </p:nvSpPr>
        <p:spPr>
          <a:xfrm>
            <a:off x="9674352" y="2249424"/>
            <a:ext cx="457200" cy="457200"/>
          </a:xfrm>
          <a:prstGeom prst="rect">
            <a:avLst/>
          </a:prstGeom>
          <a:noFill/>
          <a:ln/>
        </p:spPr>
        <p:txBody>
          <a:bodyPr wrap="square" lIns="0" tIns="0" rIns="0" bIns="0" rtlCol="0" anchor="ctr"/>
          <a:lstStyle/>
          <a:p>
            <a:pPr indent="0" marL="0">
              <a:buNone/>
            </a:pPr>
            <a:r>
              <a:rPr lang="en-US" sz="2200" b="1" dirty="0">
                <a:solidFill>
                  <a:srgbClr val="16A39A"/>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692640" y="2761488"/>
            <a:ext cx="1755648" cy="411480"/>
          </a:xfrm>
          <a:prstGeom prst="rect">
            <a:avLst/>
          </a:prstGeom>
          <a:noFill/>
          <a:ln/>
        </p:spPr>
        <p:txBody>
          <a:bodyPr wrap="square" lIns="0" tIns="0" rIns="0" bIns="0" rtlCol="0" anchor="ctr"/>
          <a:lstStyle/>
          <a:p>
            <a:pPr indent="0" marL="0">
              <a:buNone/>
            </a:pPr>
            <a:r>
              <a:rPr lang="en-US" sz="1450" b="1" dirty="0">
                <a:solidFill>
                  <a:srgbClr val="0E2A47"/>
                </a:solidFill>
                <a:latin typeface="Calibri" pitchFamily="34" charset="0"/>
                <a:ea typeface="Calibri" pitchFamily="34" charset="-122"/>
                <a:cs typeface="Calibri" pitchFamily="34" charset="-120"/>
              </a:rPr>
              <a:t>Record</a:t>
            </a:r>
            <a:endParaRPr lang="en-US" sz="1450" dirty="0"/>
          </a:p>
        </p:txBody>
      </p:sp>
      <p:sp>
        <p:nvSpPr>
          <p:cNvPr id="28" name="Text 26"/>
          <p:cNvSpPr/>
          <p:nvPr/>
        </p:nvSpPr>
        <p:spPr>
          <a:xfrm>
            <a:off x="9692640" y="3182112"/>
            <a:ext cx="1755648" cy="960120"/>
          </a:xfrm>
          <a:prstGeom prst="rect">
            <a:avLst/>
          </a:prstGeom>
          <a:noFill/>
          <a:ln/>
        </p:spPr>
        <p:txBody>
          <a:bodyPr wrap="square" lIns="0" tIns="0" rIns="0" bIns="0" rtlCol="0" anchor="t"/>
          <a:lstStyle/>
          <a:p>
            <a:pPr indent="0" marL="0">
              <a:buNone/>
            </a:pPr>
            <a:r>
              <a:rPr lang="en-US" sz="1150" dirty="0">
                <a:solidFill>
                  <a:srgbClr val="33475B"/>
                </a:solidFill>
                <a:latin typeface="Calibri" pitchFamily="34" charset="0"/>
                <a:ea typeface="Calibri" pitchFamily="34" charset="-122"/>
                <a:cs typeface="Calibri" pitchFamily="34" charset="-120"/>
              </a:rPr>
              <a:t>Coverage + expected failures tracked</a:t>
            </a:r>
            <a:endParaRPr lang="en-US" sz="1150" dirty="0"/>
          </a:p>
        </p:txBody>
      </p:sp>
      <p:sp>
        <p:nvSpPr>
          <p:cNvPr id="29" name="Shape 27"/>
          <p:cNvSpPr/>
          <p:nvPr/>
        </p:nvSpPr>
        <p:spPr>
          <a:xfrm>
            <a:off x="548640" y="4754880"/>
            <a:ext cx="11064240" cy="1371600"/>
          </a:xfrm>
          <a:prstGeom prst="roundRect">
            <a:avLst>
              <a:gd name="adj" fmla="val 4667"/>
            </a:avLst>
          </a:prstGeom>
          <a:solidFill>
            <a:srgbClr val="0E2A47"/>
          </a:solidFill>
          <a:ln/>
        </p:spPr>
      </p:sp>
      <p:sp>
        <p:nvSpPr>
          <p:cNvPr id="30" name="Text 28"/>
          <p:cNvSpPr/>
          <p:nvPr/>
        </p:nvSpPr>
        <p:spPr>
          <a:xfrm>
            <a:off x="868680" y="4892040"/>
            <a:ext cx="2743200" cy="365760"/>
          </a:xfrm>
          <a:prstGeom prst="rect">
            <a:avLst/>
          </a:prstGeom>
          <a:noFill/>
          <a:ln/>
        </p:spPr>
        <p:txBody>
          <a:bodyPr wrap="square" lIns="0" tIns="0" rIns="0" bIns="0" rtlCol="0" anchor="ctr"/>
          <a:lstStyle/>
          <a:p>
            <a:pPr indent="0" marL="0">
              <a:buNone/>
            </a:pPr>
            <a:r>
              <a:rPr lang="en-US" sz="1400" b="1" dirty="0">
                <a:solidFill>
                  <a:srgbClr val="E8A13A"/>
                </a:solidFill>
                <a:latin typeface="Calibri" pitchFamily="34" charset="0"/>
                <a:ea typeface="Calibri" pitchFamily="34" charset="-122"/>
                <a:cs typeface="Calibri" pitchFamily="34" charset="-120"/>
              </a:rPr>
              <a:t>Invariant</a:t>
            </a:r>
            <a:endParaRPr lang="en-US" sz="1400" dirty="0"/>
          </a:p>
        </p:txBody>
      </p:sp>
      <p:sp>
        <p:nvSpPr>
          <p:cNvPr id="31" name="Text 29"/>
          <p:cNvSpPr/>
          <p:nvPr/>
        </p:nvSpPr>
        <p:spPr>
          <a:xfrm>
            <a:off x="868680" y="5257800"/>
            <a:ext cx="10515600" cy="777240"/>
          </a:xfrm>
          <a:prstGeom prst="rect">
            <a:avLst/>
          </a:prstGeom>
          <a:noFill/>
          <a:ln/>
        </p:spPr>
        <p:txBody>
          <a:bodyPr wrap="square" lIns="0" tIns="0" rIns="0" bIns="0" rtlCol="0" anchor="t"/>
          <a:lstStyle/>
          <a:p>
            <a:pPr indent="0" marL="0">
              <a:buNone/>
            </a:pPr>
            <a:r>
              <a:rPr lang="en-US" sz="1400" dirty="0">
                <a:solidFill>
                  <a:srgbClr val="DCE8F0"/>
                </a:solidFill>
                <a:latin typeface="Calibri" pitchFamily="34" charset="0"/>
                <a:ea typeface="Calibri" pitchFamily="34" charset="-122"/>
                <a:cs typeface="Calibri" pitchFamily="34" charset="-120"/>
              </a:rPr>
              <a:t>Verification-only inputs must never implicitly change generated code. If verify uses extra shape information, it is testing a different compiler path — compile/verify parity keeps the contract honest.</a:t>
            </a:r>
            <a:endParaRPr lang="en-US" sz="1400" dirty="0"/>
          </a:p>
        </p:txBody>
      </p:sp>
      <p:sp>
        <p:nvSpPr>
          <p:cNvPr id="32" name="Text 3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33" name="Text 3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1</a:t>
            </a:r>
            <a:endParaRPr lang="en-US" sz="1200" dirty="0"/>
          </a:p>
        </p:txBody>
      </p:sp>
      <p:sp>
        <p:nvSpPr>
          <p:cNvPr id="4" name="Shape 2"/>
          <p:cNvSpPr/>
          <p:nvPr/>
        </p:nvSpPr>
        <p:spPr>
          <a:xfrm>
            <a:off x="548640" y="77724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77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80160" y="777240"/>
            <a:ext cx="10332720" cy="6400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ONNX is effectively unbounded</a:t>
            </a:r>
            <a:endParaRPr lang="en-US" sz="3000" dirty="0"/>
          </a:p>
        </p:txBody>
      </p:sp>
      <p:sp>
        <p:nvSpPr>
          <p:cNvPr id="7" name="Shape 5"/>
          <p:cNvSpPr/>
          <p:nvPr/>
        </p:nvSpPr>
        <p:spPr>
          <a:xfrm>
            <a:off x="548640" y="1783080"/>
            <a:ext cx="3611880" cy="2331720"/>
          </a:xfrm>
          <a:prstGeom prst="roundRect">
            <a:avLst>
              <a:gd name="adj" fmla="val 313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777240"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Dynamic dimensions</a:t>
            </a:r>
            <a:endParaRPr lang="en-US" sz="1650" dirty="0"/>
          </a:p>
        </p:txBody>
      </p:sp>
      <p:sp>
        <p:nvSpPr>
          <p:cNvPr id="9" name="Text 7"/>
          <p:cNvSpPr/>
          <p:nvPr/>
        </p:nvSpPr>
        <p:spPr>
          <a:xfrm>
            <a:off x="777240" y="2788920"/>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Symbolic/unknown axes give a runtime extent, but no maximum</a:t>
            </a:r>
            <a:endParaRPr lang="en-US" sz="1300" dirty="0"/>
          </a:p>
        </p:txBody>
      </p:sp>
      <p:sp>
        <p:nvSpPr>
          <p:cNvPr id="10" name="Shape 8"/>
          <p:cNvSpPr/>
          <p:nvPr/>
        </p:nvSpPr>
        <p:spPr>
          <a:xfrm>
            <a:off x="4416552" y="1783080"/>
            <a:ext cx="3611880" cy="2331720"/>
          </a:xfrm>
          <a:prstGeom prst="roundRect">
            <a:avLst>
              <a:gd name="adj" fmla="val 313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1" name="Text 9"/>
          <p:cNvSpPr/>
          <p:nvPr/>
        </p:nvSpPr>
        <p:spPr>
          <a:xfrm>
            <a:off x="4645152"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Sequence length</a:t>
            </a:r>
            <a:endParaRPr lang="en-US" sz="1650" dirty="0"/>
          </a:p>
        </p:txBody>
      </p:sp>
      <p:sp>
        <p:nvSpPr>
          <p:cNvPr id="12" name="Text 10"/>
          <p:cNvSpPr/>
          <p:nvPr/>
        </p:nvSpPr>
        <p:spPr>
          <a:xfrm>
            <a:off x="4645152" y="2788920"/>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Containers have no natural capacity — one level above a dynamic dim</a:t>
            </a:r>
            <a:endParaRPr lang="en-US" sz="1300" dirty="0"/>
          </a:p>
        </p:txBody>
      </p:sp>
      <p:sp>
        <p:nvSpPr>
          <p:cNvPr id="13" name="Shape 11"/>
          <p:cNvSpPr/>
          <p:nvPr/>
        </p:nvSpPr>
        <p:spPr>
          <a:xfrm>
            <a:off x="8284464" y="1783080"/>
            <a:ext cx="3611880" cy="2331720"/>
          </a:xfrm>
          <a:prstGeom prst="roundRect">
            <a:avLst>
              <a:gd name="adj" fmla="val 313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4" name="Text 12"/>
          <p:cNvSpPr/>
          <p:nvPr/>
        </p:nvSpPr>
        <p:spPr>
          <a:xfrm>
            <a:off x="8513064" y="2011680"/>
            <a:ext cx="3154680" cy="777240"/>
          </a:xfrm>
          <a:prstGeom prst="rect">
            <a:avLst/>
          </a:prstGeom>
          <a:noFill/>
          <a:ln/>
        </p:spPr>
        <p:txBody>
          <a:bodyPr wrap="square" lIns="0" tIns="0" rIns="0" bIns="0" rtlCol="0" anchor="t"/>
          <a:lstStyle/>
          <a:p>
            <a:pPr indent="0" marL="0">
              <a:buNone/>
            </a:pPr>
            <a:r>
              <a:rPr lang="en-US" sz="1650" b="1" dirty="0">
                <a:solidFill>
                  <a:srgbClr val="0E7C77"/>
                </a:solidFill>
                <a:latin typeface="Calibri" pitchFamily="34" charset="0"/>
                <a:ea typeface="Calibri" pitchFamily="34" charset="-122"/>
                <a:cs typeface="Calibri" pitchFamily="34" charset="-120"/>
              </a:rPr>
              <a:t>String size</a:t>
            </a:r>
            <a:endParaRPr lang="en-US" sz="1650" dirty="0"/>
          </a:p>
        </p:txBody>
      </p:sp>
      <p:sp>
        <p:nvSpPr>
          <p:cNvPr id="15" name="Text 13"/>
          <p:cNvSpPr/>
          <p:nvPr/>
        </p:nvSpPr>
        <p:spPr>
          <a:xfrm>
            <a:off x="8513064" y="2788920"/>
            <a:ext cx="3154680" cy="1188720"/>
          </a:xfrm>
          <a:prstGeom prst="rect">
            <a:avLst/>
          </a:prstGeom>
          <a:noFill/>
          <a:ln/>
        </p:spPr>
        <p:txBody>
          <a:bodyPr wrap="square" lIns="0" tIns="0" rIns="0" bIns="0" rtlCol="0" anchor="t"/>
          <a:lstStyle/>
          <a:p>
            <a:pPr indent="0" marL="0">
              <a:buNone/>
            </a:pPr>
            <a:r>
              <a:rPr lang="en-US" sz="1300" dirty="0">
                <a:solidFill>
                  <a:srgbClr val="33475B"/>
                </a:solidFill>
                <a:latin typeface="Calibri" pitchFamily="34" charset="0"/>
                <a:ea typeface="Calibri" pitchFamily="34" charset="-122"/>
                <a:cs typeface="Calibri" pitchFamily="34" charset="-120"/>
              </a:rPr>
              <a:t>String tensors carry no maximum character length</a:t>
            </a:r>
            <a:endParaRPr lang="en-US" sz="1300" dirty="0"/>
          </a:p>
        </p:txBody>
      </p:sp>
      <p:sp>
        <p:nvSpPr>
          <p:cNvPr id="16" name="Shape 14"/>
          <p:cNvSpPr/>
          <p:nvPr/>
        </p:nvSpPr>
        <p:spPr>
          <a:xfrm>
            <a:off x="548640" y="4343400"/>
            <a:ext cx="11064240" cy="1783080"/>
          </a:xfrm>
          <a:prstGeom prst="roundRect">
            <a:avLst>
              <a:gd name="adj" fmla="val 3590"/>
            </a:avLst>
          </a:prstGeom>
          <a:solidFill>
            <a:srgbClr val="EAF5F3"/>
          </a:solidFill>
          <a:ln w="12700">
            <a:solidFill>
              <a:srgbClr val="C9E5E1"/>
            </a:solidFill>
            <a:prstDash val="solid"/>
          </a:ln>
        </p:spPr>
      </p:sp>
      <p:sp>
        <p:nvSpPr>
          <p:cNvPr id="17" name="Text 15"/>
          <p:cNvSpPr/>
          <p:nvPr/>
        </p:nvSpPr>
        <p:spPr>
          <a:xfrm>
            <a:off x="822960" y="4462272"/>
            <a:ext cx="10515600" cy="365760"/>
          </a:xfrm>
          <a:prstGeom prst="rect">
            <a:avLst/>
          </a:prstGeom>
          <a:noFill/>
          <a:ln/>
        </p:spPr>
        <p:txBody>
          <a:bodyPr wrap="square" lIns="0" tIns="0" rIns="0" bIns="0" rtlCol="0" anchor="ctr"/>
          <a:lstStyle/>
          <a:p>
            <a:pPr indent="0" marL="0">
              <a:buNone/>
            </a:pPr>
            <a:r>
              <a:rPr lang="en-US" sz="1450" b="1" dirty="0">
                <a:solidFill>
                  <a:srgbClr val="0E7C77"/>
                </a:solidFill>
                <a:latin typeface="Calibri" pitchFamily="34" charset="0"/>
                <a:ea typeface="Calibri" pitchFamily="34" charset="-122"/>
                <a:cs typeface="Calibri" pitchFamily="34" charset="-120"/>
              </a:rPr>
              <a:t>emx-onnx-cgen makes the bound explicit</a:t>
            </a:r>
            <a:endParaRPr lang="en-US" sz="1450" dirty="0"/>
          </a:p>
        </p:txBody>
      </p:sp>
      <p:sp>
        <p:nvSpPr>
          <p:cNvPr id="18" name="Text 16"/>
          <p:cNvSpPr/>
          <p:nvPr/>
        </p:nvSpPr>
        <p:spPr>
          <a:xfrm>
            <a:off x="822960" y="4846320"/>
            <a:ext cx="10515600" cy="1188720"/>
          </a:xfrm>
          <a:prstGeom prst="rect">
            <a:avLst/>
          </a:prstGeom>
          <a:noFill/>
          <a:ln/>
        </p:spPr>
        <p:txBody>
          <a:bodyPr wrap="square" lIns="0" tIns="0" rIns="0" bIns="0" rtlCol="0" anchor="t"/>
          <a:lstStyle/>
          <a:p>
            <a:pPr indent="0" marL="0">
              <a:lnSpc>
                <a:spcPct val="115000"/>
              </a:lnSpc>
              <a:buNone/>
            </a:pPr>
            <a:r>
              <a:rPr lang="en-US" sz="1250" dirty="0">
                <a:solidFill>
                  <a:srgbClr val="33475B"/>
                </a:solidFill>
                <a:latin typeface="Calibri" pitchFamily="34" charset="0"/>
                <a:ea typeface="Calibri" pitchFamily="34" charset="-122"/>
                <a:cs typeface="Calibri" pitchFamily="34" charset="-120"/>
              </a:rPr>
              <a:t>Sequences → fixed-capacity arrays + count: </a:t>
            </a:r>
            <a:pPr indent="0" marL="0">
              <a:lnSpc>
                <a:spcPct val="115000"/>
              </a:lnSpc>
              <a:buNone/>
            </a:pPr>
            <a:r>
              <a:rPr lang="en-US" sz="1250" dirty="0">
                <a:solidFill>
                  <a:srgbClr val="0E2A47"/>
                </a:solidFill>
                <a:latin typeface="Consolas" pitchFamily="34" charset="0"/>
                <a:ea typeface="Consolas" pitchFamily="34" charset="-122"/>
                <a:cs typeface="Consolas" pitchFamily="34" charset="-120"/>
              </a:rPr>
              <a:t>T name[EMX_SEQUENCE_MAX_LEN][...] + idx_t name__count</a:t>
            </a:r>
            <a:endParaRPr lang="en-US" sz="1250" dirty="0"/>
          </a:p>
          <a:p>
            <a:pPr indent="0" marL="0">
              <a:lnSpc>
                <a:spcPct val="115000"/>
              </a:lnSpc>
              <a:buNone/>
            </a:pPr>
            <a:r>
              <a:rPr lang="en-US" sz="1250" dirty="0">
                <a:solidFill>
                  <a:srgbClr val="33475B"/>
                </a:solidFill>
                <a:latin typeface="Calibri" pitchFamily="34" charset="0"/>
                <a:ea typeface="Calibri" pitchFamily="34" charset="-122"/>
                <a:cs typeface="Calibri" pitchFamily="34" charset="-120"/>
              </a:rPr>
              <a:t>Strings → fixed slots: </a:t>
            </a:r>
            <a:pPr indent="0" marL="0">
              <a:lnSpc>
                <a:spcPct val="115000"/>
              </a:lnSpc>
              <a:buNone/>
            </a:pPr>
            <a:r>
              <a:rPr lang="en-US" sz="1250" dirty="0">
                <a:solidFill>
                  <a:srgbClr val="0E2A47"/>
                </a:solidFill>
                <a:latin typeface="Consolas" pitchFamily="34" charset="0"/>
                <a:ea typeface="Consolas" pitchFamily="34" charset="-122"/>
                <a:cs typeface="Consolas" pitchFamily="34" charset="-120"/>
              </a:rPr>
              <a:t>char[EMX_STRING_MAX_LEN]</a:t>
            </a:r>
            <a:pPr indent="0" marL="0">
              <a:lnSpc>
                <a:spcPct val="115000"/>
              </a:lnSpc>
              <a:buNone/>
            </a:pPr>
            <a:r>
              <a:rPr lang="en-US" sz="1250" dirty="0">
                <a:solidFill>
                  <a:srgbClr val="6B7C8F"/>
                </a:solidFill>
                <a:latin typeface="Calibri" pitchFamily="34" charset="0"/>
                <a:ea typeface="Calibri" pitchFamily="34" charset="-122"/>
                <a:cs typeface="Calibri" pitchFamily="34" charset="-120"/>
              </a:rPr>
              <a:t>  (256 default, #ifndef-overridable)</a:t>
            </a:r>
            <a:endParaRPr lang="en-US" sz="1250" dirty="0"/>
          </a:p>
          <a:p>
            <a:pPr indent="0" marL="0">
              <a:lnSpc>
                <a:spcPct val="115000"/>
              </a:lnSpc>
              <a:buNone/>
            </a:pPr>
            <a:r>
              <a:rPr lang="en-US" sz="1250" dirty="0">
                <a:solidFill>
                  <a:srgbClr val="33475B"/>
                </a:solidFill>
                <a:latin typeface="Calibri" pitchFamily="34" charset="0"/>
                <a:ea typeface="Calibri" pitchFamily="34" charset="-122"/>
                <a:cs typeface="Calibri" pitchFamily="34" charset="-120"/>
              </a:rPr>
              <a:t>Ragged inputs require </a:t>
            </a:r>
            <a:pPr indent="0" marL="0">
              <a:lnSpc>
                <a:spcPct val="115000"/>
              </a:lnSpc>
              <a:buNone/>
            </a:pPr>
            <a:r>
              <a:rPr lang="en-US" sz="1250" dirty="0">
                <a:solidFill>
                  <a:srgbClr val="0E2A47"/>
                </a:solidFill>
                <a:latin typeface="Consolas" pitchFamily="34" charset="0"/>
                <a:ea typeface="Consolas" pitchFamily="34" charset="-122"/>
                <a:cs typeface="Consolas" pitchFamily="34" charset="-120"/>
              </a:rPr>
              <a:t>--sequence-element-shape</a:t>
            </a:r>
            <a:pPr indent="0" marL="0">
              <a:lnSpc>
                <a:spcPct val="115000"/>
              </a:lnSpc>
              <a:buNone/>
            </a:pPr>
            <a:r>
              <a:rPr lang="en-US" sz="1250" dirty="0">
                <a:solidFill>
                  <a:srgbClr val="6B7C8F"/>
                </a:solidFill>
                <a:latin typeface="Calibri" pitchFamily="34" charset="0"/>
                <a:ea typeface="Calibri" pitchFamily="34" charset="-122"/>
                <a:cs typeface="Calibri" pitchFamily="34" charset="-120"/>
              </a:rPr>
              <a:t>  ·  otherwise: fail clearly</a:t>
            </a:r>
            <a:endParaRPr lang="en-US" sz="1250" dirty="0"/>
          </a:p>
        </p:txBody>
      </p:sp>
      <p:sp>
        <p:nvSpPr>
          <p:cNvPr id="19" name="Text 17"/>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20" name="Text 18"/>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2</a:t>
            </a:r>
            <a:endParaRPr lang="en-US" sz="1200" dirty="0"/>
          </a:p>
        </p:txBody>
      </p:sp>
      <p:sp>
        <p:nvSpPr>
          <p:cNvPr id="4" name="Shape 2"/>
          <p:cNvSpPr/>
          <p:nvPr/>
        </p:nvSpPr>
        <p:spPr>
          <a:xfrm>
            <a:off x="548640" y="77724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77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6" name="Text 4"/>
          <p:cNvSpPr/>
          <p:nvPr/>
        </p:nvSpPr>
        <p:spPr>
          <a:xfrm>
            <a:off x="1280160" y="777240"/>
            <a:ext cx="10332720" cy="6400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Type &amp; shape inference is not enough</a:t>
            </a:r>
            <a:endParaRPr lang="en-US" sz="3000" dirty="0"/>
          </a:p>
        </p:txBody>
      </p:sp>
      <p:sp>
        <p:nvSpPr>
          <p:cNvPr id="7" name="Shape 5"/>
          <p:cNvSpPr/>
          <p:nvPr/>
        </p:nvSpPr>
        <p:spPr>
          <a:xfrm>
            <a:off x="548640" y="1783080"/>
            <a:ext cx="5486400" cy="2331720"/>
          </a:xfrm>
          <a:prstGeom prst="roundRect">
            <a:avLst>
              <a:gd name="adj" fmla="val 274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804672" y="1984248"/>
            <a:ext cx="502920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Where it falls short</a:t>
            </a:r>
            <a:endParaRPr lang="en-US" sz="1500" dirty="0"/>
          </a:p>
        </p:txBody>
      </p:sp>
      <p:sp>
        <p:nvSpPr>
          <p:cNvPr id="9" name="Text 7"/>
          <p:cNvSpPr/>
          <p:nvPr/>
        </p:nvSpPr>
        <p:spPr>
          <a:xfrm>
            <a:off x="804672" y="2441448"/>
            <a:ext cx="5029200" cy="149047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Inference is incomplete for some operators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Output shape can depend on values, attributes or subgraphs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Container element shapes may simply be missing</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Sequence types complicate static analysis &amp; ABI design</a:t>
            </a:r>
            <a:endParaRPr lang="en-US" sz="1250" dirty="0"/>
          </a:p>
        </p:txBody>
      </p:sp>
      <p:sp>
        <p:nvSpPr>
          <p:cNvPr id="10" name="Shape 8"/>
          <p:cNvSpPr/>
          <p:nvPr/>
        </p:nvSpPr>
        <p:spPr>
          <a:xfrm>
            <a:off x="548640" y="4297680"/>
            <a:ext cx="5486400" cy="1828800"/>
          </a:xfrm>
          <a:prstGeom prst="roundRect">
            <a:avLst>
              <a:gd name="adj" fmla="val 3500"/>
            </a:avLst>
          </a:prstGeom>
          <a:solidFill>
            <a:srgbClr val="EAF5F3"/>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1" name="Text 9"/>
          <p:cNvSpPr/>
          <p:nvPr/>
        </p:nvSpPr>
        <p:spPr>
          <a:xfrm>
            <a:off x="804672" y="4498848"/>
            <a:ext cx="502920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Compiler response</a:t>
            </a:r>
            <a:endParaRPr lang="en-US" sz="1500" dirty="0"/>
          </a:p>
        </p:txBody>
      </p:sp>
      <p:sp>
        <p:nvSpPr>
          <p:cNvPr id="12" name="Text 10"/>
          <p:cNvSpPr/>
          <p:nvPr/>
        </p:nvSpPr>
        <p:spPr>
          <a:xfrm>
            <a:off x="804672" y="4956048"/>
            <a:ext cx="5029200" cy="98755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Normalize attributes &amp; types on import</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Add compiler-side inference where ONNX stops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Missing information becomes an explicit error</a:t>
            </a:r>
            <a:endParaRPr lang="en-US" sz="1250" dirty="0"/>
          </a:p>
        </p:txBody>
      </p:sp>
      <p:sp>
        <p:nvSpPr>
          <p:cNvPr id="13" name="Shape 11"/>
          <p:cNvSpPr/>
          <p:nvPr/>
        </p:nvSpPr>
        <p:spPr>
          <a:xfrm>
            <a:off x="6263640" y="1783080"/>
            <a:ext cx="5349240" cy="2011680"/>
          </a:xfrm>
          <a:prstGeom prst="roundRect">
            <a:avLst>
              <a:gd name="adj" fmla="val 3636"/>
            </a:avLst>
          </a:prstGeom>
          <a:solidFill>
            <a:srgbClr val="FBEEE9"/>
          </a:solidFill>
          <a:ln w="12700">
            <a:solidFill>
              <a:srgbClr val="EFD6CC"/>
            </a:solidFill>
            <a:prstDash val="solid"/>
          </a:ln>
          <a:effectLst>
            <a:outerShdw sx="100000" sy="100000" kx="0" ky="0" algn="bl" rotWithShape="0" blurRad="114300" dist="38100" dir="5400000">
              <a:srgbClr val="0A1F38">
                <a:alpha val="10000"/>
              </a:srgbClr>
            </a:outerShdw>
          </a:effectLst>
        </p:spPr>
      </p:sp>
      <p:sp>
        <p:nvSpPr>
          <p:cNvPr id="14" name="Text 12"/>
          <p:cNvSpPr/>
          <p:nvPr/>
        </p:nvSpPr>
        <p:spPr>
          <a:xfrm>
            <a:off x="6537960" y="1920240"/>
            <a:ext cx="4846320" cy="365760"/>
          </a:xfrm>
          <a:prstGeom prst="rect">
            <a:avLst/>
          </a:prstGeom>
          <a:noFill/>
          <a:ln/>
        </p:spPr>
        <p:txBody>
          <a:bodyPr wrap="square" lIns="0" tIns="0" rIns="0" bIns="0" rtlCol="0" anchor="ctr"/>
          <a:lstStyle/>
          <a:p>
            <a:pPr indent="0" marL="0">
              <a:buNone/>
            </a:pPr>
            <a:r>
              <a:rPr lang="en-US" sz="1500" b="1" dirty="0">
                <a:solidFill>
                  <a:srgbClr val="B5503A"/>
                </a:solidFill>
                <a:latin typeface="Calibri" pitchFamily="34" charset="0"/>
                <a:ea typeface="Calibri" pitchFamily="34" charset="-122"/>
                <a:cs typeface="Calibri" pitchFamily="34" charset="-120"/>
              </a:rPr>
              <a:t>The duplication problem</a:t>
            </a:r>
            <a:endParaRPr lang="en-US" sz="1500" dirty="0"/>
          </a:p>
        </p:txBody>
      </p:sp>
      <p:sp>
        <p:nvSpPr>
          <p:cNvPr id="15" name="Text 13"/>
          <p:cNvSpPr/>
          <p:nvPr/>
        </p:nvSpPr>
        <p:spPr>
          <a:xfrm>
            <a:off x="6537960" y="2331720"/>
            <a:ext cx="4937760" cy="1417320"/>
          </a:xfrm>
          <a:prstGeom prst="rect">
            <a:avLst/>
          </a:prstGeom>
          <a:noFill/>
          <a:ln/>
        </p:spPr>
        <p:txBody>
          <a:bodyPr wrap="square" lIns="0" tIns="0" rIns="0" bIns="0" rtlCol="0" anchor="t"/>
          <a:lstStyle/>
          <a:p>
            <a:pPr indent="0" marL="0">
              <a:buNone/>
            </a:pPr>
            <a:r>
              <a:rPr lang="en-US" sz="1250" dirty="0">
                <a:solidFill>
                  <a:srgbClr val="33475B"/>
                </a:solidFill>
                <a:latin typeface="Calibri" pitchFamily="34" charset="0"/>
                <a:ea typeface="Calibri" pitchFamily="34" charset="-122"/>
                <a:cs typeface="Calibri" pitchFamily="34" charset="-120"/>
              </a:rPr>
              <a:t>No reliable standalone library infers shapes/types for dynamic models in a way static code generators can reuse — so importers, MLIR frontends, codegens, verifiers and runtimes each reimplement it, and may disagree.</a:t>
            </a:r>
            <a:endParaRPr lang="en-US" sz="1250" dirty="0"/>
          </a:p>
        </p:txBody>
      </p:sp>
      <p:sp>
        <p:nvSpPr>
          <p:cNvPr id="16" name="Shape 14"/>
          <p:cNvSpPr/>
          <p:nvPr/>
        </p:nvSpPr>
        <p:spPr>
          <a:xfrm>
            <a:off x="6263640" y="3977640"/>
            <a:ext cx="5349240" cy="2148840"/>
          </a:xfrm>
          <a:prstGeom prst="roundRect">
            <a:avLst>
              <a:gd name="adj" fmla="val 3404"/>
            </a:avLst>
          </a:prstGeom>
          <a:solidFill>
            <a:srgbClr val="0E2A47"/>
          </a:solidFill>
          <a:ln/>
          <a:effectLst>
            <a:outerShdw sx="100000" sy="100000" kx="0" ky="0" algn="bl" rotWithShape="0" blurRad="114300" dist="38100" dir="5400000">
              <a:srgbClr val="0A1F38">
                <a:alpha val="12000"/>
              </a:srgbClr>
            </a:outerShdw>
          </a:effectLst>
        </p:spPr>
      </p:sp>
      <p:sp>
        <p:nvSpPr>
          <p:cNvPr id="17" name="Text 15"/>
          <p:cNvSpPr/>
          <p:nvPr/>
        </p:nvSpPr>
        <p:spPr>
          <a:xfrm>
            <a:off x="6537960" y="4114800"/>
            <a:ext cx="4846320" cy="365760"/>
          </a:xfrm>
          <a:prstGeom prst="rect">
            <a:avLst/>
          </a:prstGeom>
          <a:noFill/>
          <a:ln/>
        </p:spPr>
        <p:txBody>
          <a:bodyPr wrap="square" lIns="0" tIns="0" rIns="0" bIns="0" rtlCol="0" anchor="ctr"/>
          <a:lstStyle/>
          <a:p>
            <a:pPr indent="0" marL="0">
              <a:buNone/>
            </a:pPr>
            <a:r>
              <a:rPr lang="en-US" sz="1400" b="1" dirty="0">
                <a:solidFill>
                  <a:srgbClr val="E8A13A"/>
                </a:solidFill>
                <a:latin typeface="Calibri" pitchFamily="34" charset="0"/>
                <a:ea typeface="Calibri" pitchFamily="34" charset="-122"/>
                <a:cs typeface="Calibri" pitchFamily="34" charset="-120"/>
              </a:rPr>
              <a:t>VISION  </a:t>
            </a:r>
            <a:pPr indent="0" marL="0">
              <a:buNone/>
            </a:pPr>
            <a:r>
              <a:rPr lang="en-US" sz="1400" b="1" dirty="0">
                <a:solidFill>
                  <a:srgbClr val="FFFFFF"/>
                </a:solidFill>
                <a:latin typeface="Calibri" pitchFamily="34" charset="0"/>
                <a:ea typeface="Calibri" pitchFamily="34" charset="-122"/>
                <a:cs typeface="Calibri" pitchFamily="34" charset="-120"/>
              </a:rPr>
              <a:t>a shared, extensible inference layer</a:t>
            </a:r>
            <a:endParaRPr lang="en-US" sz="1400" dirty="0"/>
          </a:p>
        </p:txBody>
      </p:sp>
      <p:sp>
        <p:nvSpPr>
          <p:cNvPr id="18" name="Text 16"/>
          <p:cNvSpPr/>
          <p:nvPr/>
        </p:nvSpPr>
        <p:spPr>
          <a:xfrm>
            <a:off x="6537960" y="4526280"/>
            <a:ext cx="4937760"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FE0EC"/>
                </a:solidFill>
                <a:latin typeface="Calibri" pitchFamily="34" charset="0"/>
                <a:ea typeface="Calibri" pitchFamily="34" charset="-122"/>
                <a:cs typeface="Calibri" pitchFamily="34" charset="-120"/>
              </a:rPr>
              <a:t>Preserve symbolic dims, constraints &amp; unresolved facts</a:t>
            </a:r>
            <a:endParaRPr lang="en-US" sz="1200" dirty="0"/>
          </a:p>
          <a:p>
            <a:pPr marL="342900" indent="-342900">
              <a:spcAft>
                <a:spcPts val="500"/>
              </a:spcAft>
              <a:buSzPct val="100000"/>
              <a:buChar char="•"/>
            </a:pPr>
            <a:r>
              <a:rPr lang="en-US" sz="1200" dirty="0">
                <a:solidFill>
                  <a:srgbClr val="CFE0EC"/>
                </a:solidFill>
                <a:latin typeface="Calibri" pitchFamily="34" charset="0"/>
                <a:ea typeface="Calibri" pitchFamily="34" charset="-122"/>
                <a:cs typeface="Calibri" pitchFamily="34" charset="-120"/>
              </a:rPr>
              <a:t>Registry for external domains (ORT contrib ops)</a:t>
            </a:r>
            <a:endParaRPr lang="en-US" sz="1200" dirty="0"/>
          </a:p>
          <a:p>
            <a:pPr marL="342900" indent="-342900">
              <a:spcAft>
                <a:spcPts val="500"/>
              </a:spcAft>
              <a:buSzPct val="100000"/>
              <a:buChar char="•"/>
            </a:pPr>
            <a:r>
              <a:rPr lang="en-US" sz="1200" dirty="0">
                <a:solidFill>
                  <a:srgbClr val="CFE0EC"/>
                </a:solidFill>
                <a:latin typeface="Calibri" pitchFamily="34" charset="0"/>
                <a:ea typeface="Calibri" pitchFamily="34" charset="-122"/>
                <a:cs typeface="Calibri" pitchFamily="34" charset="-120"/>
              </a:rPr>
              <a:t>Persist results back into ONNX (value_info / metadata)</a:t>
            </a:r>
            <a:endParaRPr lang="en-US" sz="1200" dirty="0"/>
          </a:p>
          <a:p>
            <a:pPr marL="342900" indent="-342900">
              <a:buSzPct val="100000"/>
              <a:buChar char="•"/>
            </a:pPr>
            <a:r>
              <a:rPr lang="en-US" sz="1200" dirty="0">
                <a:solidFill>
                  <a:srgbClr val="CFE0EC"/>
                </a:solidFill>
                <a:latin typeface="Calibri" pitchFamily="34" charset="0"/>
                <a:ea typeface="Calibri" pitchFamily="34" charset="-122"/>
                <a:cs typeface="Calibri" pitchFamily="34" charset="-120"/>
              </a:rPr>
              <a:t>One DSL → C++ &amp; Python, numeric + symbolic (SymPy)</a:t>
            </a:r>
            <a:endParaRPr lang="en-US" sz="1200" dirty="0"/>
          </a:p>
        </p:txBody>
      </p:sp>
      <p:sp>
        <p:nvSpPr>
          <p:cNvPr id="19" name="Text 17"/>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20" name="Text 18"/>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LESSON 3</a:t>
            </a:r>
            <a:endParaRPr lang="en-US" sz="1200" dirty="0"/>
          </a:p>
        </p:txBody>
      </p:sp>
      <p:sp>
        <p:nvSpPr>
          <p:cNvPr id="4" name="Shape 2"/>
          <p:cNvSpPr/>
          <p:nvPr/>
        </p:nvSpPr>
        <p:spPr>
          <a:xfrm>
            <a:off x="548640" y="777240"/>
            <a:ext cx="566928" cy="566928"/>
          </a:xfrm>
          <a:prstGeom prst="ellipse">
            <a:avLst/>
          </a:prstGeom>
          <a:solidFill>
            <a:srgbClr val="16A39A"/>
          </a:solidFill>
          <a:ln/>
          <a:effectLst>
            <a:outerShdw sx="100000" sy="100000" kx="0" ky="0" algn="bl" rotWithShape="0" blurRad="114300" dist="38100" dir="5400000">
              <a:srgbClr val="0A1F38">
                <a:alpha val="18000"/>
              </a:srgbClr>
            </a:outerShdw>
          </a:effectLst>
        </p:spPr>
      </p:sp>
      <p:sp>
        <p:nvSpPr>
          <p:cNvPr id="5" name="Text 3"/>
          <p:cNvSpPr/>
          <p:nvPr/>
        </p:nvSpPr>
        <p:spPr>
          <a:xfrm>
            <a:off x="548640" y="7772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6" name="Text 4"/>
          <p:cNvSpPr/>
          <p:nvPr/>
        </p:nvSpPr>
        <p:spPr>
          <a:xfrm>
            <a:off x="1280160" y="777240"/>
            <a:ext cx="10332720" cy="6400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Numerical accuracy is underspecified</a:t>
            </a:r>
            <a:endParaRPr lang="en-US" sz="3000" dirty="0"/>
          </a:p>
        </p:txBody>
      </p:sp>
      <p:sp>
        <p:nvSpPr>
          <p:cNvPr id="7" name="Shape 5"/>
          <p:cNvSpPr/>
          <p:nvPr/>
        </p:nvSpPr>
        <p:spPr>
          <a:xfrm>
            <a:off x="548640" y="1783080"/>
            <a:ext cx="5486400" cy="2377440"/>
          </a:xfrm>
          <a:prstGeom prst="roundRect">
            <a:avLst>
              <a:gd name="adj" fmla="val 2692"/>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8" name="Text 6"/>
          <p:cNvSpPr/>
          <p:nvPr/>
        </p:nvSpPr>
        <p:spPr>
          <a:xfrm>
            <a:off x="804672" y="1984248"/>
            <a:ext cx="502920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The ambiguity</a:t>
            </a:r>
            <a:endParaRPr lang="en-US" sz="1500" dirty="0"/>
          </a:p>
        </p:txBody>
      </p:sp>
      <p:sp>
        <p:nvSpPr>
          <p:cNvPr id="9" name="Text 7"/>
          <p:cNvSpPr/>
          <p:nvPr/>
        </p:nvSpPr>
        <p:spPr>
          <a:xfrm>
            <a:off x="804672" y="2441448"/>
            <a:ext cx="5029200" cy="153619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Official tests give examples, not full accuracy contracts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Reference impls differ on edge cases &amp; FP behaviour</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node tests carry no per-operator tolerance (data.json is for real models)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Accumulation, rounding, approximations left to the backend</a:t>
            </a:r>
            <a:endParaRPr lang="en-US" sz="1250" dirty="0"/>
          </a:p>
        </p:txBody>
      </p:sp>
      <p:sp>
        <p:nvSpPr>
          <p:cNvPr id="10" name="Text 8"/>
          <p:cNvSpPr/>
          <p:nvPr/>
        </p:nvSpPr>
        <p:spPr>
          <a:xfrm>
            <a:off x="6263640" y="1783080"/>
            <a:ext cx="534924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Everyone picks a different policy</a:t>
            </a:r>
            <a:endParaRPr lang="en-US" sz="1500" dirty="0"/>
          </a:p>
        </p:txBody>
      </p:sp>
      <p:sp>
        <p:nvSpPr>
          <p:cNvPr id="11" name="Shape 9"/>
          <p:cNvSpPr/>
          <p:nvPr/>
        </p:nvSpPr>
        <p:spPr>
          <a:xfrm>
            <a:off x="6263640" y="2240280"/>
            <a:ext cx="5349240" cy="384048"/>
          </a:xfrm>
          <a:prstGeom prst="rect">
            <a:avLst/>
          </a:prstGeom>
          <a:solidFill>
            <a:srgbClr val="F2F6F8"/>
          </a:solidFill>
          <a:ln w="9525">
            <a:solidFill>
              <a:srgbClr val="DBE6EA"/>
            </a:solidFill>
            <a:prstDash val="solid"/>
          </a:ln>
        </p:spPr>
      </p:sp>
      <p:sp>
        <p:nvSpPr>
          <p:cNvPr id="12" name="Text 10"/>
          <p:cNvSpPr/>
          <p:nvPr/>
        </p:nvSpPr>
        <p:spPr>
          <a:xfrm>
            <a:off x="6400800" y="2240280"/>
            <a:ext cx="2103120" cy="384048"/>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ONNX backend</a:t>
            </a:r>
            <a:endParaRPr lang="en-US" sz="1200" dirty="0"/>
          </a:p>
        </p:txBody>
      </p:sp>
      <p:sp>
        <p:nvSpPr>
          <p:cNvPr id="13" name="Text 11"/>
          <p:cNvSpPr/>
          <p:nvPr/>
        </p:nvSpPr>
        <p:spPr>
          <a:xfrm>
            <a:off x="8503920" y="2240280"/>
            <a:ext cx="3017520" cy="384048"/>
          </a:xfrm>
          <a:prstGeom prst="rect">
            <a:avLst/>
          </a:prstGeom>
          <a:noFill/>
          <a:ln/>
        </p:spPr>
        <p:txBody>
          <a:bodyPr wrap="square" lIns="0" tIns="0" rIns="0" bIns="0" rtlCol="0" anchor="ctr"/>
          <a:lstStyle/>
          <a:p>
            <a:pPr indent="0" marL="0">
              <a:buNone/>
            </a:pPr>
            <a:r>
              <a:rPr lang="en-US" sz="1100" dirty="0">
                <a:solidFill>
                  <a:srgbClr val="33475B"/>
                </a:solidFill>
                <a:latin typeface="Consolas" pitchFamily="34" charset="0"/>
                <a:ea typeface="Consolas" pitchFamily="34" charset="-122"/>
                <a:cs typeface="Consolas" pitchFamily="34" charset="-120"/>
              </a:rPr>
              <a:t>rtol 1e-3, atol 1e-7</a:t>
            </a:r>
            <a:endParaRPr lang="en-US" sz="1100" dirty="0"/>
          </a:p>
        </p:txBody>
      </p:sp>
      <p:sp>
        <p:nvSpPr>
          <p:cNvPr id="14" name="Shape 12"/>
          <p:cNvSpPr/>
          <p:nvPr/>
        </p:nvSpPr>
        <p:spPr>
          <a:xfrm>
            <a:off x="6263640" y="2624328"/>
            <a:ext cx="5349240" cy="384048"/>
          </a:xfrm>
          <a:prstGeom prst="rect">
            <a:avLst/>
          </a:prstGeom>
          <a:solidFill>
            <a:srgbClr val="FFFFFF"/>
          </a:solidFill>
          <a:ln w="9525">
            <a:solidFill>
              <a:srgbClr val="DBE6EA"/>
            </a:solidFill>
            <a:prstDash val="solid"/>
          </a:ln>
        </p:spPr>
      </p:sp>
      <p:sp>
        <p:nvSpPr>
          <p:cNvPr id="15" name="Text 13"/>
          <p:cNvSpPr/>
          <p:nvPr/>
        </p:nvSpPr>
        <p:spPr>
          <a:xfrm>
            <a:off x="6400800" y="2624328"/>
            <a:ext cx="2103120" cy="384048"/>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ONNX Runtime</a:t>
            </a:r>
            <a:endParaRPr lang="en-US" sz="1200" dirty="0"/>
          </a:p>
        </p:txBody>
      </p:sp>
      <p:sp>
        <p:nvSpPr>
          <p:cNvPr id="16" name="Text 14"/>
          <p:cNvSpPr/>
          <p:nvPr/>
        </p:nvSpPr>
        <p:spPr>
          <a:xfrm>
            <a:off x="8503920" y="2624328"/>
            <a:ext cx="3017520" cy="384048"/>
          </a:xfrm>
          <a:prstGeom prst="rect">
            <a:avLst/>
          </a:prstGeom>
          <a:noFill/>
          <a:ln/>
        </p:spPr>
        <p:txBody>
          <a:bodyPr wrap="square" lIns="0" tIns="0" rIns="0" bIns="0" rtlCol="0" anchor="ctr"/>
          <a:lstStyle/>
          <a:p>
            <a:pPr indent="0" marL="0">
              <a:buNone/>
            </a:pPr>
            <a:r>
              <a:rPr lang="en-US" sz="1100" dirty="0">
                <a:solidFill>
                  <a:srgbClr val="33475B"/>
                </a:solidFill>
                <a:latin typeface="Consolas" pitchFamily="34" charset="0"/>
                <a:ea typeface="Consolas" pitchFamily="34" charset="-122"/>
                <a:cs typeface="Consolas" pitchFamily="34" charset="-120"/>
              </a:rPr>
              <a:t>per-sample 1e-3, config.txt</a:t>
            </a:r>
            <a:endParaRPr lang="en-US" sz="1100" dirty="0"/>
          </a:p>
        </p:txBody>
      </p:sp>
      <p:sp>
        <p:nvSpPr>
          <p:cNvPr id="17" name="Shape 15"/>
          <p:cNvSpPr/>
          <p:nvPr/>
        </p:nvSpPr>
        <p:spPr>
          <a:xfrm>
            <a:off x="6263640" y="3008376"/>
            <a:ext cx="5349240" cy="384048"/>
          </a:xfrm>
          <a:prstGeom prst="rect">
            <a:avLst/>
          </a:prstGeom>
          <a:solidFill>
            <a:srgbClr val="F2F6F8"/>
          </a:solidFill>
          <a:ln w="9525">
            <a:solidFill>
              <a:srgbClr val="DBE6EA"/>
            </a:solidFill>
            <a:prstDash val="solid"/>
          </a:ln>
        </p:spPr>
      </p:sp>
      <p:sp>
        <p:nvSpPr>
          <p:cNvPr id="18" name="Text 16"/>
          <p:cNvSpPr/>
          <p:nvPr/>
        </p:nvSpPr>
        <p:spPr>
          <a:xfrm>
            <a:off x="6400800" y="3008376"/>
            <a:ext cx="2103120" cy="384048"/>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PyTorch</a:t>
            </a:r>
            <a:endParaRPr lang="en-US" sz="1200" dirty="0"/>
          </a:p>
        </p:txBody>
      </p:sp>
      <p:sp>
        <p:nvSpPr>
          <p:cNvPr id="19" name="Text 17"/>
          <p:cNvSpPr/>
          <p:nvPr/>
        </p:nvSpPr>
        <p:spPr>
          <a:xfrm>
            <a:off x="8503920" y="3008376"/>
            <a:ext cx="3017520" cy="384048"/>
          </a:xfrm>
          <a:prstGeom prst="rect">
            <a:avLst/>
          </a:prstGeom>
          <a:noFill/>
          <a:ln/>
        </p:spPr>
        <p:txBody>
          <a:bodyPr wrap="square" lIns="0" tIns="0" rIns="0" bIns="0" rtlCol="0" anchor="ctr"/>
          <a:lstStyle/>
          <a:p>
            <a:pPr indent="0" marL="0">
              <a:buNone/>
            </a:pPr>
            <a:r>
              <a:rPr lang="en-US" sz="1100" dirty="0">
                <a:solidFill>
                  <a:srgbClr val="33475B"/>
                </a:solidFill>
                <a:latin typeface="Consolas" pitchFamily="34" charset="0"/>
                <a:ea typeface="Consolas" pitchFamily="34" charset="-122"/>
                <a:cs typeface="Consolas" pitchFamily="34" charset="-120"/>
              </a:rPr>
              <a:t>dtype-dependent defaults</a:t>
            </a:r>
            <a:endParaRPr lang="en-US" sz="1100" dirty="0"/>
          </a:p>
        </p:txBody>
      </p:sp>
      <p:sp>
        <p:nvSpPr>
          <p:cNvPr id="20" name="Shape 18"/>
          <p:cNvSpPr/>
          <p:nvPr/>
        </p:nvSpPr>
        <p:spPr>
          <a:xfrm>
            <a:off x="6263640" y="3392424"/>
            <a:ext cx="5349240" cy="384048"/>
          </a:xfrm>
          <a:prstGeom prst="rect">
            <a:avLst/>
          </a:prstGeom>
          <a:solidFill>
            <a:srgbClr val="FFFFFF"/>
          </a:solidFill>
          <a:ln w="9525">
            <a:solidFill>
              <a:srgbClr val="DBE6EA"/>
            </a:solidFill>
            <a:prstDash val="solid"/>
          </a:ln>
        </p:spPr>
      </p:sp>
      <p:sp>
        <p:nvSpPr>
          <p:cNvPr id="21" name="Text 19"/>
          <p:cNvSpPr/>
          <p:nvPr/>
        </p:nvSpPr>
        <p:spPr>
          <a:xfrm>
            <a:off x="6400800" y="3392424"/>
            <a:ext cx="2103120" cy="384048"/>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NumPy / JAX</a:t>
            </a:r>
            <a:endParaRPr lang="en-US" sz="1200" dirty="0"/>
          </a:p>
        </p:txBody>
      </p:sp>
      <p:sp>
        <p:nvSpPr>
          <p:cNvPr id="22" name="Text 20"/>
          <p:cNvSpPr/>
          <p:nvPr/>
        </p:nvSpPr>
        <p:spPr>
          <a:xfrm>
            <a:off x="8503920" y="3392424"/>
            <a:ext cx="3017520" cy="384048"/>
          </a:xfrm>
          <a:prstGeom prst="rect">
            <a:avLst/>
          </a:prstGeom>
          <a:noFill/>
          <a:ln/>
        </p:spPr>
        <p:txBody>
          <a:bodyPr wrap="square" lIns="0" tIns="0" rIns="0" bIns="0" rtlCol="0" anchor="ctr"/>
          <a:lstStyle/>
          <a:p>
            <a:pPr indent="0" marL="0">
              <a:buNone/>
            </a:pPr>
            <a:r>
              <a:rPr lang="en-US" sz="1100" dirty="0">
                <a:solidFill>
                  <a:srgbClr val="33475B"/>
                </a:solidFill>
                <a:latin typeface="Consolas" pitchFamily="34" charset="0"/>
                <a:ea typeface="Consolas" pitchFamily="34" charset="-122"/>
                <a:cs typeface="Consolas" pitchFamily="34" charset="-120"/>
              </a:rPr>
              <a:t>atol + rtol·|expected|</a:t>
            </a:r>
            <a:endParaRPr lang="en-US" sz="1100" dirty="0"/>
          </a:p>
        </p:txBody>
      </p:sp>
      <p:sp>
        <p:nvSpPr>
          <p:cNvPr id="23" name="Shape 21"/>
          <p:cNvSpPr/>
          <p:nvPr/>
        </p:nvSpPr>
        <p:spPr>
          <a:xfrm>
            <a:off x="6263640" y="3776472"/>
            <a:ext cx="5349240" cy="384048"/>
          </a:xfrm>
          <a:prstGeom prst="rect">
            <a:avLst/>
          </a:prstGeom>
          <a:solidFill>
            <a:srgbClr val="F2F6F8"/>
          </a:solidFill>
          <a:ln w="9525">
            <a:solidFill>
              <a:srgbClr val="DBE6EA"/>
            </a:solidFill>
            <a:prstDash val="solid"/>
          </a:ln>
        </p:spPr>
      </p:sp>
      <p:sp>
        <p:nvSpPr>
          <p:cNvPr id="24" name="Text 22"/>
          <p:cNvSpPr/>
          <p:nvPr/>
        </p:nvSpPr>
        <p:spPr>
          <a:xfrm>
            <a:off x="6400800" y="3776472"/>
            <a:ext cx="2103120" cy="384048"/>
          </a:xfrm>
          <a:prstGeom prst="rect">
            <a:avLst/>
          </a:prstGeom>
          <a:noFill/>
          <a:ln/>
        </p:spPr>
        <p:txBody>
          <a:bodyPr wrap="square" lIns="0" tIns="0" rIns="0" bIns="0" rtlCol="0" anchor="ctr"/>
          <a:lstStyle/>
          <a:p>
            <a:pPr indent="0" marL="0">
              <a:buNone/>
            </a:pPr>
            <a:r>
              <a:rPr lang="en-US" sz="1200" b="1" dirty="0">
                <a:solidFill>
                  <a:srgbClr val="0E2A47"/>
                </a:solidFill>
                <a:latin typeface="Calibri" pitchFamily="34" charset="0"/>
                <a:ea typeface="Calibri" pitchFamily="34" charset="-122"/>
                <a:cs typeface="Calibri" pitchFamily="34" charset="-120"/>
              </a:rPr>
              <a:t>Polygraphy</a:t>
            </a:r>
            <a:endParaRPr lang="en-US" sz="1200" dirty="0"/>
          </a:p>
        </p:txBody>
      </p:sp>
      <p:sp>
        <p:nvSpPr>
          <p:cNvPr id="25" name="Text 23"/>
          <p:cNvSpPr/>
          <p:nvPr/>
        </p:nvSpPr>
        <p:spPr>
          <a:xfrm>
            <a:off x="8503920" y="3776472"/>
            <a:ext cx="3017520" cy="384048"/>
          </a:xfrm>
          <a:prstGeom prst="rect">
            <a:avLst/>
          </a:prstGeom>
          <a:noFill/>
          <a:ln/>
        </p:spPr>
        <p:txBody>
          <a:bodyPr wrap="square" lIns="0" tIns="0" rIns="0" bIns="0" rtlCol="0" anchor="ctr"/>
          <a:lstStyle/>
          <a:p>
            <a:pPr indent="0" marL="0">
              <a:buNone/>
            </a:pPr>
            <a:r>
              <a:rPr lang="en-US" sz="1100" dirty="0">
                <a:solidFill>
                  <a:srgbClr val="33475B"/>
                </a:solidFill>
                <a:latin typeface="Consolas" pitchFamily="34" charset="0"/>
                <a:ea typeface="Consolas" pitchFamily="34" charset="-122"/>
                <a:cs typeface="Consolas" pitchFamily="34" charset="-120"/>
              </a:rPr>
              <a:t>per-output; FP32 too strict for FP16</a:t>
            </a:r>
            <a:endParaRPr lang="en-US" sz="1100" dirty="0"/>
          </a:p>
        </p:txBody>
      </p:sp>
      <p:sp>
        <p:nvSpPr>
          <p:cNvPr id="26" name="Shape 24"/>
          <p:cNvSpPr/>
          <p:nvPr/>
        </p:nvSpPr>
        <p:spPr>
          <a:xfrm>
            <a:off x="548640" y="4343400"/>
            <a:ext cx="5486400" cy="1783080"/>
          </a:xfrm>
          <a:prstGeom prst="roundRect">
            <a:avLst>
              <a:gd name="adj" fmla="val 4103"/>
            </a:avLst>
          </a:prstGeom>
          <a:solidFill>
            <a:srgbClr val="EAF5F3"/>
          </a:solidFill>
          <a:ln w="12700">
            <a:solidFill>
              <a:srgbClr val="C9E5E1"/>
            </a:solidFill>
            <a:prstDash val="solid"/>
          </a:ln>
        </p:spPr>
      </p:sp>
      <p:sp>
        <p:nvSpPr>
          <p:cNvPr id="27" name="Text 25"/>
          <p:cNvSpPr/>
          <p:nvPr/>
        </p:nvSpPr>
        <p:spPr>
          <a:xfrm>
            <a:off x="777240" y="4462272"/>
            <a:ext cx="5029200" cy="365760"/>
          </a:xfrm>
          <a:prstGeom prst="rect">
            <a:avLst/>
          </a:prstGeom>
          <a:noFill/>
          <a:ln/>
        </p:spPr>
        <p:txBody>
          <a:bodyPr wrap="square" lIns="0" tIns="0" rIns="0" bIns="0" rtlCol="0" anchor="ctr"/>
          <a:lstStyle/>
          <a:p>
            <a:pPr indent="0" marL="0">
              <a:buNone/>
            </a:pPr>
            <a:r>
              <a:rPr lang="en-US" sz="1400" b="1" dirty="0">
                <a:solidFill>
                  <a:srgbClr val="0E7C77"/>
                </a:solidFill>
                <a:latin typeface="Calibri" pitchFamily="34" charset="0"/>
                <a:ea typeface="Calibri" pitchFamily="34" charset="-122"/>
                <a:cs typeface="Calibri" pitchFamily="34" charset="-120"/>
              </a:rPr>
              <a:t>emx-onnx-cgen: ULP-based, dtype-aware</a:t>
            </a:r>
            <a:endParaRPr lang="en-US" sz="1400" dirty="0"/>
          </a:p>
        </p:txBody>
      </p:sp>
      <p:sp>
        <p:nvSpPr>
          <p:cNvPr id="28" name="Text 26"/>
          <p:cNvSpPr/>
          <p:nvPr/>
        </p:nvSpPr>
        <p:spPr>
          <a:xfrm>
            <a:off x="777240" y="4864608"/>
            <a:ext cx="5074920" cy="1188720"/>
          </a:xfrm>
          <a:prstGeom prst="rect">
            <a:avLst/>
          </a:prstGeom>
          <a:noFill/>
          <a:ln/>
        </p:spPr>
        <p:txBody>
          <a:bodyPr wrap="square" lIns="0" tIns="0" rIns="0" bIns="0" rtlCol="0" anchor="t"/>
          <a:lstStyle/>
          <a:p>
            <a:pPr indent="0" marL="0">
              <a:lnSpc>
                <a:spcPct val="115000"/>
              </a:lnSpc>
              <a:buNone/>
            </a:pPr>
            <a:r>
              <a:rPr lang="en-US" sz="1200" dirty="0">
                <a:solidFill>
                  <a:srgbClr val="33475B"/>
                </a:solidFill>
                <a:latin typeface="Calibri" pitchFamily="34" charset="0"/>
                <a:ea typeface="Calibri" pitchFamily="34" charset="-122"/>
                <a:cs typeface="Calibri" pitchFamily="34" charset="-120"/>
              </a:rPr>
              <a:t>Ignore abs diffs up to </a:t>
            </a:r>
            <a:pPr indent="0" marL="0">
              <a:lnSpc>
                <a:spcPct val="115000"/>
              </a:lnSpc>
              <a:buNone/>
            </a:pPr>
            <a:r>
              <a:rPr lang="en-US" sz="1200" dirty="0">
                <a:solidFill>
                  <a:srgbClr val="0E2A47"/>
                </a:solidFill>
                <a:latin typeface="Consolas" pitchFamily="34" charset="0"/>
                <a:ea typeface="Consolas" pitchFamily="34" charset="-122"/>
                <a:cs typeface="Consolas" pitchFamily="34" charset="-120"/>
              </a:rPr>
              <a:t>atol_eps · eps(dtype)</a:t>
            </a:r>
            <a:endParaRPr lang="en-US" sz="1200" dirty="0"/>
          </a:p>
          <a:p>
            <a:pPr indent="0" marL="0">
              <a:lnSpc>
                <a:spcPct val="115000"/>
              </a:lnSpc>
              <a:buNone/>
            </a:pPr>
            <a:r>
              <a:rPr lang="en-US" sz="1200" dirty="0">
                <a:solidFill>
                  <a:srgbClr val="33475B"/>
                </a:solidFill>
                <a:latin typeface="Calibri" pitchFamily="34" charset="0"/>
                <a:ea typeface="Calibri" pitchFamily="34" charset="-122"/>
                <a:cs typeface="Calibri" pitchFamily="34" charset="-120"/>
              </a:rPr>
              <a:t>Then measure </a:t>
            </a:r>
            <a:pPr indent="0" marL="0">
              <a:lnSpc>
                <a:spcPct val="115000"/>
              </a:lnSpc>
              <a:buNone/>
            </a:pPr>
            <a:r>
              <a:rPr lang="en-US" sz="1200" dirty="0">
                <a:solidFill>
                  <a:srgbClr val="0E2A47"/>
                </a:solidFill>
                <a:latin typeface="Consolas" pitchFamily="34" charset="0"/>
                <a:ea typeface="Consolas" pitchFamily="34" charset="-122"/>
                <a:cs typeface="Consolas" pitchFamily="34" charset="-120"/>
              </a:rPr>
              <a:t>ULP distance</a:t>
            </a:r>
            <a:pPr indent="0" marL="0">
              <a:lnSpc>
                <a:spcPct val="115000"/>
              </a:lnSpc>
              <a:buNone/>
            </a:pPr>
            <a:r>
              <a:rPr lang="en-US" sz="1200" dirty="0">
                <a:solidFill>
                  <a:srgbClr val="33475B"/>
                </a:solidFill>
                <a:latin typeface="Calibri" pitchFamily="34" charset="0"/>
                <a:ea typeface="Calibri" pitchFamily="34" charset="-122"/>
                <a:cs typeface="Calibri" pitchFamily="34" charset="-120"/>
              </a:rPr>
              <a:t>; non-float must match exactly</a:t>
            </a:r>
            <a:endParaRPr lang="en-US" sz="1200" dirty="0"/>
          </a:p>
          <a:p>
            <a:pPr indent="0" marL="0">
              <a:lnSpc>
                <a:spcPct val="115000"/>
              </a:lnSpc>
              <a:buNone/>
            </a:pPr>
            <a:r>
              <a:rPr lang="en-US" sz="1200" dirty="0">
                <a:solidFill>
                  <a:srgbClr val="33475B"/>
                </a:solidFill>
                <a:latin typeface="Calibri" pitchFamily="34" charset="0"/>
                <a:ea typeface="Calibri" pitchFamily="34" charset="-122"/>
                <a:cs typeface="Calibri" pitchFamily="34" charset="-120"/>
              </a:rPr>
              <a:t>CLI: </a:t>
            </a:r>
            <a:pPr indent="0" marL="0">
              <a:lnSpc>
                <a:spcPct val="115000"/>
              </a:lnSpc>
              <a:buNone/>
            </a:pPr>
            <a:r>
              <a:rPr lang="en-US" sz="1200" dirty="0">
                <a:solidFill>
                  <a:srgbClr val="0E2A47"/>
                </a:solidFill>
                <a:latin typeface="Consolas" pitchFamily="34" charset="0"/>
                <a:ea typeface="Consolas" pitchFamily="34" charset="-122"/>
                <a:cs typeface="Consolas" pitchFamily="34" charset="-120"/>
              </a:rPr>
              <a:t>--atol-eps  --max-ulp  --fp32-accumulation-strategy fp64</a:t>
            </a:r>
            <a:endParaRPr lang="en-US" sz="1200" dirty="0"/>
          </a:p>
        </p:txBody>
      </p:sp>
      <p:sp>
        <p:nvSpPr>
          <p:cNvPr id="29" name="Shape 27"/>
          <p:cNvSpPr/>
          <p:nvPr/>
        </p:nvSpPr>
        <p:spPr>
          <a:xfrm>
            <a:off x="6263640" y="4343400"/>
            <a:ext cx="5349240" cy="1783080"/>
          </a:xfrm>
          <a:prstGeom prst="roundRect">
            <a:avLst>
              <a:gd name="adj" fmla="val 4103"/>
            </a:avLst>
          </a:prstGeom>
          <a:solidFill>
            <a:srgbClr val="0E2A47"/>
          </a:solidFill>
          <a:ln/>
        </p:spPr>
      </p:sp>
      <p:sp>
        <p:nvSpPr>
          <p:cNvPr id="30" name="Text 28"/>
          <p:cNvSpPr/>
          <p:nvPr/>
        </p:nvSpPr>
        <p:spPr>
          <a:xfrm>
            <a:off x="6492240" y="4462272"/>
            <a:ext cx="4937760" cy="365760"/>
          </a:xfrm>
          <a:prstGeom prst="rect">
            <a:avLst/>
          </a:prstGeom>
          <a:noFill/>
          <a:ln/>
        </p:spPr>
        <p:txBody>
          <a:bodyPr wrap="square" lIns="0" tIns="0" rIns="0" bIns="0" rtlCol="0" anchor="ctr"/>
          <a:lstStyle/>
          <a:p>
            <a:pPr indent="0" marL="0">
              <a:buNone/>
            </a:pPr>
            <a:r>
              <a:rPr lang="en-US" sz="1400" b="1" dirty="0">
                <a:solidFill>
                  <a:srgbClr val="E8A13A"/>
                </a:solidFill>
                <a:latin typeface="Calibri" pitchFamily="34" charset="0"/>
                <a:ea typeface="Calibri" pitchFamily="34" charset="-122"/>
                <a:cs typeface="Calibri" pitchFamily="34" charset="-120"/>
              </a:rPr>
              <a:t>Why ULP, not fixed rtol/atol</a:t>
            </a:r>
            <a:endParaRPr lang="en-US" sz="1400" dirty="0"/>
          </a:p>
        </p:txBody>
      </p:sp>
      <p:sp>
        <p:nvSpPr>
          <p:cNvPr id="31" name="Text 29"/>
          <p:cNvSpPr/>
          <p:nvPr/>
        </p:nvSpPr>
        <p:spPr>
          <a:xfrm>
            <a:off x="6492240" y="4864608"/>
            <a:ext cx="4937760" cy="1188720"/>
          </a:xfrm>
          <a:prstGeom prst="rect">
            <a:avLst/>
          </a:prstGeom>
          <a:noFill/>
          <a:ln/>
        </p:spPr>
        <p:txBody>
          <a:bodyPr wrap="square" lIns="0" tIns="0" rIns="0" bIns="0" rtlCol="0" anchor="t"/>
          <a:lstStyle/>
          <a:p>
            <a:pPr indent="0" marL="0">
              <a:buNone/>
            </a:pPr>
            <a:r>
              <a:rPr lang="en-US" sz="1200" dirty="0">
                <a:solidFill>
                  <a:srgbClr val="CFE0EC"/>
                </a:solidFill>
                <a:latin typeface="Calibri" pitchFamily="34" charset="0"/>
                <a:ea typeface="Calibri" pitchFamily="34" charset="-122"/>
                <a:cs typeface="Calibri" pitchFamily="34" charset="-120"/>
              </a:rPr>
              <a:t>float16, float32, float64 have very different spacing between representable values. ULP asks the real question: how many representable values apart are the results? Some reference outputs are high-precision, so a few official tests need fp64 accumulation.</a:t>
            </a:r>
            <a:endParaRPr lang="en-US" sz="1200" dirty="0"/>
          </a:p>
        </p:txBody>
      </p:sp>
      <p:sp>
        <p:nvSpPr>
          <p:cNvPr id="32" name="Text 3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33" name="Text 31"/>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0E7C77"/>
                </a:solidFill>
                <a:latin typeface="Calibri" pitchFamily="34" charset="0"/>
                <a:ea typeface="Calibri" pitchFamily="34" charset="-122"/>
                <a:cs typeface="Calibri" pitchFamily="34" charset="-120"/>
              </a:rPr>
              <a:t>STATUS</a:t>
            </a:r>
            <a:endParaRPr lang="en-US" sz="1200" dirty="0"/>
          </a:p>
        </p:txBody>
      </p:sp>
      <p:sp>
        <p:nvSpPr>
          <p:cNvPr id="4" name="Text 2"/>
          <p:cNvSpPr/>
          <p:nvPr/>
        </p:nvSpPr>
        <p:spPr>
          <a:xfrm>
            <a:off x="548640" y="868680"/>
            <a:ext cx="11064240" cy="86868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Where it stands today</a:t>
            </a:r>
            <a:endParaRPr lang="en-US" sz="3000" dirty="0"/>
          </a:p>
        </p:txBody>
      </p:sp>
      <p:sp>
        <p:nvSpPr>
          <p:cNvPr id="5" name="Shape 3"/>
          <p:cNvSpPr/>
          <p:nvPr/>
        </p:nvSpPr>
        <p:spPr>
          <a:xfrm>
            <a:off x="548640" y="192024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6" name="Text 4"/>
          <p:cNvSpPr/>
          <p:nvPr/>
        </p:nvSpPr>
        <p:spPr>
          <a:xfrm>
            <a:off x="777240" y="210312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Opset 26</a:t>
            </a:r>
            <a:endParaRPr lang="en-US" sz="3800" dirty="0"/>
          </a:p>
        </p:txBody>
      </p:sp>
      <p:sp>
        <p:nvSpPr>
          <p:cNvPr id="7" name="Text 5"/>
          <p:cNvSpPr/>
          <p:nvPr/>
        </p:nvSpPr>
        <p:spPr>
          <a:xfrm>
            <a:off x="777240" y="283464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ONNX 1.21.0 target</a:t>
            </a:r>
            <a:endParaRPr lang="en-US" sz="1300" dirty="0"/>
          </a:p>
        </p:txBody>
      </p:sp>
      <p:sp>
        <p:nvSpPr>
          <p:cNvPr id="8" name="Shape 6"/>
          <p:cNvSpPr/>
          <p:nvPr/>
        </p:nvSpPr>
        <p:spPr>
          <a:xfrm>
            <a:off x="4416552" y="192024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9" name="Text 7"/>
          <p:cNvSpPr/>
          <p:nvPr/>
        </p:nvSpPr>
        <p:spPr>
          <a:xfrm>
            <a:off x="4645152" y="210312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ORT 1.26</a:t>
            </a:r>
            <a:endParaRPr lang="en-US" sz="3800" dirty="0"/>
          </a:p>
        </p:txBody>
      </p:sp>
      <p:sp>
        <p:nvSpPr>
          <p:cNvPr id="10" name="Text 8"/>
          <p:cNvSpPr/>
          <p:nvPr/>
        </p:nvSpPr>
        <p:spPr>
          <a:xfrm>
            <a:off x="4645152" y="283464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broad Microsoft operator support</a:t>
            </a:r>
            <a:endParaRPr lang="en-US" sz="1300" dirty="0"/>
          </a:p>
        </p:txBody>
      </p:sp>
      <p:sp>
        <p:nvSpPr>
          <p:cNvPr id="11" name="Shape 9"/>
          <p:cNvSpPr/>
          <p:nvPr/>
        </p:nvSpPr>
        <p:spPr>
          <a:xfrm>
            <a:off x="8284464" y="1920240"/>
            <a:ext cx="3611880" cy="1691640"/>
          </a:xfrm>
          <a:prstGeom prst="roundRect">
            <a:avLst>
              <a:gd name="adj" fmla="val 4324"/>
            </a:avLst>
          </a:prstGeom>
          <a:solidFill>
            <a:srgbClr val="0E2A47"/>
          </a:solidFill>
          <a:ln/>
          <a:effectLst>
            <a:outerShdw sx="100000" sy="100000" kx="0" ky="0" algn="bl" rotWithShape="0" blurRad="114300" dist="38100" dir="5400000">
              <a:srgbClr val="0A1F38">
                <a:alpha val="14000"/>
              </a:srgbClr>
            </a:outerShdw>
          </a:effectLst>
        </p:spPr>
      </p:sp>
      <p:sp>
        <p:nvSpPr>
          <p:cNvPr id="12" name="Text 10"/>
          <p:cNvSpPr/>
          <p:nvPr/>
        </p:nvSpPr>
        <p:spPr>
          <a:xfrm>
            <a:off x="8513064" y="2103120"/>
            <a:ext cx="3154680" cy="777240"/>
          </a:xfrm>
          <a:prstGeom prst="rect">
            <a:avLst/>
          </a:prstGeom>
          <a:noFill/>
          <a:ln/>
        </p:spPr>
        <p:txBody>
          <a:bodyPr wrap="square" lIns="0" tIns="0" rIns="0" bIns="0" rtlCol="0" anchor="ctr"/>
          <a:lstStyle/>
          <a:p>
            <a:pPr indent="0" marL="0">
              <a:buNone/>
            </a:pPr>
            <a:r>
              <a:rPr lang="en-US" sz="3800" b="1" dirty="0">
                <a:solidFill>
                  <a:srgbClr val="E8A13A"/>
                </a:solidFill>
                <a:latin typeface="Cambria" pitchFamily="34" charset="0"/>
                <a:ea typeface="Cambria" pitchFamily="34" charset="-122"/>
                <a:cs typeface="Cambria" pitchFamily="34" charset="-120"/>
              </a:rPr>
              <a:t>#2</a:t>
            </a:r>
            <a:endParaRPr lang="en-US" sz="3800" dirty="0"/>
          </a:p>
        </p:txBody>
      </p:sp>
      <p:sp>
        <p:nvSpPr>
          <p:cNvPr id="13" name="Text 11"/>
          <p:cNvSpPr/>
          <p:nvPr/>
        </p:nvSpPr>
        <p:spPr>
          <a:xfrm>
            <a:off x="8513064" y="2834640"/>
            <a:ext cx="3154680" cy="685800"/>
          </a:xfrm>
          <a:prstGeom prst="rect">
            <a:avLst/>
          </a:prstGeom>
          <a:noFill/>
          <a:ln/>
        </p:spPr>
        <p:txBody>
          <a:bodyPr wrap="square" lIns="0" tIns="0" rIns="0" bIns="0" rtlCol="0" anchor="t"/>
          <a:lstStyle/>
          <a:p>
            <a:pPr indent="0" marL="0">
              <a:buNone/>
            </a:pPr>
            <a:r>
              <a:rPr lang="en-US" sz="1300" dirty="0">
                <a:solidFill>
                  <a:srgbClr val="CFE0EC"/>
                </a:solidFill>
                <a:latin typeface="Calibri" pitchFamily="34" charset="0"/>
                <a:ea typeface="Calibri" pitchFamily="34" charset="-122"/>
                <a:cs typeface="Calibri" pitchFamily="34" charset="-120"/>
              </a:rPr>
              <a:t>after ONNX Reference on the</a:t>
            </a:r>
            <a:endParaRPr lang="en-US" sz="1300" dirty="0"/>
          </a:p>
          <a:p>
            <a:pPr indent="0" marL="0">
              <a:buNone/>
            </a:pPr>
            <a:r>
              <a:rPr lang="en-US" sz="1300" dirty="0">
                <a:solidFill>
                  <a:srgbClr val="CFE0EC"/>
                </a:solidFill>
                <a:latin typeface="Calibri" pitchFamily="34" charset="0"/>
                <a:ea typeface="Calibri" pitchFamily="34" charset="-122"/>
                <a:cs typeface="Calibri" pitchFamily="34" charset="-120"/>
              </a:rPr>
              <a:t>Backend Scoreboard (stable)</a:t>
            </a:r>
            <a:endParaRPr lang="en-US" sz="1300" dirty="0"/>
          </a:p>
        </p:txBody>
      </p:sp>
      <p:sp>
        <p:nvSpPr>
          <p:cNvPr id="14" name="Shape 12"/>
          <p:cNvSpPr/>
          <p:nvPr/>
        </p:nvSpPr>
        <p:spPr>
          <a:xfrm>
            <a:off x="548640" y="3886200"/>
            <a:ext cx="5486400" cy="2240280"/>
          </a:xfrm>
          <a:prstGeom prst="roundRect">
            <a:avLst>
              <a:gd name="adj" fmla="val 2857"/>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5" name="Text 13"/>
          <p:cNvSpPr/>
          <p:nvPr/>
        </p:nvSpPr>
        <p:spPr>
          <a:xfrm>
            <a:off x="804672" y="4087368"/>
            <a:ext cx="5029200" cy="365760"/>
          </a:xfrm>
          <a:prstGeom prst="rect">
            <a:avLst/>
          </a:prstGeom>
          <a:noFill/>
          <a:ln/>
        </p:spPr>
        <p:txBody>
          <a:bodyPr wrap="square" lIns="0" tIns="0" rIns="0" bIns="0" rtlCol="0" anchor="ctr"/>
          <a:lstStyle/>
          <a:p>
            <a:pPr indent="0" marL="0">
              <a:buNone/>
            </a:pPr>
            <a:r>
              <a:rPr lang="en-US" sz="1500" b="1" dirty="0">
                <a:solidFill>
                  <a:srgbClr val="0E7C77"/>
                </a:solidFill>
                <a:latin typeface="Calibri" pitchFamily="34" charset="0"/>
                <a:ea typeface="Calibri" pitchFamily="34" charset="-122"/>
                <a:cs typeface="Calibri" pitchFamily="34" charset="-120"/>
              </a:rPr>
              <a:t>Coverage is reported, reproducible, visible</a:t>
            </a:r>
            <a:endParaRPr lang="en-US" sz="1500" dirty="0"/>
          </a:p>
        </p:txBody>
      </p:sp>
      <p:sp>
        <p:nvSpPr>
          <p:cNvPr id="16" name="Text 14"/>
          <p:cNvSpPr/>
          <p:nvPr/>
        </p:nvSpPr>
        <p:spPr>
          <a:xfrm>
            <a:off x="804672" y="4544568"/>
            <a:ext cx="5029200" cy="1399032"/>
          </a:xfrm>
          <a:prstGeom prst="rect">
            <a:avLst/>
          </a:prstGeom>
          <a:noFill/>
          <a:ln/>
        </p:spPr>
        <p:txBody>
          <a:bodyPr wrap="square" lIns="0" tIns="0" rIns="0" bIns="0" rtlCol="0" anchor="t"/>
          <a:lstStyle/>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SUPPORT_OPS.md — operator support status</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ONNX_SUPPORT.md — official backend model coverage</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ONNX_SUPPORT.md — ORT artifact corpus coverage</a:t>
            </a:r>
            <a:endParaRPr lang="en-US" sz="1250" dirty="0"/>
          </a:p>
          <a:p>
            <a:pPr algn="l" marL="177800" indent="-177800">
              <a:spcAft>
                <a:spcPts val="500"/>
              </a:spcAft>
              <a:buSzPct val="100000"/>
              <a:buChar char="•"/>
            </a:pPr>
            <a:r>
              <a:rPr lang="en-US" sz="1250" dirty="0">
                <a:solidFill>
                  <a:srgbClr val="33475B"/>
                </a:solidFill>
                <a:latin typeface="Calibri" pitchFamily="34" charset="0"/>
                <a:ea typeface="Calibri" pitchFamily="34" charset="-122"/>
                <a:cs typeface="Calibri" pitchFamily="34" charset="-120"/>
              </a:rPr>
              <a:t>Unsupported cases documented as expected errors</a:t>
            </a:r>
            <a:endParaRPr lang="en-US" sz="1250" dirty="0"/>
          </a:p>
        </p:txBody>
      </p:sp>
      <p:sp>
        <p:nvSpPr>
          <p:cNvPr id="17" name="Shape 15"/>
          <p:cNvSpPr/>
          <p:nvPr/>
        </p:nvSpPr>
        <p:spPr>
          <a:xfrm>
            <a:off x="6263640" y="3886200"/>
            <a:ext cx="5349240" cy="2240280"/>
          </a:xfrm>
          <a:prstGeom prst="roundRect">
            <a:avLst>
              <a:gd name="adj" fmla="val 3265"/>
            </a:avLst>
          </a:prstGeom>
          <a:solidFill>
            <a:srgbClr val="F2F6F8"/>
          </a:solidFill>
          <a:ln w="12700">
            <a:solidFill>
              <a:srgbClr val="DBE6EA"/>
            </a:solidFill>
            <a:prstDash val="solid"/>
          </a:ln>
          <a:effectLst>
            <a:outerShdw sx="100000" sy="100000" kx="0" ky="0" algn="bl" rotWithShape="0" blurRad="114300" dist="38100" dir="5400000">
              <a:srgbClr val="0A1F38">
                <a:alpha val="10000"/>
              </a:srgbClr>
            </a:outerShdw>
          </a:effectLst>
        </p:spPr>
      </p:sp>
      <p:sp>
        <p:nvSpPr>
          <p:cNvPr id="18" name="Text 16"/>
          <p:cNvSpPr/>
          <p:nvPr/>
        </p:nvSpPr>
        <p:spPr>
          <a:xfrm>
            <a:off x="6537960" y="4023360"/>
            <a:ext cx="4846320" cy="365760"/>
          </a:xfrm>
          <a:prstGeom prst="rect">
            <a:avLst/>
          </a:prstGeom>
          <a:noFill/>
          <a:ln/>
        </p:spPr>
        <p:txBody>
          <a:bodyPr wrap="square" lIns="0" tIns="0" rIns="0" bIns="0" rtlCol="0" anchor="ctr"/>
          <a:lstStyle/>
          <a:p>
            <a:pPr indent="0" marL="0">
              <a:buNone/>
            </a:pPr>
            <a:r>
              <a:rPr lang="en-US" sz="1500" b="1" dirty="0">
                <a:solidFill>
                  <a:srgbClr val="0E2A47"/>
                </a:solidFill>
                <a:latin typeface="Calibri" pitchFamily="34" charset="0"/>
                <a:ea typeface="Calibri" pitchFamily="34" charset="-122"/>
                <a:cs typeface="Calibri" pitchFamily="34" charset="-120"/>
              </a:rPr>
              <a:t>emx-ort-test-artifacts</a:t>
            </a:r>
            <a:endParaRPr lang="en-US" sz="1500" dirty="0"/>
          </a:p>
        </p:txBody>
      </p:sp>
      <p:sp>
        <p:nvSpPr>
          <p:cNvPr id="19" name="Text 17"/>
          <p:cNvSpPr/>
          <p:nvPr/>
        </p:nvSpPr>
        <p:spPr>
          <a:xfrm>
            <a:off x="6537960" y="4434840"/>
            <a:ext cx="4937760" cy="914400"/>
          </a:xfrm>
          <a:prstGeom prst="rect">
            <a:avLst/>
          </a:prstGeom>
          <a:noFill/>
          <a:ln/>
        </p:spPr>
        <p:txBody>
          <a:bodyPr wrap="square" lIns="0" tIns="0" rIns="0" bIns="0" rtlCol="0" anchor="t"/>
          <a:lstStyle/>
          <a:p>
            <a:pPr indent="0" marL="0">
              <a:buNone/>
            </a:pPr>
            <a:r>
              <a:rPr lang="en-US" sz="1200" dirty="0">
                <a:solidFill>
                  <a:srgbClr val="33475B"/>
                </a:solidFill>
                <a:latin typeface="Calibri" pitchFamily="34" charset="0"/>
                <a:ea typeface="Calibri" pitchFamily="34" charset="-122"/>
                <a:cs typeface="Calibri" pitchFamily="34" charset="-120"/>
              </a:rPr>
              <a:t>Exports ORT tests into backend-test-like artifacts (model.onnx + test_data_set_*), reusable outside the ORT C++ harness — a broader, runtime-oriented reality check beyond the compact official node tests.</a:t>
            </a:r>
            <a:endParaRPr lang="en-US" sz="1200" dirty="0"/>
          </a:p>
        </p:txBody>
      </p:sp>
      <p:sp>
        <p:nvSpPr>
          <p:cNvPr id="20" name="Text 18"/>
          <p:cNvSpPr/>
          <p:nvPr/>
        </p:nvSpPr>
        <p:spPr>
          <a:xfrm>
            <a:off x="6537960" y="5440680"/>
            <a:ext cx="4937760" cy="548640"/>
          </a:xfrm>
          <a:prstGeom prst="rect">
            <a:avLst/>
          </a:prstGeom>
          <a:noFill/>
          <a:ln/>
        </p:spPr>
        <p:txBody>
          <a:bodyPr wrap="square" lIns="0" tIns="0" rIns="0" bIns="0" rtlCol="0" anchor="t"/>
          <a:lstStyle/>
          <a:p>
            <a:pPr indent="0" marL="0">
              <a:buNone/>
            </a:pPr>
            <a:r>
              <a:rPr lang="en-US" sz="1050" dirty="0">
                <a:solidFill>
                  <a:srgbClr val="0E7C77"/>
                </a:solidFill>
                <a:latin typeface="Consolas" pitchFamily="34" charset="0"/>
                <a:ea typeface="Consolas" pitchFamily="34" charset="-122"/>
                <a:cs typeface="Consolas" pitchFamily="34" charset="-120"/>
              </a:rPr>
              <a:t>ORT test case → ONNX model + test_data_set_* → backend-runnable</a:t>
            </a:r>
            <a:endParaRPr lang="en-US" sz="1050" dirty="0"/>
          </a:p>
        </p:txBody>
      </p:sp>
      <p:sp>
        <p:nvSpPr>
          <p:cNvPr id="21" name="Text 19"/>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900" dirty="0">
                <a:solidFill>
                  <a:srgbClr val="6B7C8F"/>
                </a:solidFill>
                <a:latin typeface="Calibri" pitchFamily="34" charset="0"/>
                <a:ea typeface="Calibri" pitchFamily="34" charset="-122"/>
                <a:cs typeface="Calibri" pitchFamily="34" charset="-120"/>
              </a:rPr>
              <a:t>emx-onnx-cgen  ·  ONNX Community Day</a:t>
            </a:r>
            <a:endParaRPr lang="en-US" sz="900" dirty="0"/>
          </a:p>
        </p:txBody>
      </p:sp>
      <p:sp>
        <p:nvSpPr>
          <p:cNvPr id="22" name="Text 20"/>
          <p:cNvSpPr/>
          <p:nvPr/>
        </p:nvSpPr>
        <p:spPr>
          <a:xfrm>
            <a:off x="11185855" y="6446520"/>
            <a:ext cx="457200" cy="274320"/>
          </a:xfrm>
          <a:prstGeom prst="rect">
            <a:avLst/>
          </a:prstGeom>
          <a:noFill/>
          <a:ln/>
        </p:spPr>
        <p:txBody>
          <a:bodyPr wrap="square" lIns="0" tIns="0" rIns="0" bIns="0" rtlCol="0" anchor="ctr"/>
          <a:lstStyle/>
          <a:p>
            <a:pPr algn="r" indent="0" marL="0">
              <a:buNone/>
            </a:pPr>
            <a:r>
              <a:rPr lang="en-US" sz="900" dirty="0">
                <a:solidFill>
                  <a:srgbClr val="6B7C8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47"/>
        </a:solidFill>
      </p:bgPr>
    </p:bg>
    <p:spTree>
      <p:nvGrpSpPr>
        <p:cNvPr id="1" name=""/>
        <p:cNvGrpSpPr/>
        <p:nvPr/>
      </p:nvGrpSpPr>
      <p:grpSpPr>
        <a:xfrm>
          <a:off x="0" y="0"/>
          <a:ext cx="0" cy="0"/>
          <a:chOff x="0" y="0"/>
          <a:chExt cx="0" cy="0"/>
        </a:xfrm>
      </p:grpSpPr>
      <p:sp>
        <p:nvSpPr>
          <p:cNvPr id="2" name="Shape 0"/>
          <p:cNvSpPr/>
          <p:nvPr/>
        </p:nvSpPr>
        <p:spPr>
          <a:xfrm>
            <a:off x="548640" y="502920"/>
            <a:ext cx="201168" cy="201168"/>
          </a:xfrm>
          <a:prstGeom prst="roundRect">
            <a:avLst>
              <a:gd name="adj" fmla="val 22727"/>
            </a:avLst>
          </a:prstGeom>
          <a:solidFill>
            <a:srgbClr val="16A39A"/>
          </a:solidFill>
          <a:ln/>
        </p:spPr>
      </p:sp>
      <p:sp>
        <p:nvSpPr>
          <p:cNvPr id="3" name="Text 1"/>
          <p:cNvSpPr/>
          <p:nvPr/>
        </p:nvSpPr>
        <p:spPr>
          <a:xfrm>
            <a:off x="841248" y="457200"/>
            <a:ext cx="8229600" cy="301752"/>
          </a:xfrm>
          <a:prstGeom prst="rect">
            <a:avLst/>
          </a:prstGeom>
          <a:noFill/>
          <a:ln/>
        </p:spPr>
        <p:txBody>
          <a:bodyPr wrap="square" lIns="0" tIns="0" rIns="0" bIns="0" rtlCol="0" anchor="ctr"/>
          <a:lstStyle/>
          <a:p>
            <a:pPr indent="0" marL="0">
              <a:buNone/>
            </a:pPr>
            <a:r>
              <a:rPr lang="en-US" sz="1200" b="1" spc="200" kern="0" dirty="0">
                <a:solidFill>
                  <a:srgbClr val="16A39A"/>
                </a:solidFill>
                <a:latin typeface="Calibri" pitchFamily="34" charset="0"/>
                <a:ea typeface="Calibri" pitchFamily="34" charset="-122"/>
                <a:cs typeface="Calibri" pitchFamily="34" charset="-120"/>
              </a:rPr>
              <a:t>FOR THE ONNX COMMUNITY</a:t>
            </a:r>
            <a:endParaRPr lang="en-US" sz="1200" dirty="0"/>
          </a:p>
        </p:txBody>
      </p:sp>
      <p:sp>
        <p:nvSpPr>
          <p:cNvPr id="4" name="Text 2"/>
          <p:cNvSpPr/>
          <p:nvPr/>
        </p:nvSpPr>
        <p:spPr>
          <a:xfrm>
            <a:off x="548640" y="86868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Takeaways</a:t>
            </a:r>
            <a:endParaRPr lang="en-US" sz="3200" dirty="0"/>
          </a:p>
        </p:txBody>
      </p:sp>
      <p:sp>
        <p:nvSpPr>
          <p:cNvPr id="5" name="Shape 3"/>
          <p:cNvSpPr/>
          <p:nvPr/>
        </p:nvSpPr>
        <p:spPr>
          <a:xfrm>
            <a:off x="548640" y="1828800"/>
            <a:ext cx="3611880" cy="1417320"/>
          </a:xfrm>
          <a:prstGeom prst="roundRect">
            <a:avLst>
              <a:gd name="adj" fmla="val 5161"/>
            </a:avLst>
          </a:prstGeom>
          <a:solidFill>
            <a:srgbClr val="13355A"/>
          </a:solidFill>
          <a:ln w="12700">
            <a:solidFill>
              <a:srgbClr val="1E4A78"/>
            </a:solidFill>
            <a:prstDash val="solid"/>
          </a:ln>
        </p:spPr>
      </p:sp>
      <p:sp>
        <p:nvSpPr>
          <p:cNvPr id="6" name="Text 4"/>
          <p:cNvSpPr/>
          <p:nvPr/>
        </p:nvSpPr>
        <p:spPr>
          <a:xfrm>
            <a:off x="777240" y="199339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Boundedness</a:t>
            </a:r>
            <a:endParaRPr lang="en-US" sz="1500" dirty="0"/>
          </a:p>
        </p:txBody>
      </p:sp>
      <p:sp>
        <p:nvSpPr>
          <p:cNvPr id="7" name="Text 5"/>
          <p:cNvSpPr/>
          <p:nvPr/>
        </p:nvSpPr>
        <p:spPr>
          <a:xfrm>
            <a:off x="777240" y="237744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An AOT-friendly ONNX profile should state what must be bounded or static for deterministic codegen.</a:t>
            </a:r>
            <a:endParaRPr lang="en-US" sz="1150" dirty="0"/>
          </a:p>
        </p:txBody>
      </p:sp>
      <p:sp>
        <p:nvSpPr>
          <p:cNvPr id="8" name="Shape 6"/>
          <p:cNvSpPr/>
          <p:nvPr/>
        </p:nvSpPr>
        <p:spPr>
          <a:xfrm>
            <a:off x="4407408" y="1828800"/>
            <a:ext cx="3611880" cy="1417320"/>
          </a:xfrm>
          <a:prstGeom prst="roundRect">
            <a:avLst>
              <a:gd name="adj" fmla="val 5161"/>
            </a:avLst>
          </a:prstGeom>
          <a:solidFill>
            <a:srgbClr val="13355A"/>
          </a:solidFill>
          <a:ln w="12700">
            <a:solidFill>
              <a:srgbClr val="1E4A78"/>
            </a:solidFill>
            <a:prstDash val="solid"/>
          </a:ln>
        </p:spPr>
      </p:sp>
      <p:sp>
        <p:nvSpPr>
          <p:cNvPr id="9" name="Text 7"/>
          <p:cNvSpPr/>
          <p:nvPr/>
        </p:nvSpPr>
        <p:spPr>
          <a:xfrm>
            <a:off x="4636008" y="199339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Shared inference</a:t>
            </a:r>
            <a:endParaRPr lang="en-US" sz="1500" dirty="0"/>
          </a:p>
        </p:txBody>
      </p:sp>
      <p:sp>
        <p:nvSpPr>
          <p:cNvPr id="10" name="Text 8"/>
          <p:cNvSpPr/>
          <p:nvPr/>
        </p:nvSpPr>
        <p:spPr>
          <a:xfrm>
            <a:off x="4636008" y="237744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Reliable, reusable shape/type inference for dynamic models — extensible to external domains like ORT contrib.</a:t>
            </a:r>
            <a:endParaRPr lang="en-US" sz="1150" dirty="0"/>
          </a:p>
        </p:txBody>
      </p:sp>
      <p:sp>
        <p:nvSpPr>
          <p:cNvPr id="11" name="Shape 9"/>
          <p:cNvSpPr/>
          <p:nvPr/>
        </p:nvSpPr>
        <p:spPr>
          <a:xfrm>
            <a:off x="8266176" y="1828800"/>
            <a:ext cx="3611880" cy="1417320"/>
          </a:xfrm>
          <a:prstGeom prst="roundRect">
            <a:avLst>
              <a:gd name="adj" fmla="val 5161"/>
            </a:avLst>
          </a:prstGeom>
          <a:solidFill>
            <a:srgbClr val="13355A"/>
          </a:solidFill>
          <a:ln w="12700">
            <a:solidFill>
              <a:srgbClr val="1E4A78"/>
            </a:solidFill>
            <a:prstDash val="solid"/>
          </a:ln>
        </p:spPr>
      </p:sp>
      <p:sp>
        <p:nvSpPr>
          <p:cNvPr id="12" name="Text 10"/>
          <p:cNvSpPr/>
          <p:nvPr/>
        </p:nvSpPr>
        <p:spPr>
          <a:xfrm>
            <a:off x="8494776" y="199339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Persisted facts</a:t>
            </a:r>
            <a:endParaRPr lang="en-US" sz="1500" dirty="0"/>
          </a:p>
        </p:txBody>
      </p:sp>
      <p:sp>
        <p:nvSpPr>
          <p:cNvPr id="13" name="Text 11"/>
          <p:cNvSpPr/>
          <p:nvPr/>
        </p:nvSpPr>
        <p:spPr>
          <a:xfrm>
            <a:off x="8494776" y="237744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Inferred shapes/types should be storable in the model; a small DSL could drive C++ &amp; Python, numeric + symbolic.</a:t>
            </a:r>
            <a:endParaRPr lang="en-US" sz="1150" dirty="0"/>
          </a:p>
        </p:txBody>
      </p:sp>
      <p:sp>
        <p:nvSpPr>
          <p:cNvPr id="14" name="Shape 12"/>
          <p:cNvSpPr/>
          <p:nvPr/>
        </p:nvSpPr>
        <p:spPr>
          <a:xfrm>
            <a:off x="548640" y="3520440"/>
            <a:ext cx="3611880" cy="1417320"/>
          </a:xfrm>
          <a:prstGeom prst="roundRect">
            <a:avLst>
              <a:gd name="adj" fmla="val 5161"/>
            </a:avLst>
          </a:prstGeom>
          <a:solidFill>
            <a:srgbClr val="13355A"/>
          </a:solidFill>
          <a:ln w="12700">
            <a:solidFill>
              <a:srgbClr val="1E4A78"/>
            </a:solidFill>
            <a:prstDash val="solid"/>
          </a:ln>
        </p:spPr>
      </p:sp>
      <p:sp>
        <p:nvSpPr>
          <p:cNvPr id="15" name="Text 13"/>
          <p:cNvSpPr/>
          <p:nvPr/>
        </p:nvSpPr>
        <p:spPr>
          <a:xfrm>
            <a:off x="777240" y="368503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Accuracy contracts</a:t>
            </a:r>
            <a:endParaRPr lang="en-US" sz="1500" dirty="0"/>
          </a:p>
        </p:txBody>
      </p:sp>
      <p:sp>
        <p:nvSpPr>
          <p:cNvPr id="16" name="Text 14"/>
          <p:cNvSpPr/>
          <p:nvPr/>
        </p:nvSpPr>
        <p:spPr>
          <a:xfrm>
            <a:off x="777240" y="406908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Numerical accuracy requirements should be explicit in specs and official tests.</a:t>
            </a:r>
            <a:endParaRPr lang="en-US" sz="1150" dirty="0"/>
          </a:p>
        </p:txBody>
      </p:sp>
      <p:sp>
        <p:nvSpPr>
          <p:cNvPr id="17" name="Shape 15"/>
          <p:cNvSpPr/>
          <p:nvPr/>
        </p:nvSpPr>
        <p:spPr>
          <a:xfrm>
            <a:off x="4407408" y="3520440"/>
            <a:ext cx="3611880" cy="1417320"/>
          </a:xfrm>
          <a:prstGeom prst="roundRect">
            <a:avLst>
              <a:gd name="adj" fmla="val 5161"/>
            </a:avLst>
          </a:prstGeom>
          <a:solidFill>
            <a:srgbClr val="13355A"/>
          </a:solidFill>
          <a:ln w="12700">
            <a:solidFill>
              <a:srgbClr val="1E4A78"/>
            </a:solidFill>
            <a:prstDash val="solid"/>
          </a:ln>
        </p:spPr>
      </p:sp>
      <p:sp>
        <p:nvSpPr>
          <p:cNvPr id="18" name="Text 16"/>
          <p:cNvSpPr/>
          <p:nvPr/>
        </p:nvSpPr>
        <p:spPr>
          <a:xfrm>
            <a:off x="4636008" y="368503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Code quality</a:t>
            </a:r>
            <a:endParaRPr lang="en-US" sz="1500" dirty="0"/>
          </a:p>
        </p:txBody>
      </p:sp>
      <p:sp>
        <p:nvSpPr>
          <p:cNvPr id="19" name="Text 17"/>
          <p:cNvSpPr/>
          <p:nvPr/>
        </p:nvSpPr>
        <p:spPr>
          <a:xfrm>
            <a:off x="4636008" y="406908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Determinism, readability and auditability are backend features — not cosmetics.</a:t>
            </a:r>
            <a:endParaRPr lang="en-US" sz="1150" dirty="0"/>
          </a:p>
        </p:txBody>
      </p:sp>
      <p:sp>
        <p:nvSpPr>
          <p:cNvPr id="20" name="Shape 18"/>
          <p:cNvSpPr/>
          <p:nvPr/>
        </p:nvSpPr>
        <p:spPr>
          <a:xfrm>
            <a:off x="8266176" y="3520440"/>
            <a:ext cx="3611880" cy="1417320"/>
          </a:xfrm>
          <a:prstGeom prst="roundRect">
            <a:avLst>
              <a:gd name="adj" fmla="val 5161"/>
            </a:avLst>
          </a:prstGeom>
          <a:solidFill>
            <a:srgbClr val="13355A"/>
          </a:solidFill>
          <a:ln w="12700">
            <a:solidFill>
              <a:srgbClr val="1E4A78"/>
            </a:solidFill>
            <a:prstDash val="solid"/>
          </a:ln>
        </p:spPr>
      </p:sp>
      <p:sp>
        <p:nvSpPr>
          <p:cNvPr id="21" name="Text 19"/>
          <p:cNvSpPr/>
          <p:nvPr/>
        </p:nvSpPr>
        <p:spPr>
          <a:xfrm>
            <a:off x="8494776" y="3685032"/>
            <a:ext cx="3154680" cy="365760"/>
          </a:xfrm>
          <a:prstGeom prst="rect">
            <a:avLst/>
          </a:prstGeom>
          <a:noFill/>
          <a:ln/>
        </p:spPr>
        <p:txBody>
          <a:bodyPr wrap="square" lIns="0" tIns="0" rIns="0" bIns="0" rtlCol="0" anchor="ctr"/>
          <a:lstStyle/>
          <a:p>
            <a:pPr indent="0" marL="0">
              <a:buNone/>
            </a:pPr>
            <a:r>
              <a:rPr lang="en-US" sz="1500" b="1" dirty="0">
                <a:solidFill>
                  <a:srgbClr val="E8A13A"/>
                </a:solidFill>
                <a:latin typeface="Calibri" pitchFamily="34" charset="0"/>
                <a:ea typeface="Calibri" pitchFamily="34" charset="-122"/>
                <a:cs typeface="Calibri" pitchFamily="34" charset="-120"/>
              </a:rPr>
              <a:t>Portable test artifacts</a:t>
            </a:r>
            <a:endParaRPr lang="en-US" sz="1500" dirty="0"/>
          </a:p>
        </p:txBody>
      </p:sp>
      <p:sp>
        <p:nvSpPr>
          <p:cNvPr id="22" name="Text 20"/>
          <p:cNvSpPr/>
          <p:nvPr/>
        </p:nvSpPr>
        <p:spPr>
          <a:xfrm>
            <a:off x="8494776" y="4069080"/>
            <a:ext cx="3154680" cy="777240"/>
          </a:xfrm>
          <a:prstGeom prst="rect">
            <a:avLst/>
          </a:prstGeom>
          <a:noFill/>
          <a:ln/>
        </p:spPr>
        <p:txBody>
          <a:bodyPr wrap="square" lIns="0" tIns="0" rIns="0" bIns="0" rtlCol="0" anchor="t"/>
          <a:lstStyle/>
          <a:p>
            <a:pPr indent="0" marL="0">
              <a:buNone/>
            </a:pPr>
            <a:r>
              <a:rPr lang="en-US" sz="1150" dirty="0">
                <a:solidFill>
                  <a:srgbClr val="CFE0EC"/>
                </a:solidFill>
                <a:latin typeface="Calibri" pitchFamily="34" charset="0"/>
                <a:ea typeface="Calibri" pitchFamily="34" charset="-122"/>
                <a:cs typeface="Calibri" pitchFamily="34" charset="-120"/>
              </a:rPr>
              <a:t>ORT-exported, backend-test-like artifacts let any backend share a broader corpus.</a:t>
            </a:r>
            <a:endParaRPr lang="en-US" sz="1150" dirty="0"/>
          </a:p>
        </p:txBody>
      </p:sp>
      <p:sp>
        <p:nvSpPr>
          <p:cNvPr id="23" name="Text 21"/>
          <p:cNvSpPr/>
          <p:nvPr/>
        </p:nvSpPr>
        <p:spPr>
          <a:xfrm>
            <a:off x="548640" y="5989320"/>
            <a:ext cx="11064240" cy="457200"/>
          </a:xfrm>
          <a:prstGeom prst="rect">
            <a:avLst/>
          </a:prstGeom>
          <a:noFill/>
          <a:ln/>
        </p:spPr>
        <p:txBody>
          <a:bodyPr wrap="square" lIns="0" tIns="0" rIns="0" bIns="0" rtlCol="0" anchor="ctr"/>
          <a:lstStyle/>
          <a:p>
            <a:pPr indent="0" marL="0">
              <a:buNone/>
            </a:pPr>
            <a:r>
              <a:rPr lang="en-US" sz="1400" i="1" dirty="0">
                <a:solidFill>
                  <a:srgbClr val="9FC0D6"/>
                </a:solidFill>
                <a:latin typeface="Calibri" pitchFamily="34" charset="0"/>
                <a:ea typeface="Calibri" pitchFamily="34" charset="-122"/>
                <a:cs typeface="Calibri" pitchFamily="34" charset="-120"/>
              </a:rPr>
              <a:t>ONNX is excellent interchange — deterministic AOT compilation just needs a few constraints made explicit.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38"/>
        </a:solidFill>
      </p:bgPr>
    </p:bg>
    <p:spTree>
      <p:nvGrpSpPr>
        <p:cNvPr id="1" name=""/>
        <p:cNvGrpSpPr/>
        <p:nvPr/>
      </p:nvGrpSpPr>
      <p:grpSpPr>
        <a:xfrm>
          <a:off x="0" y="0"/>
          <a:ext cx="0" cy="0"/>
          <a:chOff x="0" y="0"/>
          <a:chExt cx="0" cy="0"/>
        </a:xfrm>
      </p:grpSpPr>
      <p:sp>
        <p:nvSpPr>
          <p:cNvPr id="2" name="Text 0"/>
          <p:cNvSpPr/>
          <p:nvPr/>
        </p:nvSpPr>
        <p:spPr>
          <a:xfrm>
            <a:off x="777240" y="685800"/>
            <a:ext cx="106070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Discussion</a:t>
            </a:r>
            <a:endParaRPr lang="en-US" sz="4400" dirty="0"/>
          </a:p>
        </p:txBody>
      </p:sp>
      <p:sp>
        <p:nvSpPr>
          <p:cNvPr id="3" name="Text 1"/>
          <p:cNvSpPr/>
          <p:nvPr/>
        </p:nvSpPr>
        <p:spPr>
          <a:xfrm>
            <a:off x="795528" y="1600200"/>
            <a:ext cx="10607040" cy="548640"/>
          </a:xfrm>
          <a:prstGeom prst="rect">
            <a:avLst/>
          </a:prstGeom>
          <a:noFill/>
          <a:ln/>
        </p:spPr>
        <p:txBody>
          <a:bodyPr wrap="square" lIns="0" tIns="0" rIns="0" bIns="0" rtlCol="0" anchor="ctr"/>
          <a:lstStyle/>
          <a:p>
            <a:pPr indent="0" marL="0">
              <a:buNone/>
            </a:pPr>
            <a:r>
              <a:rPr lang="en-US" sz="1800" dirty="0">
                <a:solidFill>
                  <a:srgbClr val="E8A13A"/>
                </a:solidFill>
                <a:latin typeface="Calibri" pitchFamily="34" charset="0"/>
                <a:ea typeface="Calibri" pitchFamily="34" charset="-122"/>
                <a:cs typeface="Calibri" pitchFamily="34" charset="-120"/>
              </a:rPr>
              <a:t>What would an AOT-friendly ONNX profile need to specify?</a:t>
            </a:r>
            <a:endParaRPr lang="en-US" sz="1800" dirty="0"/>
          </a:p>
        </p:txBody>
      </p:sp>
      <p:sp>
        <p:nvSpPr>
          <p:cNvPr id="4" name="Text 2"/>
          <p:cNvSpPr/>
          <p:nvPr/>
        </p:nvSpPr>
        <p:spPr>
          <a:xfrm>
            <a:off x="822960" y="2423160"/>
            <a:ext cx="10515600" cy="3108960"/>
          </a:xfrm>
          <a:prstGeom prst="rect">
            <a:avLst/>
          </a:prstGeom>
          <a:noFill/>
          <a:ln/>
        </p:spPr>
        <p:txBody>
          <a:bodyPr wrap="square" lIns="0" tIns="0" rIns="0" bIns="0" rtlCol="0" anchor="t"/>
          <a:lstStyle/>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Should ONNX have a stronger shared shape/type inference artifact for dynamic models?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How should external operator domains register inference rules?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Could custom operators carry portable shape/type rules inside ONNX?</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Which operators most need clearer numerical contracts?</a:t>
            </a:r>
            <a:endParaRPr lang="en-US" sz="1650" dirty="0"/>
          </a:p>
          <a:p>
            <a:pPr marL="279400" indent="-279400">
              <a:spcAft>
                <a:spcPts val="1300"/>
              </a:spcAft>
              <a:buSzPct val="100000"/>
              <a:buChar char="→"/>
            </a:pPr>
            <a:r>
              <a:rPr lang="en-US" sz="1650" dirty="0">
                <a:solidFill>
                  <a:srgbClr val="DCE8F0"/>
                </a:solidFill>
                <a:latin typeface="Calibri" pitchFamily="34" charset="0"/>
                <a:ea typeface="Calibri" pitchFamily="34" charset="-122"/>
                <a:cs typeface="Calibri" pitchFamily="34" charset="-120"/>
              </a:rPr>
              <a:t>How should scoreboards represent deterministic codegen &amp; generated-code quality?</a:t>
            </a:r>
            <a:endParaRPr lang="en-US" sz="1650" dirty="0"/>
          </a:p>
        </p:txBody>
      </p:sp>
      <p:sp>
        <p:nvSpPr>
          <p:cNvPr id="5" name="Shape 3"/>
          <p:cNvSpPr/>
          <p:nvPr/>
        </p:nvSpPr>
        <p:spPr>
          <a:xfrm>
            <a:off x="822960" y="5715000"/>
            <a:ext cx="3200400" cy="0"/>
          </a:xfrm>
          <a:prstGeom prst="line">
            <a:avLst/>
          </a:prstGeom>
          <a:noFill/>
          <a:ln w="25400">
            <a:solidFill>
              <a:srgbClr val="16A39A"/>
            </a:solidFill>
            <a:prstDash val="solid"/>
          </a:ln>
        </p:spPr>
      </p:sp>
      <p:sp>
        <p:nvSpPr>
          <p:cNvPr id="6" name="Text 4"/>
          <p:cNvSpPr/>
          <p:nvPr/>
        </p:nvSpPr>
        <p:spPr>
          <a:xfrm>
            <a:off x="822960" y="5897880"/>
            <a:ext cx="100584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Thank you  ·  emx-onnx-cgen is open source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Lessons learned from building an AOT ONNX-to-C compiler</dc:title>
  <dc:subject>PptxGenJS Presentation</dc:subject>
  <dc:creator>emmtrix Technologies</dc:creator>
  <cp:lastModifiedBy>emmtrix Technologies</cp:lastModifiedBy>
  <cp:revision>1</cp:revision>
  <dcterms:created xsi:type="dcterms:W3CDTF">2026-06-24T00:37:37Z</dcterms:created>
  <dcterms:modified xsi:type="dcterms:W3CDTF">2026-06-24T00:37:37Z</dcterms:modified>
</cp:coreProperties>
</file>