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deck: a superset of slides covering every theme in depth. Use it as a pool to assemble a 20-minute talk or a longer technical session. emx-onnx-cgen is an open-source ahead-of-time compiler that turns ONNX models into portable, deterministic C for deeply embedded, safety-critical and resource-constrained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of the deck. Each section starts with a dark divider slide. Sections are independent enough to cherry-pick.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practical history. This was not initially a 'build a complete ONNX compiler' project — the first driver was control over generated C. onnx2c demonstrated the value but generated-code quality and control were insufficient, and dynamic dimensions were the central irritation.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Apart from onnx2c there were few obvious solutions matching standalone, deterministic, auditable C output. TVM and IREE are relevant compiler stacks, but in our evaluation they did not provide the straightforward ONNX-to-generic-C flow we needed. MLIR is the right conceptual comparison for staged lowering, but it keeps the key IR inside the compiler rather than exposing auditable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VLA parameters are a representation technique for known rank with runtime extents. They keep the ABI explicit. But representation is not semantics: they do not bound memory, do not solve dynamic rank, and do not solve unbounded sequences or strings. This experiment justified building a new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flat and N-D arrays address the same contiguous memory, but in C the declared array type matters. With float x[N][C] the rank and inner extent are visible in the type; with float *x the structure exists only as an offset-calculation convention. Accessing beyond a declared array object is UB even if the next logical row is contiguous. Typed arrays help readability, review and downstream analysis like vectorization.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turning point. Once broad coverage became the goal, the project needed real architecture and testing discipline. Import, normalization, lowering and codegen needed clear boundaries; unsupported cases needed explicit, testable diagnostics; coverage reports became part of the daily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enough context before the lessons. AOT ONNX-to-C, portable and deterministic, for embedded targets, avoiding dynamic memory and external runtimes. The generated API is deliberately tiny: a load function and a model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artifacts can include the model .c, an optional _data.c for constants, an optional testbench, and an optional .bin for external weights. The code-generation principles come from the emmtrix design goals: canonical loops, linear accesses, no aliasing, no dispatch, no recursion, no heap, explicit dims/strides — all of which make the C friendly to auto-vectorization and safety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Tensor IO becomes C array parameters; dynamic dims become VLA extent arguments. Sequences become fixed-capacity arrays plus count metadata (a pointer for outputs). Strings become fixed char slots. Ragged sequences need explicit element-shape hints and per-item dimension arrays. Reduced-precision dtypes map unevenly — covered in detail in the dtype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emx-onnx-cgen is the AI frontend of the emmtrix flow. We use a disciplined subset of C plus conventions as an intermediate representation — close in spirit to MLIR staged lowering, but the visible artifact is C source, the bridge into embedded source-to-source optimization and safety-critical toolchains. That reframes generated-code quality from cosmetics to 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not just a number — it forced the system to be modular and deterministic. Small functions, clear pass contracts, explicit context objects, deterministic output for stable golden tests. The point: the coverage target produced better compiler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 outputs compared with ULP thresholds after an absolute epsilon; non-floating exactly. Compile/verify parity is the key invariant.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must not give the compiler information that normal compilation does not receive. If verify quietly fills codegen gaps from representative inputs, the test passes but the compiler contract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make exact percentages the point — the value is the engineering loop: broad corpus, deterministic verification, reproducible failures, visible progress. The corpus lives as emx-ort-test-artifacts-org/, tracked separately in ONNX_SUPPORT.md. Converting validation.json to ONNX backend data.json would make each artifact a native-looking backend test. The idea was raised in ORT forums with near-zero response — present as an underused community opportunity, not a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AOT lesson. ONNX's flexibility is valuable for interchange but becomes a problem for deterministic AOT unless constrained. The next three slides show how emx-onnx-cgen bounds dynamic dims, sequences and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dynamic dimension gives a runtime extent but no maximum, so static memory planning needs an extra assumption. VLAs represent the runtime extent in the ABI but do not bound temporaries or caller buffers.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sequence asks how many tensor objects exist and what shape each has. Runtimes treat it as a growable object; static C needs an explicit capacity contract. emx represents sequence IO as fixed-capacity arrays plus count metadata, default capacity 32, overridable. Ragged inputs need explicit element-shape hints and carry per-item dimension arrays; testbench JSON records item_shapes so verify compares true per-item shapes, not padded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Strings are the string-length twin of the sequence-length problem. emx uses fixed-size null-terminated char slots, default 256, overridable; testbench serialization truncates over-long strings so the result stays null-terminated. The trade-off: arbitrary string length is not represented without a bound, but layout stays static and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mismatch, not only a flaw: a flexible model format versus a static compiler input. The duplication problem is the community-facing gap — every serious backend reimplements inference and they can disagree. The next slide is the vision for fixing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as vision and research direction, not finished work. A rule written once, runnable from C++ and Python, numeric for concrete dims and symbolic (SymPy) for symbolic dims, would make custom operators tractable and could be stored inside ONNX models. Same spirit as the ORT-artifacts idea: make compiler knowledge portable as model artifacts rather than trapping it in one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Highly relevant to backend authors. Official tests rarely express a complete tolerance policy. A fixed rtol/atol is not equally meaningful across dtypes. The next slide compares how different frameworks handle this; then emx's ULP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briefly. The point is not the exact numbers but that every framework chooses its own defaults and dtype handling — backend authors would benefit from clearer numerical expectations in operator specs and official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emx does not use a classic fixed rtol/atol. It gates on an absolute epsilon scaled by eps(dtype), then measures ULP distance, reporting the max; non-float must match exactly. Because some reference outputs are effectively high precision, strict ULP forced fp64 accumulation on selected tests, exposed via --fp32-accumulation-strategy fp64 and used in several official-test expectation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numeric types map cleanly. float16 uses _Float16 where supported; bfloat16 relies on __bf16 extensions; 2/4-bit ints use C23 _BitInt(N) but arrays can waste memory versus packed storage; FP8/FP4 aren't standard C arithmetic types and are emulated with integer storage plus conversion helpers. FP8 is currently more about completeness than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embedded systems generated C has different requirements than a hidden runtime. Use the scoreboard placement as credibility, then pivot: 'can execute the unit tests' is only one dimension of backend quality. Determinism, readability, static planning and auditability matter for safety-adjacent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 coverage as report-based and corpus-based; don't make exact percentages the point. The real message: coverage became systematic, reproducible and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onnx.ai/backend-scoreboard. Mention the placement briefly as credibility, but don't make it the main claim — it measures backend unit-test execution, not auditability or deterministic AOT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constructively. AOT-friendly ONNX usage needs explicit bounds; reusable, extensible, persistable inference; explicit accuracy requirements; and recognition that generated-code quality is a backend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Lead with the profile question, then let the room pick threads: shared inference artifact, domain registration, portable custom-op rules, numerical contracts, and how scoreboards could reflect deterministic, auditable code generation rather than only unit-test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777240" y="868680"/>
            <a:ext cx="256032" cy="256032"/>
          </a:xfrm>
          <a:prstGeom prst="roundRect">
            <a:avLst>
              <a:gd name="adj" fmla="val 21429"/>
            </a:avLst>
          </a:prstGeom>
          <a:solidFill>
            <a:srgbClr val="16A39A"/>
          </a:solidFill>
          <a:ln/>
        </p:spPr>
      </p:sp>
      <p:sp>
        <p:nvSpPr>
          <p:cNvPr id="3" name="Text 1"/>
          <p:cNvSpPr/>
          <p:nvPr/>
        </p:nvSpPr>
        <p:spPr>
          <a:xfrm>
            <a:off x="1143000" y="822960"/>
            <a:ext cx="9144000" cy="365760"/>
          </a:xfrm>
          <a:prstGeom prst="rect">
            <a:avLst/>
          </a:prstGeom>
          <a:noFill/>
          <a:ln/>
        </p:spPr>
        <p:txBody>
          <a:bodyPr wrap="square" lIns="0" tIns="0" rIns="0" bIns="0" rtlCol="0" anchor="ctr"/>
          <a:lstStyle/>
          <a:p>
            <a:pPr indent="0" marL="0">
              <a:buNone/>
            </a:pPr>
            <a:r>
              <a:rPr lang="en-US" sz="1400" b="1" spc="300" kern="0" dirty="0">
                <a:solidFill>
                  <a:srgbClr val="16A39A"/>
                </a:solidFill>
                <a:latin typeface="Calibri" pitchFamily="34" charset="0"/>
                <a:ea typeface="Calibri" pitchFamily="34" charset="-122"/>
                <a:cs typeface="Calibri" pitchFamily="34" charset="-120"/>
              </a:rPr>
              <a:t>LESSONS LEARNED  ·  MASTER DECK</a:t>
            </a:r>
            <a:endParaRPr lang="en-US" sz="1400" dirty="0"/>
          </a:p>
        </p:txBody>
      </p:sp>
      <p:sp>
        <p:nvSpPr>
          <p:cNvPr id="4" name="Text 2"/>
          <p:cNvSpPr/>
          <p:nvPr/>
        </p:nvSpPr>
        <p:spPr>
          <a:xfrm>
            <a:off x="777240" y="1463040"/>
            <a:ext cx="10607040" cy="1920240"/>
          </a:xfrm>
          <a:prstGeom prst="rect">
            <a:avLst/>
          </a:prstGeom>
          <a:noFill/>
          <a:ln/>
        </p:spPr>
        <p:txBody>
          <a:bodyPr wrap="square" lIns="0" tIns="0" rIns="0" bIns="0" rtlCol="0" anchor="ctr"/>
          <a:lstStyle/>
          <a:p>
            <a:pPr indent="0" marL="0">
              <a:lnSpc>
                <a:spcPct val="100000"/>
              </a:lnSpc>
              <a:buNone/>
            </a:pPr>
            <a:r>
              <a:rPr lang="en-US" sz="5000" b="1" dirty="0">
                <a:solidFill>
                  <a:srgbClr val="FFFFFF"/>
                </a:solidFill>
                <a:latin typeface="Cambria" pitchFamily="34" charset="0"/>
                <a:ea typeface="Cambria" pitchFamily="34" charset="-122"/>
                <a:cs typeface="Cambria" pitchFamily="34" charset="-120"/>
              </a:rPr>
              <a:t>Building an AOT</a:t>
            </a:r>
            <a:endParaRPr lang="en-US" sz="5000" dirty="0"/>
          </a:p>
          <a:p>
            <a:pPr indent="0" marL="0">
              <a:lnSpc>
                <a:spcPct val="100000"/>
              </a:lnSpc>
              <a:buNone/>
            </a:pPr>
            <a:r>
              <a:rPr lang="en-US" sz="5000" b="1" dirty="0">
                <a:solidFill>
                  <a:srgbClr val="FFFFFF"/>
                </a:solidFill>
                <a:latin typeface="Cambria" pitchFamily="34" charset="0"/>
                <a:ea typeface="Cambria" pitchFamily="34" charset="-122"/>
                <a:cs typeface="Cambria" pitchFamily="34" charset="-120"/>
              </a:rPr>
              <a:t>ONNX-to-C Compiler</a:t>
            </a:r>
            <a:endParaRPr lang="en-US" sz="5000" dirty="0"/>
          </a:p>
        </p:txBody>
      </p:sp>
      <p:sp>
        <p:nvSpPr>
          <p:cNvPr id="5" name="Text 3"/>
          <p:cNvSpPr/>
          <p:nvPr/>
        </p:nvSpPr>
        <p:spPr>
          <a:xfrm>
            <a:off x="795528" y="3520440"/>
            <a:ext cx="10241280" cy="548640"/>
          </a:xfrm>
          <a:prstGeom prst="rect">
            <a:avLst/>
          </a:prstGeom>
          <a:noFill/>
          <a:ln/>
        </p:spPr>
        <p:txBody>
          <a:bodyPr wrap="square" lIns="0" tIns="0" rIns="0" bIns="0" rtlCol="0" anchor="ctr"/>
          <a:lstStyle/>
          <a:p>
            <a:pPr indent="0" marL="0">
              <a:buNone/>
            </a:pPr>
            <a:r>
              <a:rPr lang="en-US" sz="1800" dirty="0">
                <a:solidFill>
                  <a:srgbClr val="B9CEDD"/>
                </a:solidFill>
                <a:latin typeface="Calibri" pitchFamily="34" charset="0"/>
                <a:ea typeface="Calibri" pitchFamily="34" charset="-122"/>
                <a:cs typeface="Calibri" pitchFamily="34" charset="-120"/>
              </a:rPr>
              <a:t>emx-onnx-cgen — deterministic, portable C for embedded and resource-constrained systems</a:t>
            </a:r>
            <a:endParaRPr lang="en-US" sz="1800" dirty="0"/>
          </a:p>
        </p:txBody>
      </p:sp>
      <p:sp>
        <p:nvSpPr>
          <p:cNvPr id="6" name="Shape 4"/>
          <p:cNvSpPr/>
          <p:nvPr/>
        </p:nvSpPr>
        <p:spPr>
          <a:xfrm>
            <a:off x="795528" y="4434840"/>
            <a:ext cx="1371600" cy="457200"/>
          </a:xfrm>
          <a:prstGeom prst="roundRect">
            <a:avLst>
              <a:gd name="adj" fmla="val 20000"/>
            </a:avLst>
          </a:prstGeom>
          <a:solidFill>
            <a:srgbClr val="0A1F38"/>
          </a:solidFill>
          <a:ln w="9525">
            <a:solidFill>
              <a:srgbClr val="16A39A"/>
            </a:solidFill>
            <a:prstDash val="solid"/>
          </a:ln>
        </p:spPr>
      </p:sp>
      <p:sp>
        <p:nvSpPr>
          <p:cNvPr id="7" name="Text 5"/>
          <p:cNvSpPr/>
          <p:nvPr/>
        </p:nvSpPr>
        <p:spPr>
          <a:xfrm>
            <a:off x="795528" y="4434840"/>
            <a:ext cx="1371600" cy="457200"/>
          </a:xfrm>
          <a:prstGeom prst="rect">
            <a:avLst/>
          </a:prstGeom>
          <a:noFill/>
          <a:ln/>
        </p:spPr>
        <p:txBody>
          <a:bodyPr wrap="square" lIns="0" tIns="0" rIns="0" bIns="0" rtlCol="0" anchor="ctr"/>
          <a:lstStyle/>
          <a:p>
            <a:pPr algn="ctr" indent="0" marL="0">
              <a:buNone/>
            </a:pPr>
            <a:r>
              <a:rPr lang="en-US" sz="1250" dirty="0">
                <a:solidFill>
                  <a:srgbClr val="C7D8E5"/>
                </a:solidFill>
                <a:latin typeface="Consolas" pitchFamily="34" charset="0"/>
                <a:ea typeface="Consolas" pitchFamily="34" charset="-122"/>
                <a:cs typeface="Consolas" pitchFamily="34" charset="-120"/>
              </a:rPr>
              <a:t>ONNX model</a:t>
            </a:r>
            <a:endParaRPr lang="en-US" sz="1250" dirty="0"/>
          </a:p>
        </p:txBody>
      </p:sp>
      <p:sp>
        <p:nvSpPr>
          <p:cNvPr id="8" name="Text 6"/>
          <p:cNvSpPr/>
          <p:nvPr/>
        </p:nvSpPr>
        <p:spPr>
          <a:xfrm>
            <a:off x="2167128" y="4434840"/>
            <a:ext cx="411480" cy="457200"/>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578608" y="4434840"/>
            <a:ext cx="1687068" cy="457200"/>
          </a:xfrm>
          <a:prstGeom prst="roundRect">
            <a:avLst>
              <a:gd name="adj" fmla="val 20000"/>
            </a:avLst>
          </a:prstGeom>
          <a:solidFill>
            <a:srgbClr val="0E7C77"/>
          </a:solidFill>
          <a:ln w="19050">
            <a:solidFill>
              <a:srgbClr val="16A39A"/>
            </a:solidFill>
            <a:prstDash val="solid"/>
          </a:ln>
        </p:spPr>
      </p:sp>
      <p:sp>
        <p:nvSpPr>
          <p:cNvPr id="10" name="Text 8"/>
          <p:cNvSpPr/>
          <p:nvPr/>
        </p:nvSpPr>
        <p:spPr>
          <a:xfrm>
            <a:off x="2578608" y="4434840"/>
            <a:ext cx="1687068" cy="457200"/>
          </a:xfrm>
          <a:prstGeom prst="rect">
            <a:avLst/>
          </a:prstGeom>
          <a:noFill/>
          <a:ln/>
        </p:spPr>
        <p:txBody>
          <a:bodyPr wrap="square" lIns="0" tIns="0" rIns="0" bIns="0" rtlCol="0" anchor="ctr"/>
          <a:lstStyle/>
          <a:p>
            <a:pPr algn="ctr" indent="0" marL="0">
              <a:buNone/>
            </a:pPr>
            <a:r>
              <a:rPr lang="en-US" sz="1250" dirty="0">
                <a:solidFill>
                  <a:srgbClr val="FFFFFF"/>
                </a:solidFill>
                <a:latin typeface="Consolas" pitchFamily="34" charset="0"/>
                <a:ea typeface="Consolas" pitchFamily="34" charset="-122"/>
                <a:cs typeface="Consolas" pitchFamily="34" charset="-120"/>
              </a:rPr>
              <a:t>emx-onnx-cgen</a:t>
            </a:r>
            <a:endParaRPr lang="en-US" sz="1250" dirty="0"/>
          </a:p>
        </p:txBody>
      </p:sp>
      <p:sp>
        <p:nvSpPr>
          <p:cNvPr id="11" name="Text 9"/>
          <p:cNvSpPr/>
          <p:nvPr/>
        </p:nvSpPr>
        <p:spPr>
          <a:xfrm>
            <a:off x="4265676" y="4434840"/>
            <a:ext cx="411480" cy="457200"/>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4677156" y="4434840"/>
            <a:ext cx="1056132" cy="457200"/>
          </a:xfrm>
          <a:prstGeom prst="roundRect">
            <a:avLst>
              <a:gd name="adj" fmla="val 20000"/>
            </a:avLst>
          </a:prstGeom>
          <a:solidFill>
            <a:srgbClr val="0A1F38"/>
          </a:solidFill>
          <a:ln w="9525">
            <a:solidFill>
              <a:srgbClr val="16A39A"/>
            </a:solidFill>
            <a:prstDash val="solid"/>
          </a:ln>
        </p:spPr>
      </p:sp>
      <p:sp>
        <p:nvSpPr>
          <p:cNvPr id="13" name="Text 11"/>
          <p:cNvSpPr/>
          <p:nvPr/>
        </p:nvSpPr>
        <p:spPr>
          <a:xfrm>
            <a:off x="4677156" y="4434840"/>
            <a:ext cx="1056132" cy="457200"/>
          </a:xfrm>
          <a:prstGeom prst="rect">
            <a:avLst/>
          </a:prstGeom>
          <a:noFill/>
          <a:ln/>
        </p:spPr>
        <p:txBody>
          <a:bodyPr wrap="square" lIns="0" tIns="0" rIns="0" bIns="0" rtlCol="0" anchor="ctr"/>
          <a:lstStyle/>
          <a:p>
            <a:pPr algn="ctr" indent="0" marL="0">
              <a:buNone/>
            </a:pPr>
            <a:r>
              <a:rPr lang="en-US" sz="1250" dirty="0">
                <a:solidFill>
                  <a:srgbClr val="C7D8E5"/>
                </a:solidFill>
                <a:latin typeface="Consolas" pitchFamily="34" charset="0"/>
                <a:ea typeface="Consolas" pitchFamily="34" charset="-122"/>
                <a:cs typeface="Consolas" pitchFamily="34" charset="-120"/>
              </a:rPr>
              <a:t>clean C</a:t>
            </a:r>
            <a:endParaRPr lang="en-US" sz="1250" dirty="0"/>
          </a:p>
        </p:txBody>
      </p:sp>
      <p:sp>
        <p:nvSpPr>
          <p:cNvPr id="14" name="Text 12"/>
          <p:cNvSpPr/>
          <p:nvPr/>
        </p:nvSpPr>
        <p:spPr>
          <a:xfrm>
            <a:off x="5733288" y="4434840"/>
            <a:ext cx="411480" cy="457200"/>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144768" y="4434840"/>
            <a:ext cx="1897380" cy="457200"/>
          </a:xfrm>
          <a:prstGeom prst="roundRect">
            <a:avLst>
              <a:gd name="adj" fmla="val 20000"/>
            </a:avLst>
          </a:prstGeom>
          <a:solidFill>
            <a:srgbClr val="0A1F38"/>
          </a:solidFill>
          <a:ln w="9525">
            <a:solidFill>
              <a:srgbClr val="16A39A"/>
            </a:solidFill>
            <a:prstDash val="solid"/>
          </a:ln>
        </p:spPr>
      </p:sp>
      <p:sp>
        <p:nvSpPr>
          <p:cNvPr id="16" name="Text 14"/>
          <p:cNvSpPr/>
          <p:nvPr/>
        </p:nvSpPr>
        <p:spPr>
          <a:xfrm>
            <a:off x="6144768" y="4434840"/>
            <a:ext cx="1897380" cy="457200"/>
          </a:xfrm>
          <a:prstGeom prst="rect">
            <a:avLst/>
          </a:prstGeom>
          <a:noFill/>
          <a:ln/>
        </p:spPr>
        <p:txBody>
          <a:bodyPr wrap="square" lIns="0" tIns="0" rIns="0" bIns="0" rtlCol="0" anchor="ctr"/>
          <a:lstStyle/>
          <a:p>
            <a:pPr algn="ctr" indent="0" marL="0">
              <a:buNone/>
            </a:pPr>
            <a:r>
              <a:rPr lang="en-US" sz="1250" dirty="0">
                <a:solidFill>
                  <a:srgbClr val="C7D8E5"/>
                </a:solidFill>
                <a:latin typeface="Consolas" pitchFamily="34" charset="0"/>
                <a:ea typeface="Consolas" pitchFamily="34" charset="-122"/>
                <a:cs typeface="Consolas" pitchFamily="34" charset="-120"/>
              </a:rPr>
              <a:t>embedded target</a:t>
            </a:r>
            <a:endParaRPr lang="en-US" sz="1250" dirty="0"/>
          </a:p>
        </p:txBody>
      </p:sp>
      <p:sp>
        <p:nvSpPr>
          <p:cNvPr id="17" name="Text 15"/>
          <p:cNvSpPr/>
          <p:nvPr/>
        </p:nvSpPr>
        <p:spPr>
          <a:xfrm>
            <a:off x="795528" y="5212080"/>
            <a:ext cx="10058400" cy="365760"/>
          </a:xfrm>
          <a:prstGeom prst="rect">
            <a:avLst/>
          </a:prstGeom>
          <a:noFill/>
          <a:ln/>
        </p:spPr>
        <p:txBody>
          <a:bodyPr wrap="square" lIns="0" tIns="0" rIns="0" bIns="0" rtlCol="0" anchor="ctr"/>
          <a:lstStyle/>
          <a:p>
            <a:pPr indent="0" marL="0">
              <a:buNone/>
            </a:pPr>
            <a:r>
              <a:rPr lang="en-US" sz="1300" i="1" dirty="0">
                <a:solidFill>
                  <a:srgbClr val="8AA3B5"/>
                </a:solidFill>
                <a:latin typeface="Calibri" pitchFamily="34" charset="0"/>
                <a:ea typeface="Calibri" pitchFamily="34" charset="-122"/>
                <a:cs typeface="Calibri" pitchFamily="34" charset="-120"/>
              </a:rPr>
              <a:t>This is an extended master deck — pick the slides relevant to your session.</a:t>
            </a:r>
            <a:endParaRPr lang="en-US" sz="1300" dirty="0"/>
          </a:p>
        </p:txBody>
      </p:sp>
      <p:sp>
        <p:nvSpPr>
          <p:cNvPr id="18" name="Text 16"/>
          <p:cNvSpPr/>
          <p:nvPr/>
        </p:nvSpPr>
        <p:spPr>
          <a:xfrm>
            <a:off x="795528" y="5989320"/>
            <a:ext cx="10058400" cy="365760"/>
          </a:xfrm>
          <a:prstGeom prst="rect">
            <a:avLst/>
          </a:prstGeom>
          <a:noFill/>
          <a:ln/>
        </p:spPr>
        <p:txBody>
          <a:bodyPr wrap="square" lIns="0" tIns="0" rIns="0" bIns="0" rtlCol="0" anchor="ctr"/>
          <a:lstStyle/>
          <a:p>
            <a:pPr indent="0" marL="0">
              <a:buNone/>
            </a:pPr>
            <a:r>
              <a:rPr lang="en-US" sz="1300" dirty="0">
                <a:solidFill>
                  <a:srgbClr val="8AA3B5"/>
                </a:solidFill>
                <a:latin typeface="Calibri" pitchFamily="34" charset="0"/>
                <a:ea typeface="Calibri" pitchFamily="34" charset="-122"/>
                <a:cs typeface="Calibri" pitchFamily="34" charset="-120"/>
              </a:rPr>
              <a:t>ONNX Community Day  ·  emmtrix Technologies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HOW THIS DECK IS ORGANISED</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Six themes to pick from</a:t>
            </a:r>
            <a:endParaRPr lang="en-US" sz="2800" dirty="0"/>
          </a:p>
        </p:txBody>
      </p:sp>
      <p:sp>
        <p:nvSpPr>
          <p:cNvPr id="5" name="Shape 3"/>
          <p:cNvSpPr/>
          <p:nvPr/>
        </p:nvSpPr>
        <p:spPr>
          <a:xfrm>
            <a:off x="548640" y="1828800"/>
            <a:ext cx="3611880" cy="1783080"/>
          </a:xfrm>
          <a:prstGeom prst="roundRect">
            <a:avLst>
              <a:gd name="adj" fmla="val 4103"/>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2029968"/>
            <a:ext cx="1280160" cy="640080"/>
          </a:xfrm>
          <a:prstGeom prst="rect">
            <a:avLst/>
          </a:prstGeom>
          <a:noFill/>
          <a:ln/>
        </p:spPr>
        <p:txBody>
          <a:bodyPr wrap="square" lIns="0" tIns="0" rIns="0" bIns="0" rtlCol="0" anchor="ctr"/>
          <a:lstStyle/>
          <a:p>
            <a:pPr indent="0" marL="0">
              <a:buNone/>
            </a:pPr>
            <a:r>
              <a:rPr lang="en-US" sz="3200" b="1" dirty="0">
                <a:solidFill>
                  <a:srgbClr val="16A39A"/>
                </a:solidFill>
                <a:latin typeface="Cambria" pitchFamily="34" charset="0"/>
                <a:ea typeface="Cambria" pitchFamily="34" charset="-122"/>
                <a:cs typeface="Cambria" pitchFamily="34" charset="-120"/>
              </a:rPr>
              <a:t>01</a:t>
            </a:r>
            <a:endParaRPr lang="en-US" sz="3200" dirty="0"/>
          </a:p>
        </p:txBody>
      </p:sp>
      <p:sp>
        <p:nvSpPr>
          <p:cNvPr id="7" name="Text 5"/>
          <p:cNvSpPr/>
          <p:nvPr/>
        </p:nvSpPr>
        <p:spPr>
          <a:xfrm>
            <a:off x="786384" y="2697480"/>
            <a:ext cx="3154680" cy="411480"/>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Origins &amp; motivation</a:t>
            </a:r>
            <a:endParaRPr lang="en-US" sz="1550" dirty="0"/>
          </a:p>
        </p:txBody>
      </p:sp>
      <p:sp>
        <p:nvSpPr>
          <p:cNvPr id="8" name="Text 6"/>
          <p:cNvSpPr/>
          <p:nvPr/>
        </p:nvSpPr>
        <p:spPr>
          <a:xfrm>
            <a:off x="786384" y="3090672"/>
            <a:ext cx="3154680" cy="45720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onnx2c, the VLA idea, why a new compiler</a:t>
            </a:r>
            <a:endParaRPr lang="en-US" sz="1200" dirty="0"/>
          </a:p>
        </p:txBody>
      </p:sp>
      <p:sp>
        <p:nvSpPr>
          <p:cNvPr id="9" name="Shape 7"/>
          <p:cNvSpPr/>
          <p:nvPr/>
        </p:nvSpPr>
        <p:spPr>
          <a:xfrm>
            <a:off x="4407408" y="1828800"/>
            <a:ext cx="3611880" cy="1783080"/>
          </a:xfrm>
          <a:prstGeom prst="roundRect">
            <a:avLst>
              <a:gd name="adj" fmla="val 4103"/>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0" name="Text 8"/>
          <p:cNvSpPr/>
          <p:nvPr/>
        </p:nvSpPr>
        <p:spPr>
          <a:xfrm>
            <a:off x="4645152" y="2029968"/>
            <a:ext cx="1280160" cy="640080"/>
          </a:xfrm>
          <a:prstGeom prst="rect">
            <a:avLst/>
          </a:prstGeom>
          <a:noFill/>
          <a:ln/>
        </p:spPr>
        <p:txBody>
          <a:bodyPr wrap="square" lIns="0" tIns="0" rIns="0" bIns="0" rtlCol="0" anchor="ctr"/>
          <a:lstStyle/>
          <a:p>
            <a:pPr indent="0" marL="0">
              <a:buNone/>
            </a:pPr>
            <a:r>
              <a:rPr lang="en-US" sz="3200" b="1" dirty="0">
                <a:solidFill>
                  <a:srgbClr val="16A39A"/>
                </a:solidFill>
                <a:latin typeface="Cambria" pitchFamily="34" charset="0"/>
                <a:ea typeface="Cambria" pitchFamily="34" charset="-122"/>
                <a:cs typeface="Cambria" pitchFamily="34" charset="-120"/>
              </a:rPr>
              <a:t>02</a:t>
            </a:r>
            <a:endParaRPr lang="en-US" sz="3200" dirty="0"/>
          </a:p>
        </p:txBody>
      </p:sp>
      <p:sp>
        <p:nvSpPr>
          <p:cNvPr id="11" name="Text 9"/>
          <p:cNvSpPr/>
          <p:nvPr/>
        </p:nvSpPr>
        <p:spPr>
          <a:xfrm>
            <a:off x="4645152" y="2697480"/>
            <a:ext cx="3154680" cy="411480"/>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What emx-onnx-cgen does</a:t>
            </a:r>
            <a:endParaRPr lang="en-US" sz="1550" dirty="0"/>
          </a:p>
        </p:txBody>
      </p:sp>
      <p:sp>
        <p:nvSpPr>
          <p:cNvPr id="12" name="Text 10"/>
          <p:cNvSpPr/>
          <p:nvPr/>
        </p:nvSpPr>
        <p:spPr>
          <a:xfrm>
            <a:off x="4645152" y="3090672"/>
            <a:ext cx="3154680" cy="45720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Output, API, C as handoff IR</a:t>
            </a:r>
            <a:endParaRPr lang="en-US" sz="1200" dirty="0"/>
          </a:p>
        </p:txBody>
      </p:sp>
      <p:sp>
        <p:nvSpPr>
          <p:cNvPr id="13" name="Shape 11"/>
          <p:cNvSpPr/>
          <p:nvPr/>
        </p:nvSpPr>
        <p:spPr>
          <a:xfrm>
            <a:off x="8266176" y="1828800"/>
            <a:ext cx="3611880" cy="1783080"/>
          </a:xfrm>
          <a:prstGeom prst="roundRect">
            <a:avLst>
              <a:gd name="adj" fmla="val 4103"/>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4" name="Text 12"/>
          <p:cNvSpPr/>
          <p:nvPr/>
        </p:nvSpPr>
        <p:spPr>
          <a:xfrm>
            <a:off x="8503920" y="2029968"/>
            <a:ext cx="1280160" cy="640080"/>
          </a:xfrm>
          <a:prstGeom prst="rect">
            <a:avLst/>
          </a:prstGeom>
          <a:noFill/>
          <a:ln/>
        </p:spPr>
        <p:txBody>
          <a:bodyPr wrap="square" lIns="0" tIns="0" rIns="0" bIns="0" rtlCol="0" anchor="ctr"/>
          <a:lstStyle/>
          <a:p>
            <a:pPr indent="0" marL="0">
              <a:buNone/>
            </a:pPr>
            <a:r>
              <a:rPr lang="en-US" sz="3200" b="1" dirty="0">
                <a:solidFill>
                  <a:srgbClr val="16A39A"/>
                </a:solidFill>
                <a:latin typeface="Cambria" pitchFamily="34" charset="0"/>
                <a:ea typeface="Cambria" pitchFamily="34" charset="-122"/>
                <a:cs typeface="Cambria" pitchFamily="34" charset="-120"/>
              </a:rPr>
              <a:t>03</a:t>
            </a:r>
            <a:endParaRPr lang="en-US" sz="3200" dirty="0"/>
          </a:p>
        </p:txBody>
      </p:sp>
      <p:sp>
        <p:nvSpPr>
          <p:cNvPr id="15" name="Text 13"/>
          <p:cNvSpPr/>
          <p:nvPr/>
        </p:nvSpPr>
        <p:spPr>
          <a:xfrm>
            <a:off x="8503920" y="2697480"/>
            <a:ext cx="3154680" cy="411480"/>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Architecture &amp; verification</a:t>
            </a:r>
            <a:endParaRPr lang="en-US" sz="1550" dirty="0"/>
          </a:p>
        </p:txBody>
      </p:sp>
      <p:sp>
        <p:nvSpPr>
          <p:cNvPr id="16" name="Text 14"/>
          <p:cNvSpPr/>
          <p:nvPr/>
        </p:nvSpPr>
        <p:spPr>
          <a:xfrm>
            <a:off x="8503920" y="3090672"/>
            <a:ext cx="3154680" cy="45720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100% coverage, the verify loop, ORT artifacts</a:t>
            </a:r>
            <a:endParaRPr lang="en-US" sz="1200" dirty="0"/>
          </a:p>
        </p:txBody>
      </p:sp>
      <p:sp>
        <p:nvSpPr>
          <p:cNvPr id="17" name="Shape 15"/>
          <p:cNvSpPr/>
          <p:nvPr/>
        </p:nvSpPr>
        <p:spPr>
          <a:xfrm>
            <a:off x="548640" y="3904488"/>
            <a:ext cx="3611880" cy="1783080"/>
          </a:xfrm>
          <a:prstGeom prst="roundRect">
            <a:avLst>
              <a:gd name="adj" fmla="val 4103"/>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8" name="Text 16"/>
          <p:cNvSpPr/>
          <p:nvPr/>
        </p:nvSpPr>
        <p:spPr>
          <a:xfrm>
            <a:off x="786384" y="4105656"/>
            <a:ext cx="1280160" cy="640080"/>
          </a:xfrm>
          <a:prstGeom prst="rect">
            <a:avLst/>
          </a:prstGeom>
          <a:noFill/>
          <a:ln/>
        </p:spPr>
        <p:txBody>
          <a:bodyPr wrap="square" lIns="0" tIns="0" rIns="0" bIns="0" rtlCol="0" anchor="ctr"/>
          <a:lstStyle/>
          <a:p>
            <a:pPr indent="0" marL="0">
              <a:buNone/>
            </a:pPr>
            <a:r>
              <a:rPr lang="en-US" sz="3200" b="1" dirty="0">
                <a:solidFill>
                  <a:srgbClr val="16A39A"/>
                </a:solidFill>
                <a:latin typeface="Cambria" pitchFamily="34" charset="0"/>
                <a:ea typeface="Cambria" pitchFamily="34" charset="-122"/>
                <a:cs typeface="Cambria" pitchFamily="34" charset="-120"/>
              </a:rPr>
              <a:t>04</a:t>
            </a:r>
            <a:endParaRPr lang="en-US" sz="3200" dirty="0"/>
          </a:p>
        </p:txBody>
      </p:sp>
      <p:sp>
        <p:nvSpPr>
          <p:cNvPr id="19" name="Text 17"/>
          <p:cNvSpPr/>
          <p:nvPr/>
        </p:nvSpPr>
        <p:spPr>
          <a:xfrm>
            <a:off x="786384" y="4773168"/>
            <a:ext cx="3154680" cy="411480"/>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ONNX lessons learned</a:t>
            </a:r>
            <a:endParaRPr lang="en-US" sz="1550" dirty="0"/>
          </a:p>
        </p:txBody>
      </p:sp>
      <p:sp>
        <p:nvSpPr>
          <p:cNvPr id="20" name="Text 18"/>
          <p:cNvSpPr/>
          <p:nvPr/>
        </p:nvSpPr>
        <p:spPr>
          <a:xfrm>
            <a:off x="786384" y="5166360"/>
            <a:ext cx="3154680" cy="45720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Boundedness, inference, accuracy, dtypes</a:t>
            </a:r>
            <a:endParaRPr lang="en-US" sz="1200" dirty="0"/>
          </a:p>
        </p:txBody>
      </p:sp>
      <p:sp>
        <p:nvSpPr>
          <p:cNvPr id="21" name="Shape 19"/>
          <p:cNvSpPr/>
          <p:nvPr/>
        </p:nvSpPr>
        <p:spPr>
          <a:xfrm>
            <a:off x="4407408" y="3904488"/>
            <a:ext cx="3611880" cy="1783080"/>
          </a:xfrm>
          <a:prstGeom prst="roundRect">
            <a:avLst>
              <a:gd name="adj" fmla="val 4103"/>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22" name="Text 20"/>
          <p:cNvSpPr/>
          <p:nvPr/>
        </p:nvSpPr>
        <p:spPr>
          <a:xfrm>
            <a:off x="4645152" y="4105656"/>
            <a:ext cx="1280160" cy="640080"/>
          </a:xfrm>
          <a:prstGeom prst="rect">
            <a:avLst/>
          </a:prstGeom>
          <a:noFill/>
          <a:ln/>
        </p:spPr>
        <p:txBody>
          <a:bodyPr wrap="square" lIns="0" tIns="0" rIns="0" bIns="0" rtlCol="0" anchor="ctr"/>
          <a:lstStyle/>
          <a:p>
            <a:pPr indent="0" marL="0">
              <a:buNone/>
            </a:pPr>
            <a:r>
              <a:rPr lang="en-US" sz="3200" b="1" dirty="0">
                <a:solidFill>
                  <a:srgbClr val="16A39A"/>
                </a:solidFill>
                <a:latin typeface="Cambria" pitchFamily="34" charset="0"/>
                <a:ea typeface="Cambria" pitchFamily="34" charset="-122"/>
                <a:cs typeface="Cambria" pitchFamily="34" charset="-120"/>
              </a:rPr>
              <a:t>05</a:t>
            </a:r>
            <a:endParaRPr lang="en-US" sz="3200" dirty="0"/>
          </a:p>
        </p:txBody>
      </p:sp>
      <p:sp>
        <p:nvSpPr>
          <p:cNvPr id="23" name="Text 21"/>
          <p:cNvSpPr/>
          <p:nvPr/>
        </p:nvSpPr>
        <p:spPr>
          <a:xfrm>
            <a:off x="4645152" y="4773168"/>
            <a:ext cx="3154680" cy="411480"/>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Status &amp; community</a:t>
            </a:r>
            <a:endParaRPr lang="en-US" sz="1550" dirty="0"/>
          </a:p>
        </p:txBody>
      </p:sp>
      <p:sp>
        <p:nvSpPr>
          <p:cNvPr id="24" name="Text 22"/>
          <p:cNvSpPr/>
          <p:nvPr/>
        </p:nvSpPr>
        <p:spPr>
          <a:xfrm>
            <a:off x="4645152" y="5166360"/>
            <a:ext cx="3154680" cy="45720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Coverage reports, scoreboard, takeaways</a:t>
            </a:r>
            <a:endParaRPr lang="en-US" sz="1200" dirty="0"/>
          </a:p>
        </p:txBody>
      </p:sp>
      <p:sp>
        <p:nvSpPr>
          <p:cNvPr id="25" name="Shape 23"/>
          <p:cNvSpPr/>
          <p:nvPr/>
        </p:nvSpPr>
        <p:spPr>
          <a:xfrm>
            <a:off x="8266176" y="3904488"/>
            <a:ext cx="3611880" cy="1783080"/>
          </a:xfrm>
          <a:prstGeom prst="roundRect">
            <a:avLst>
              <a:gd name="adj" fmla="val 4103"/>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26" name="Text 24"/>
          <p:cNvSpPr/>
          <p:nvPr/>
        </p:nvSpPr>
        <p:spPr>
          <a:xfrm>
            <a:off x="8503920" y="4105656"/>
            <a:ext cx="1280160" cy="640080"/>
          </a:xfrm>
          <a:prstGeom prst="rect">
            <a:avLst/>
          </a:prstGeom>
          <a:noFill/>
          <a:ln/>
        </p:spPr>
        <p:txBody>
          <a:bodyPr wrap="square" lIns="0" tIns="0" rIns="0" bIns="0" rtlCol="0" anchor="ctr"/>
          <a:lstStyle/>
          <a:p>
            <a:pPr indent="0" marL="0">
              <a:buNone/>
            </a:pPr>
            <a:r>
              <a:rPr lang="en-US" sz="3200" b="1" dirty="0">
                <a:solidFill>
                  <a:srgbClr val="16A39A"/>
                </a:solidFill>
                <a:latin typeface="Cambria" pitchFamily="34" charset="0"/>
                <a:ea typeface="Cambria" pitchFamily="34" charset="-122"/>
                <a:cs typeface="Cambria" pitchFamily="34" charset="-120"/>
              </a:rPr>
              <a:t>06</a:t>
            </a:r>
            <a:endParaRPr lang="en-US" sz="3200" dirty="0"/>
          </a:p>
        </p:txBody>
      </p:sp>
      <p:sp>
        <p:nvSpPr>
          <p:cNvPr id="27" name="Text 25"/>
          <p:cNvSpPr/>
          <p:nvPr/>
        </p:nvSpPr>
        <p:spPr>
          <a:xfrm>
            <a:off x="8503920" y="4773168"/>
            <a:ext cx="3154680" cy="411480"/>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Discussion</a:t>
            </a:r>
            <a:endParaRPr lang="en-US" sz="1550" dirty="0"/>
          </a:p>
        </p:txBody>
      </p:sp>
      <p:sp>
        <p:nvSpPr>
          <p:cNvPr id="28" name="Text 26"/>
          <p:cNvSpPr/>
          <p:nvPr/>
        </p:nvSpPr>
        <p:spPr>
          <a:xfrm>
            <a:off x="8503920" y="5166360"/>
            <a:ext cx="3154680" cy="45720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Open questions for an AOT-friendly ONNX</a:t>
            </a:r>
            <a:endParaRPr lang="en-US" sz="1200" dirty="0"/>
          </a:p>
        </p:txBody>
      </p:sp>
      <p:sp>
        <p:nvSpPr>
          <p:cNvPr id="29" name="Text 2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30" name="Text 2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A47"/>
        </a:solidFill>
      </p:bgPr>
    </p:bg>
    <p:spTree>
      <p:nvGrpSpPr>
        <p:cNvPr id="1" name=""/>
        <p:cNvGrpSpPr/>
        <p:nvPr/>
      </p:nvGrpSpPr>
      <p:grpSpPr>
        <a:xfrm>
          <a:off x="0" y="0"/>
          <a:ext cx="0" cy="0"/>
          <a:chOff x="0" y="0"/>
          <a:chExt cx="0" cy="0"/>
        </a:xfrm>
      </p:grpSpPr>
      <p:sp>
        <p:nvSpPr>
          <p:cNvPr id="2" name="Text 0"/>
          <p:cNvSpPr/>
          <p:nvPr/>
        </p:nvSpPr>
        <p:spPr>
          <a:xfrm>
            <a:off x="777240" y="914400"/>
            <a:ext cx="2743200" cy="1463040"/>
          </a:xfrm>
          <a:prstGeom prst="rect">
            <a:avLst/>
          </a:prstGeom>
          <a:noFill/>
          <a:ln/>
        </p:spPr>
        <p:txBody>
          <a:bodyPr wrap="square" lIns="0" tIns="0" rIns="0" bIns="0" rtlCol="0" anchor="ctr"/>
          <a:lstStyle/>
          <a:p>
            <a:pPr indent="0" marL="0">
              <a:buNone/>
            </a:pPr>
            <a:r>
              <a:rPr lang="en-US" sz="9600" b="1" dirty="0">
                <a:solidFill>
                  <a:srgbClr val="1C436B"/>
                </a:solidFill>
                <a:latin typeface="Cambria" pitchFamily="34" charset="0"/>
                <a:ea typeface="Cambria" pitchFamily="34" charset="-122"/>
                <a:cs typeface="Cambria" pitchFamily="34" charset="-120"/>
              </a:rPr>
              <a:t>01</a:t>
            </a:r>
            <a:endParaRPr lang="en-US" sz="9600" dirty="0"/>
          </a:p>
        </p:txBody>
      </p:sp>
      <p:sp>
        <p:nvSpPr>
          <p:cNvPr id="3" name="Shape 1"/>
          <p:cNvSpPr/>
          <p:nvPr/>
        </p:nvSpPr>
        <p:spPr>
          <a:xfrm>
            <a:off x="822960" y="2697480"/>
            <a:ext cx="640080" cy="109728"/>
          </a:xfrm>
          <a:prstGeom prst="roundRect">
            <a:avLst>
              <a:gd name="adj" fmla="val 50000"/>
            </a:avLst>
          </a:prstGeom>
          <a:solidFill>
            <a:srgbClr val="16A39A"/>
          </a:solidFill>
          <a:ln/>
        </p:spPr>
      </p:sp>
      <p:sp>
        <p:nvSpPr>
          <p:cNvPr id="4" name="Text 2"/>
          <p:cNvSpPr/>
          <p:nvPr/>
        </p:nvSpPr>
        <p:spPr>
          <a:xfrm>
            <a:off x="777240" y="28803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Origins &amp; motivation</a:t>
            </a:r>
            <a:endParaRPr lang="en-US" sz="4000" dirty="0"/>
          </a:p>
        </p:txBody>
      </p:sp>
      <p:sp>
        <p:nvSpPr>
          <p:cNvPr id="5" name="Text 3"/>
          <p:cNvSpPr/>
          <p:nvPr/>
        </p:nvSpPr>
        <p:spPr>
          <a:xfrm>
            <a:off x="795528" y="3840480"/>
            <a:ext cx="10058400" cy="548640"/>
          </a:xfrm>
          <a:prstGeom prst="rect">
            <a:avLst/>
          </a:prstGeom>
          <a:noFill/>
          <a:ln/>
        </p:spPr>
        <p:txBody>
          <a:bodyPr wrap="square" lIns="0" tIns="0" rIns="0" bIns="0" rtlCol="0" anchor="ctr"/>
          <a:lstStyle/>
          <a:p>
            <a:pPr indent="0" marL="0">
              <a:buNone/>
            </a:pPr>
            <a:r>
              <a:rPr lang="en-US" sz="1700" dirty="0">
                <a:solidFill>
                  <a:srgbClr val="9FC0D6"/>
                </a:solidFill>
                <a:latin typeface="Calibri" pitchFamily="34" charset="0"/>
                <a:ea typeface="Calibri" pitchFamily="34" charset="-122"/>
                <a:cs typeface="Calibri" pitchFamily="34" charset="-120"/>
              </a:rPr>
              <a:t>Why we built another ONNX-to-C compiler</a:t>
            </a:r>
            <a:endParaRPr lang="en-US" sz="1700" dirty="0"/>
          </a:p>
        </p:txBody>
      </p:sp>
      <p:sp>
        <p:nvSpPr>
          <p:cNvPr id="6" name="Text 4"/>
          <p:cNvSpPr/>
          <p:nvPr/>
        </p:nvSpPr>
        <p:spPr>
          <a:xfrm>
            <a:off x="822960" y="4572000"/>
            <a:ext cx="10424160" cy="1737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onnx2c proved the value — and showed the gaps</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Dynamic dimensions were the central pain point</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The VLA-parameter idea triggered a new implementation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HISTORY  ·  MOTIVATION</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Why we started</a:t>
            </a:r>
            <a:endParaRPr lang="en-US" sz="2800" dirty="0"/>
          </a:p>
        </p:txBody>
      </p:sp>
      <p:sp>
        <p:nvSpPr>
          <p:cNvPr id="5" name="Shape 3"/>
          <p:cNvSpPr/>
          <p:nvPr/>
        </p:nvSpPr>
        <p:spPr>
          <a:xfrm>
            <a:off x="548640" y="1783080"/>
            <a:ext cx="5349240" cy="4114800"/>
          </a:xfrm>
          <a:prstGeom prst="roundRect">
            <a:avLst>
              <a:gd name="adj" fmla="val 1556"/>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1965960"/>
            <a:ext cx="491032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onnx2c — what worked</a:t>
            </a:r>
            <a:endParaRPr lang="en-US" sz="1500" dirty="0"/>
          </a:p>
        </p:txBody>
      </p:sp>
      <p:sp>
        <p:nvSpPr>
          <p:cNvPr id="7" name="Text 5"/>
          <p:cNvSpPr/>
          <p:nvPr/>
        </p:nvSpPr>
        <p:spPr>
          <a:xfrm>
            <a:off x="786384" y="2404872"/>
            <a:ext cx="4910328" cy="332841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Proved that compiling ONNX graphs to C is genuinely useful</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Gave a concrete reference for what generated C looks like</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Helped surface real requirements for embedded deployment</a:t>
            </a:r>
            <a:endParaRPr lang="en-US" sz="1250" dirty="0"/>
          </a:p>
        </p:txBody>
      </p:sp>
      <p:sp>
        <p:nvSpPr>
          <p:cNvPr id="8" name="Shape 6"/>
          <p:cNvSpPr/>
          <p:nvPr/>
        </p:nvSpPr>
        <p:spPr>
          <a:xfrm>
            <a:off x="6080760" y="1783080"/>
            <a:ext cx="5532120" cy="4114800"/>
          </a:xfrm>
          <a:prstGeom prst="roundRect">
            <a:avLst>
              <a:gd name="adj" fmla="val 1556"/>
            </a:avLst>
          </a:prstGeom>
          <a:solidFill>
            <a:srgbClr val="FBF3E7"/>
          </a:solidFill>
          <a:ln w="12700">
            <a:solidFill>
              <a:srgbClr val="EAD9BC"/>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6318504" y="1965960"/>
            <a:ext cx="5093208" cy="365760"/>
          </a:xfrm>
          <a:prstGeom prst="rect">
            <a:avLst/>
          </a:prstGeom>
          <a:noFill/>
          <a:ln/>
        </p:spPr>
        <p:txBody>
          <a:bodyPr wrap="square" lIns="0" tIns="0" rIns="0" bIns="0" rtlCol="0" anchor="ctr"/>
          <a:lstStyle/>
          <a:p>
            <a:pPr indent="0" marL="0">
              <a:buNone/>
            </a:pPr>
            <a:r>
              <a:rPr lang="en-US" sz="1500" b="1" dirty="0">
                <a:solidFill>
                  <a:srgbClr val="B5781F"/>
                </a:solidFill>
                <a:latin typeface="Calibri" pitchFamily="34" charset="0"/>
                <a:ea typeface="Calibri" pitchFamily="34" charset="-122"/>
                <a:cs typeface="Calibri" pitchFamily="34" charset="-120"/>
              </a:rPr>
              <a:t>onnx2c — what was missing for us</a:t>
            </a:r>
            <a:endParaRPr lang="en-US" sz="1500" dirty="0"/>
          </a:p>
        </p:txBody>
      </p:sp>
      <p:sp>
        <p:nvSpPr>
          <p:cNvPr id="10" name="Text 8"/>
          <p:cNvSpPr/>
          <p:nvPr/>
        </p:nvSpPr>
        <p:spPr>
          <a:xfrm>
            <a:off x="6318504" y="2404872"/>
            <a:ext cx="5093208" cy="332841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Generated-code quality was hard for our target use case</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Not enough control over the structure of the emitted C</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Dynamic-dimension support was a major pain point</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Embedded C must be readable, deterministic, reviewable</a:t>
            </a:r>
            <a:endParaRPr lang="en-US" sz="1250" dirty="0"/>
          </a:p>
        </p:txBody>
      </p:sp>
      <p:sp>
        <p:nvSpPr>
          <p:cNvPr id="11" name="Text 9"/>
          <p:cNvSpPr/>
          <p:nvPr/>
        </p:nvSpPr>
        <p:spPr>
          <a:xfrm>
            <a:off x="548640" y="6080760"/>
            <a:ext cx="11064240" cy="457200"/>
          </a:xfrm>
          <a:prstGeom prst="rect">
            <a:avLst/>
          </a:prstGeom>
          <a:noFill/>
          <a:ln/>
        </p:spPr>
        <p:txBody>
          <a:bodyPr wrap="square" lIns="0" tIns="0" rIns="0" bIns="0" rtlCol="0" anchor="ctr"/>
          <a:lstStyle/>
          <a:p>
            <a:pPr indent="0" marL="0">
              <a:buNone/>
            </a:pPr>
            <a:r>
              <a:rPr lang="en-US" sz="1300" i="1" dirty="0">
                <a:solidFill>
                  <a:srgbClr val="6B7C8F"/>
                </a:solidFill>
                <a:latin typeface="Calibri" pitchFamily="34" charset="0"/>
                <a:ea typeface="Calibri" pitchFamily="34" charset="-122"/>
                <a:cs typeface="Calibri" pitchFamily="34" charset="-120"/>
              </a:rPr>
              <a:t>For embedded systems, generated code is not an implementation detail — it is an artifact to review, analyze, certify, debug and further optimize.</a:t>
            </a:r>
            <a:endParaRPr lang="en-US" sz="1300" dirty="0"/>
          </a:p>
        </p:txBody>
      </p:sp>
      <p:sp>
        <p:nvSpPr>
          <p:cNvPr id="12"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3"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LANDSCAPE</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We looked for existing solutions first</a:t>
            </a:r>
            <a:endParaRPr lang="en-US" sz="2800" dirty="0"/>
          </a:p>
        </p:txBody>
      </p:sp>
      <p:sp>
        <p:nvSpPr>
          <p:cNvPr id="5" name="Shape 3"/>
          <p:cNvSpPr/>
          <p:nvPr/>
        </p:nvSpPr>
        <p:spPr>
          <a:xfrm>
            <a:off x="548640" y="1874520"/>
            <a:ext cx="11064240" cy="1143000"/>
          </a:xfrm>
          <a:prstGeom prst="roundRect">
            <a:avLst>
              <a:gd name="adj" fmla="val 5600"/>
            </a:avLst>
          </a:prstGeom>
          <a:solidFill>
            <a:srgbClr val="F2F6F8"/>
          </a:solidFill>
          <a:ln w="12700">
            <a:solidFill>
              <a:srgbClr val="DBE6EA"/>
            </a:solidFill>
            <a:prstDash val="solid"/>
          </a:ln>
          <a:effectLst>
            <a:outerShdw sx="100000" sy="100000" kx="0" ky="0" algn="bl" rotWithShape="0" blurRad="114300" dist="38100" dir="5400000">
              <a:srgbClr val="0A1F38">
                <a:alpha val="8000"/>
              </a:srgbClr>
            </a:outerShdw>
          </a:effectLst>
        </p:spPr>
      </p:sp>
      <p:sp>
        <p:nvSpPr>
          <p:cNvPr id="6" name="Text 4"/>
          <p:cNvSpPr/>
          <p:nvPr/>
        </p:nvSpPr>
        <p:spPr>
          <a:xfrm>
            <a:off x="777240" y="1965960"/>
            <a:ext cx="2468880" cy="960120"/>
          </a:xfrm>
          <a:prstGeom prst="rect">
            <a:avLst/>
          </a:prstGeom>
          <a:noFill/>
          <a:ln/>
        </p:spPr>
        <p:txBody>
          <a:bodyPr wrap="square" lIns="0" tIns="0" rIns="0" bIns="0" rtlCol="0" anchor="ctr"/>
          <a:lstStyle/>
          <a:p>
            <a:pPr indent="0" marL="0">
              <a:buNone/>
            </a:pPr>
            <a:r>
              <a:rPr lang="en-US" sz="1600" b="1" dirty="0">
                <a:solidFill>
                  <a:srgbClr val="0E2A47"/>
                </a:solidFill>
                <a:latin typeface="Consolas" pitchFamily="34" charset="0"/>
                <a:ea typeface="Consolas" pitchFamily="34" charset="-122"/>
                <a:cs typeface="Consolas" pitchFamily="34" charset="-120"/>
              </a:rPr>
              <a:t>onnx2c</a:t>
            </a:r>
            <a:endParaRPr lang="en-US" sz="1600" dirty="0"/>
          </a:p>
        </p:txBody>
      </p:sp>
      <p:sp>
        <p:nvSpPr>
          <p:cNvPr id="7" name="Text 5"/>
          <p:cNvSpPr/>
          <p:nvPr/>
        </p:nvSpPr>
        <p:spPr>
          <a:xfrm>
            <a:off x="3291840" y="2039112"/>
            <a:ext cx="4023360" cy="822960"/>
          </a:xfrm>
          <a:prstGeom prst="rect">
            <a:avLst/>
          </a:prstGeom>
          <a:noFill/>
          <a:ln/>
        </p:spPr>
        <p:txBody>
          <a:bodyPr wrap="square" lIns="0" tIns="0" rIns="0" bIns="0" rtlCol="0" anchor="ctr"/>
          <a:lstStyle/>
          <a:p>
            <a:pPr indent="0" marL="0">
              <a:buNone/>
            </a:pPr>
            <a:r>
              <a:rPr lang="en-US" sz="1250" b="1" dirty="0">
                <a:solidFill>
                  <a:srgbClr val="0E7C77"/>
                </a:solidFill>
                <a:latin typeface="Calibri" pitchFamily="34" charset="0"/>
                <a:ea typeface="Calibri" pitchFamily="34" charset="-122"/>
                <a:cs typeface="Calibri" pitchFamily="34" charset="-120"/>
              </a:rPr>
              <a:t>Strength  </a:t>
            </a:r>
            <a:pPr indent="0" marL="0">
              <a:buNone/>
            </a:pPr>
            <a:r>
              <a:rPr lang="en-US" sz="1250" dirty="0">
                <a:solidFill>
                  <a:srgbClr val="33475B"/>
                </a:solidFill>
                <a:latin typeface="Calibri" pitchFamily="34" charset="0"/>
                <a:ea typeface="Calibri" pitchFamily="34" charset="-122"/>
                <a:cs typeface="Calibri" pitchFamily="34" charset="-120"/>
              </a:rPr>
              <a:t>Closest match — direct ONNX-to-C</a:t>
            </a:r>
            <a:endParaRPr lang="en-US" sz="1250" dirty="0"/>
          </a:p>
        </p:txBody>
      </p:sp>
      <p:sp>
        <p:nvSpPr>
          <p:cNvPr id="8" name="Text 6"/>
          <p:cNvSpPr/>
          <p:nvPr/>
        </p:nvSpPr>
        <p:spPr>
          <a:xfrm>
            <a:off x="7406640" y="2039112"/>
            <a:ext cx="4023360" cy="822960"/>
          </a:xfrm>
          <a:prstGeom prst="rect">
            <a:avLst/>
          </a:prstGeom>
          <a:noFill/>
          <a:ln/>
        </p:spPr>
        <p:txBody>
          <a:bodyPr wrap="square" lIns="0" tIns="0" rIns="0" bIns="0" rtlCol="0" anchor="ctr"/>
          <a:lstStyle/>
          <a:p>
            <a:pPr indent="0" marL="0">
              <a:buNone/>
            </a:pPr>
            <a:r>
              <a:rPr lang="en-US" sz="1250" b="1" dirty="0">
                <a:solidFill>
                  <a:srgbClr val="B5781F"/>
                </a:solidFill>
                <a:latin typeface="Calibri" pitchFamily="34" charset="0"/>
                <a:ea typeface="Calibri" pitchFamily="34" charset="-122"/>
                <a:cs typeface="Calibri" pitchFamily="34" charset="-120"/>
              </a:rPr>
              <a:t>Gap for us  </a:t>
            </a:r>
            <a:pPr indent="0" marL="0">
              <a:buNone/>
            </a:pPr>
            <a:r>
              <a:rPr lang="en-US" sz="1250" dirty="0">
                <a:solidFill>
                  <a:srgbClr val="33475B"/>
                </a:solidFill>
                <a:latin typeface="Calibri" pitchFamily="34" charset="0"/>
                <a:ea typeface="Calibri" pitchFamily="34" charset="-122"/>
                <a:cs typeface="Calibri" pitchFamily="34" charset="-120"/>
              </a:rPr>
              <a:t>Quality &amp; control insufficient; weak on dynamic dims</a:t>
            </a:r>
            <a:endParaRPr lang="en-US" sz="1250" dirty="0"/>
          </a:p>
        </p:txBody>
      </p:sp>
      <p:sp>
        <p:nvSpPr>
          <p:cNvPr id="9" name="Shape 7"/>
          <p:cNvSpPr/>
          <p:nvPr/>
        </p:nvSpPr>
        <p:spPr>
          <a:xfrm>
            <a:off x="548640" y="3172968"/>
            <a:ext cx="11064240" cy="1143000"/>
          </a:xfrm>
          <a:prstGeom prst="roundRect">
            <a:avLst>
              <a:gd name="adj" fmla="val 5600"/>
            </a:avLst>
          </a:prstGeom>
          <a:solidFill>
            <a:srgbClr val="F2F6F8"/>
          </a:solidFill>
          <a:ln w="12700">
            <a:solidFill>
              <a:srgbClr val="DBE6EA"/>
            </a:solidFill>
            <a:prstDash val="solid"/>
          </a:ln>
          <a:effectLst>
            <a:outerShdw sx="100000" sy="100000" kx="0" ky="0" algn="bl" rotWithShape="0" blurRad="114300" dist="38100" dir="5400000">
              <a:srgbClr val="0A1F38">
                <a:alpha val="8000"/>
              </a:srgbClr>
            </a:outerShdw>
          </a:effectLst>
        </p:spPr>
      </p:sp>
      <p:sp>
        <p:nvSpPr>
          <p:cNvPr id="10" name="Text 8"/>
          <p:cNvSpPr/>
          <p:nvPr/>
        </p:nvSpPr>
        <p:spPr>
          <a:xfrm>
            <a:off x="777240" y="3264408"/>
            <a:ext cx="2468880" cy="960120"/>
          </a:xfrm>
          <a:prstGeom prst="rect">
            <a:avLst/>
          </a:prstGeom>
          <a:noFill/>
          <a:ln/>
        </p:spPr>
        <p:txBody>
          <a:bodyPr wrap="square" lIns="0" tIns="0" rIns="0" bIns="0" rtlCol="0" anchor="ctr"/>
          <a:lstStyle/>
          <a:p>
            <a:pPr indent="0" marL="0">
              <a:buNone/>
            </a:pPr>
            <a:r>
              <a:rPr lang="en-US" sz="1600" b="1" dirty="0">
                <a:solidFill>
                  <a:srgbClr val="0E2A47"/>
                </a:solidFill>
                <a:latin typeface="Consolas" pitchFamily="34" charset="0"/>
                <a:ea typeface="Consolas" pitchFamily="34" charset="-122"/>
                <a:cs typeface="Consolas" pitchFamily="34" charset="-120"/>
              </a:rPr>
              <a:t>Apache TVM</a:t>
            </a:r>
            <a:endParaRPr lang="en-US" sz="1600" dirty="0"/>
          </a:p>
        </p:txBody>
      </p:sp>
      <p:sp>
        <p:nvSpPr>
          <p:cNvPr id="11" name="Text 9"/>
          <p:cNvSpPr/>
          <p:nvPr/>
        </p:nvSpPr>
        <p:spPr>
          <a:xfrm>
            <a:off x="3291840" y="3337560"/>
            <a:ext cx="4023360" cy="822960"/>
          </a:xfrm>
          <a:prstGeom prst="rect">
            <a:avLst/>
          </a:prstGeom>
          <a:noFill/>
          <a:ln/>
        </p:spPr>
        <p:txBody>
          <a:bodyPr wrap="square" lIns="0" tIns="0" rIns="0" bIns="0" rtlCol="0" anchor="ctr"/>
          <a:lstStyle/>
          <a:p>
            <a:pPr indent="0" marL="0">
              <a:buNone/>
            </a:pPr>
            <a:r>
              <a:rPr lang="en-US" sz="1250" b="1" dirty="0">
                <a:solidFill>
                  <a:srgbClr val="0E7C77"/>
                </a:solidFill>
                <a:latin typeface="Calibri" pitchFamily="34" charset="0"/>
                <a:ea typeface="Calibri" pitchFamily="34" charset="-122"/>
                <a:cs typeface="Calibri" pitchFamily="34" charset="-120"/>
              </a:rPr>
              <a:t>Strength  </a:t>
            </a:r>
            <a:pPr indent="0" marL="0">
              <a:buNone/>
            </a:pPr>
            <a:r>
              <a:rPr lang="en-US" sz="1250" dirty="0">
                <a:solidFill>
                  <a:srgbClr val="33475B"/>
                </a:solidFill>
                <a:latin typeface="Calibri" pitchFamily="34" charset="0"/>
                <a:ea typeface="Calibri" pitchFamily="34" charset="-122"/>
                <a:cs typeface="Calibri" pitchFamily="34" charset="-120"/>
              </a:rPr>
              <a:t>Mature ML compiler stack</a:t>
            </a:r>
            <a:endParaRPr lang="en-US" sz="1250" dirty="0"/>
          </a:p>
        </p:txBody>
      </p:sp>
      <p:sp>
        <p:nvSpPr>
          <p:cNvPr id="12" name="Text 10"/>
          <p:cNvSpPr/>
          <p:nvPr/>
        </p:nvSpPr>
        <p:spPr>
          <a:xfrm>
            <a:off x="7406640" y="3337560"/>
            <a:ext cx="4023360" cy="822960"/>
          </a:xfrm>
          <a:prstGeom prst="rect">
            <a:avLst/>
          </a:prstGeom>
          <a:noFill/>
          <a:ln/>
        </p:spPr>
        <p:txBody>
          <a:bodyPr wrap="square" lIns="0" tIns="0" rIns="0" bIns="0" rtlCol="0" anchor="ctr"/>
          <a:lstStyle/>
          <a:p>
            <a:pPr indent="0" marL="0">
              <a:buNone/>
            </a:pPr>
            <a:r>
              <a:rPr lang="en-US" sz="1250" b="1" dirty="0">
                <a:solidFill>
                  <a:srgbClr val="B5503A"/>
                </a:solidFill>
                <a:latin typeface="Calibri" pitchFamily="34" charset="0"/>
                <a:ea typeface="Calibri" pitchFamily="34" charset="-122"/>
                <a:cs typeface="Calibri" pitchFamily="34" charset="-120"/>
              </a:rPr>
              <a:t>Gap for us  </a:t>
            </a:r>
            <a:pPr indent="0" marL="0">
              <a:buNone/>
            </a:pPr>
            <a:r>
              <a:rPr lang="en-US" sz="1250" dirty="0">
                <a:solidFill>
                  <a:srgbClr val="33475B"/>
                </a:solidFill>
                <a:latin typeface="Calibri" pitchFamily="34" charset="0"/>
                <a:ea typeface="Calibri" pitchFamily="34" charset="-122"/>
                <a:cs typeface="Calibri" pitchFamily="34" charset="-120"/>
              </a:rPr>
              <a:t>No straightforward standalone ONNX-to-generic-C path</a:t>
            </a:r>
            <a:endParaRPr lang="en-US" sz="1250" dirty="0"/>
          </a:p>
        </p:txBody>
      </p:sp>
      <p:sp>
        <p:nvSpPr>
          <p:cNvPr id="13" name="Shape 11"/>
          <p:cNvSpPr/>
          <p:nvPr/>
        </p:nvSpPr>
        <p:spPr>
          <a:xfrm>
            <a:off x="548640" y="4471416"/>
            <a:ext cx="11064240" cy="1143000"/>
          </a:xfrm>
          <a:prstGeom prst="roundRect">
            <a:avLst>
              <a:gd name="adj" fmla="val 5600"/>
            </a:avLst>
          </a:prstGeom>
          <a:solidFill>
            <a:srgbClr val="F2F6F8"/>
          </a:solidFill>
          <a:ln w="12700">
            <a:solidFill>
              <a:srgbClr val="DBE6EA"/>
            </a:solidFill>
            <a:prstDash val="solid"/>
          </a:ln>
          <a:effectLst>
            <a:outerShdw sx="100000" sy="100000" kx="0" ky="0" algn="bl" rotWithShape="0" blurRad="114300" dist="38100" dir="5400000">
              <a:srgbClr val="0A1F38">
                <a:alpha val="8000"/>
              </a:srgbClr>
            </a:outerShdw>
          </a:effectLst>
        </p:spPr>
      </p:sp>
      <p:sp>
        <p:nvSpPr>
          <p:cNvPr id="14" name="Text 12"/>
          <p:cNvSpPr/>
          <p:nvPr/>
        </p:nvSpPr>
        <p:spPr>
          <a:xfrm>
            <a:off x="777240" y="4562856"/>
            <a:ext cx="2468880" cy="960120"/>
          </a:xfrm>
          <a:prstGeom prst="rect">
            <a:avLst/>
          </a:prstGeom>
          <a:noFill/>
          <a:ln/>
        </p:spPr>
        <p:txBody>
          <a:bodyPr wrap="square" lIns="0" tIns="0" rIns="0" bIns="0" rtlCol="0" anchor="ctr"/>
          <a:lstStyle/>
          <a:p>
            <a:pPr indent="0" marL="0">
              <a:buNone/>
            </a:pPr>
            <a:r>
              <a:rPr lang="en-US" sz="1600" b="1" dirty="0">
                <a:solidFill>
                  <a:srgbClr val="0E2A47"/>
                </a:solidFill>
                <a:latin typeface="Consolas" pitchFamily="34" charset="0"/>
                <a:ea typeface="Consolas" pitchFamily="34" charset="-122"/>
                <a:cs typeface="Consolas" pitchFamily="34" charset="-120"/>
              </a:rPr>
              <a:t>IREE / MLIR</a:t>
            </a:r>
            <a:endParaRPr lang="en-US" sz="1600" dirty="0"/>
          </a:p>
        </p:txBody>
      </p:sp>
      <p:sp>
        <p:nvSpPr>
          <p:cNvPr id="15" name="Text 13"/>
          <p:cNvSpPr/>
          <p:nvPr/>
        </p:nvSpPr>
        <p:spPr>
          <a:xfrm>
            <a:off x="3291840" y="4636008"/>
            <a:ext cx="4023360" cy="822960"/>
          </a:xfrm>
          <a:prstGeom prst="rect">
            <a:avLst/>
          </a:prstGeom>
          <a:noFill/>
          <a:ln/>
        </p:spPr>
        <p:txBody>
          <a:bodyPr wrap="square" lIns="0" tIns="0" rIns="0" bIns="0" rtlCol="0" anchor="ctr"/>
          <a:lstStyle/>
          <a:p>
            <a:pPr indent="0" marL="0">
              <a:buNone/>
            </a:pPr>
            <a:r>
              <a:rPr lang="en-US" sz="1250" b="1" dirty="0">
                <a:solidFill>
                  <a:srgbClr val="0E7C77"/>
                </a:solidFill>
                <a:latin typeface="Calibri" pitchFamily="34" charset="0"/>
                <a:ea typeface="Calibri" pitchFamily="34" charset="-122"/>
                <a:cs typeface="Calibri" pitchFamily="34" charset="-120"/>
              </a:rPr>
              <a:t>Strength  </a:t>
            </a:r>
            <a:pPr indent="0" marL="0">
              <a:buNone/>
            </a:pPr>
            <a:r>
              <a:rPr lang="en-US" sz="1250" dirty="0">
                <a:solidFill>
                  <a:srgbClr val="33475B"/>
                </a:solidFill>
                <a:latin typeface="Calibri" pitchFamily="34" charset="0"/>
                <a:ea typeface="Calibri" pitchFamily="34" charset="-122"/>
                <a:cs typeface="Calibri" pitchFamily="34" charset="-120"/>
              </a:rPr>
              <a:t>Strong staged-lowering compiler infra</a:t>
            </a:r>
            <a:endParaRPr lang="en-US" sz="1250" dirty="0"/>
          </a:p>
        </p:txBody>
      </p:sp>
      <p:sp>
        <p:nvSpPr>
          <p:cNvPr id="16" name="Text 14"/>
          <p:cNvSpPr/>
          <p:nvPr/>
        </p:nvSpPr>
        <p:spPr>
          <a:xfrm>
            <a:off x="7406640" y="4636008"/>
            <a:ext cx="4023360" cy="822960"/>
          </a:xfrm>
          <a:prstGeom prst="rect">
            <a:avLst/>
          </a:prstGeom>
          <a:noFill/>
          <a:ln/>
        </p:spPr>
        <p:txBody>
          <a:bodyPr wrap="square" lIns="0" tIns="0" rIns="0" bIns="0" rtlCol="0" anchor="ctr"/>
          <a:lstStyle/>
          <a:p>
            <a:pPr indent="0" marL="0">
              <a:buNone/>
            </a:pPr>
            <a:r>
              <a:rPr lang="en-US" sz="1250" b="1" dirty="0">
                <a:solidFill>
                  <a:srgbClr val="B5503A"/>
                </a:solidFill>
                <a:latin typeface="Calibri" pitchFamily="34" charset="0"/>
                <a:ea typeface="Calibri" pitchFamily="34" charset="-122"/>
                <a:cs typeface="Calibri" pitchFamily="34" charset="-120"/>
              </a:rPr>
              <a:t>Gap for us  </a:t>
            </a:r>
            <a:pPr indent="0" marL="0">
              <a:buNone/>
            </a:pPr>
            <a:r>
              <a:rPr lang="en-US" sz="1250" dirty="0">
                <a:solidFill>
                  <a:srgbClr val="33475B"/>
                </a:solidFill>
                <a:latin typeface="Calibri" pitchFamily="34" charset="0"/>
                <a:ea typeface="Calibri" pitchFamily="34" charset="-122"/>
                <a:cs typeface="Calibri" pitchFamily="34" charset="-120"/>
              </a:rPr>
              <a:t>Key IR stays inside the stack; not auditable C handoff</a:t>
            </a:r>
            <a:endParaRPr lang="en-US" sz="1250" dirty="0"/>
          </a:p>
        </p:txBody>
      </p:sp>
      <p:sp>
        <p:nvSpPr>
          <p:cNvPr id="17" name="Text 15"/>
          <p:cNvSpPr/>
          <p:nvPr/>
        </p:nvSpPr>
        <p:spPr>
          <a:xfrm>
            <a:off x="548640" y="5943600"/>
            <a:ext cx="11064240" cy="457200"/>
          </a:xfrm>
          <a:prstGeom prst="rect">
            <a:avLst/>
          </a:prstGeom>
          <a:noFill/>
          <a:ln/>
        </p:spPr>
        <p:txBody>
          <a:bodyPr wrap="square" lIns="0" tIns="0" rIns="0" bIns="0" rtlCol="0" anchor="ctr"/>
          <a:lstStyle/>
          <a:p>
            <a:pPr indent="0" marL="0">
              <a:buNone/>
            </a:pPr>
            <a:r>
              <a:rPr lang="en-US" sz="1300" i="1" dirty="0">
                <a:solidFill>
                  <a:srgbClr val="6B7C8F"/>
                </a:solidFill>
                <a:latin typeface="Calibri" pitchFamily="34" charset="0"/>
                <a:ea typeface="Calibri" pitchFamily="34" charset="-122"/>
                <a:cs typeface="Calibri" pitchFamily="34" charset="-120"/>
              </a:rPr>
              <a:t>We wanted a standalone, deterministic, auditable ONNX-to-generic-C flow — and no existing tool matched it at the time.</a:t>
            </a:r>
            <a:endParaRPr lang="en-US" sz="1300" dirty="0"/>
          </a:p>
        </p:txBody>
      </p:sp>
      <p:sp>
        <p:nvSpPr>
          <p:cNvPr id="18" name="Text 1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9" name="Text 17"/>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THE TRIGGER</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The dynamic-dimension idea: C99 VLA parameters</a:t>
            </a:r>
            <a:endParaRPr lang="en-US" sz="2800" dirty="0"/>
          </a:p>
        </p:txBody>
      </p:sp>
      <p:sp>
        <p:nvSpPr>
          <p:cNvPr id="5" name="Shape 3"/>
          <p:cNvSpPr/>
          <p:nvPr/>
        </p:nvSpPr>
        <p:spPr>
          <a:xfrm>
            <a:off x="548640" y="1783080"/>
            <a:ext cx="5029200" cy="2194560"/>
          </a:xfrm>
          <a:prstGeom prst="roundRect">
            <a:avLst>
              <a:gd name="adj" fmla="val 291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1965960"/>
            <a:ext cx="45902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The pain point → an idea</a:t>
            </a:r>
            <a:endParaRPr lang="en-US" sz="1500" dirty="0"/>
          </a:p>
        </p:txBody>
      </p:sp>
      <p:sp>
        <p:nvSpPr>
          <p:cNvPr id="7" name="Text 5"/>
          <p:cNvSpPr/>
          <p:nvPr/>
        </p:nvSpPr>
        <p:spPr>
          <a:xfrm>
            <a:off x="786384" y="2404872"/>
            <a:ext cx="4590288" cy="140817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onnx2c's weak spot was dynamic dimensions</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Idea: represent some dynamic dims as C99 VLA parameters</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Rank stays static; extents become runtime arguments</a:t>
            </a:r>
            <a:endParaRPr lang="en-US" sz="1250" dirty="0"/>
          </a:p>
        </p:txBody>
      </p:sp>
      <p:sp>
        <p:nvSpPr>
          <p:cNvPr id="8" name="Shape 6"/>
          <p:cNvSpPr/>
          <p:nvPr/>
        </p:nvSpPr>
        <p:spPr>
          <a:xfrm>
            <a:off x="548640" y="4114800"/>
            <a:ext cx="5029200" cy="2011680"/>
          </a:xfrm>
          <a:prstGeom prst="roundRect">
            <a:avLst>
              <a:gd name="adj" fmla="val 3182"/>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786384" y="4297680"/>
            <a:ext cx="45902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Why it appealed</a:t>
            </a:r>
            <a:endParaRPr lang="en-US" sz="1500" dirty="0"/>
          </a:p>
        </p:txBody>
      </p:sp>
      <p:sp>
        <p:nvSpPr>
          <p:cNvPr id="10" name="Text 8"/>
          <p:cNvSpPr/>
          <p:nvPr/>
        </p:nvSpPr>
        <p:spPr>
          <a:xfrm>
            <a:off x="786384" y="4736592"/>
            <a:ext cx="4590288" cy="122529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C can express runtime tensor extents in the signature</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The generated ABI stays explicit</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Loop bounds can use explicit extent parameters</a:t>
            </a:r>
            <a:endParaRPr lang="en-US" sz="1250" dirty="0"/>
          </a:p>
        </p:txBody>
      </p:sp>
      <p:sp>
        <p:nvSpPr>
          <p:cNvPr id="11" name="Shape 9"/>
          <p:cNvSpPr/>
          <p:nvPr/>
        </p:nvSpPr>
        <p:spPr>
          <a:xfrm>
            <a:off x="5852160" y="1783080"/>
            <a:ext cx="5760720" cy="1463040"/>
          </a:xfrm>
          <a:prstGeom prst="roundRect">
            <a:avLst>
              <a:gd name="adj" fmla="val 3750"/>
            </a:avLst>
          </a:prstGeom>
          <a:solidFill>
            <a:srgbClr val="0C2138"/>
          </a:solidFill>
          <a:ln/>
          <a:effectLst>
            <a:outerShdw sx="100000" sy="100000" kx="0" ky="0" algn="bl" rotWithShape="0" blurRad="114300" dist="38100" dir="5400000">
              <a:srgbClr val="0A1F38">
                <a:alpha val="14000"/>
              </a:srgbClr>
            </a:outerShdw>
          </a:effectLst>
        </p:spPr>
      </p:sp>
      <p:sp>
        <p:nvSpPr>
          <p:cNvPr id="12" name="Text 10"/>
          <p:cNvSpPr/>
          <p:nvPr/>
        </p:nvSpPr>
        <p:spPr>
          <a:xfrm>
            <a:off x="6035040" y="1856232"/>
            <a:ext cx="539496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VLA parameters — known rank, runtime extents</a:t>
            </a:r>
            <a:endParaRPr lang="en-US" sz="1050" dirty="0"/>
          </a:p>
        </p:txBody>
      </p:sp>
      <p:sp>
        <p:nvSpPr>
          <p:cNvPr id="13" name="Text 11"/>
          <p:cNvSpPr/>
          <p:nvPr/>
        </p:nvSpPr>
        <p:spPr>
          <a:xfrm>
            <a:off x="6035040" y="2167128"/>
            <a:ext cx="5394960" cy="969264"/>
          </a:xfrm>
          <a:prstGeom prst="rect">
            <a:avLst/>
          </a:prstGeom>
          <a:noFill/>
          <a:ln/>
        </p:spPr>
        <p:txBody>
          <a:bodyPr wrap="square" lIns="0" tIns="0" rIns="0" bIns="0" rtlCol="0" anchor="t"/>
          <a:lstStyle/>
          <a:p>
            <a:pPr algn="l" indent="0" marL="0">
              <a:lnSpc>
                <a:spcPct val="105000"/>
              </a:lnSpc>
              <a:buNone/>
            </a:pPr>
            <a:r>
              <a:rPr lang="en-US" sz="1400" dirty="0">
                <a:solidFill>
                  <a:srgbClr val="D7E4EC"/>
                </a:solidFill>
                <a:latin typeface="Consolas" pitchFamily="34" charset="0"/>
                <a:ea typeface="Consolas" pitchFamily="34" charset="-122"/>
                <a:cs typeface="Consolas" pitchFamily="34" charset="-120"/>
              </a:rPr>
              <a:t>void model(int N, int C,</a:t>
            </a:r>
            <a:endParaRPr lang="en-US" sz="1400" dirty="0"/>
          </a:p>
          <a:p>
            <a:pPr algn="l" indent="0" marL="0">
              <a:lnSpc>
                <a:spcPct val="105000"/>
              </a:lnSpc>
              <a:buNone/>
            </a:pPr>
            <a:r>
              <a:rPr lang="en-US" sz="1400" dirty="0">
                <a:solidFill>
                  <a:srgbClr val="D7E4EC"/>
                </a:solidFill>
                <a:latin typeface="Consolas" pitchFamily="34" charset="0"/>
                <a:ea typeface="Consolas" pitchFamily="34" charset="-122"/>
                <a:cs typeface="Consolas" pitchFamily="34" charset="-120"/>
              </a:rPr>
              <a:t>           const float x[restrict N][C],</a:t>
            </a:r>
            <a:endParaRPr lang="en-US" sz="1400" dirty="0"/>
          </a:p>
          <a:p>
            <a:pPr algn="l" indent="0" marL="0">
              <a:lnSpc>
                <a:spcPct val="105000"/>
              </a:lnSpc>
              <a:buNone/>
            </a:pPr>
            <a:r>
              <a:rPr lang="en-US" sz="1400" dirty="0">
                <a:solidFill>
                  <a:srgbClr val="D7E4EC"/>
                </a:solidFill>
                <a:latin typeface="Consolas" pitchFamily="34" charset="0"/>
                <a:ea typeface="Consolas" pitchFamily="34" charset="-122"/>
                <a:cs typeface="Consolas" pitchFamily="34" charset="-120"/>
              </a:rPr>
              <a:t>           float       y[restrict N][C]);</a:t>
            </a:r>
            <a:endParaRPr lang="en-US" sz="1400" dirty="0"/>
          </a:p>
        </p:txBody>
      </p:sp>
      <p:sp>
        <p:nvSpPr>
          <p:cNvPr id="14" name="Shape 12"/>
          <p:cNvSpPr/>
          <p:nvPr/>
        </p:nvSpPr>
        <p:spPr>
          <a:xfrm>
            <a:off x="5852160" y="3429000"/>
            <a:ext cx="5760720" cy="2697480"/>
          </a:xfrm>
          <a:prstGeom prst="roundRect">
            <a:avLst>
              <a:gd name="adj" fmla="val 2373"/>
            </a:avLst>
          </a:prstGeom>
          <a:solidFill>
            <a:srgbClr val="FBF3E7"/>
          </a:solidFill>
          <a:ln w="12700">
            <a:solidFill>
              <a:srgbClr val="EAD9BC"/>
            </a:solidFill>
            <a:prstDash val="solid"/>
          </a:ln>
        </p:spPr>
      </p:sp>
      <p:sp>
        <p:nvSpPr>
          <p:cNvPr id="15" name="Text 13"/>
          <p:cNvSpPr/>
          <p:nvPr/>
        </p:nvSpPr>
        <p:spPr>
          <a:xfrm>
            <a:off x="6080760" y="3566160"/>
            <a:ext cx="5303520" cy="548640"/>
          </a:xfrm>
          <a:prstGeom prst="rect">
            <a:avLst/>
          </a:prstGeom>
          <a:noFill/>
          <a:ln/>
        </p:spPr>
        <p:txBody>
          <a:bodyPr wrap="square" lIns="0" tIns="0" rIns="0" bIns="0" rtlCol="0" anchor="ctr"/>
          <a:lstStyle/>
          <a:p>
            <a:pPr indent="0" marL="0">
              <a:buNone/>
            </a:pPr>
            <a:r>
              <a:rPr lang="en-US" sz="1350" b="1" dirty="0">
                <a:solidFill>
                  <a:srgbClr val="B5781F"/>
                </a:solidFill>
                <a:latin typeface="Calibri" pitchFamily="34" charset="0"/>
                <a:ea typeface="Calibri" pitchFamily="34" charset="-122"/>
                <a:cs typeface="Calibri" pitchFamily="34" charset="-120"/>
              </a:rPr>
              <a:t>Representation is not semantics — what VLAs do NOT solve</a:t>
            </a:r>
            <a:endParaRPr lang="en-US" sz="1350" dirty="0"/>
          </a:p>
        </p:txBody>
      </p:sp>
      <p:sp>
        <p:nvSpPr>
          <p:cNvPr id="16" name="Text 14"/>
          <p:cNvSpPr/>
          <p:nvPr/>
        </p:nvSpPr>
        <p:spPr>
          <a:xfrm>
            <a:off x="6080760" y="4114800"/>
            <a:ext cx="5349240" cy="18745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Static memory bounds for temporaries and buffers</a:t>
            </a:r>
            <a:endParaRPr lang="en-US" sz="1250" dirty="0"/>
          </a:p>
          <a:p>
            <a:pPr marL="342900" indent="-3429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Dynamic rank</a:t>
            </a:r>
            <a:endParaRPr lang="en-US" sz="1250" dirty="0"/>
          </a:p>
          <a:p>
            <a:pPr marL="342900" indent="-3429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Unbounded sequence length and string size</a:t>
            </a:r>
            <a:endParaRPr lang="en-US" sz="1250" dirty="0"/>
          </a:p>
          <a:p>
            <a:pPr marL="342900" indent="-342900">
              <a:buSzPct val="100000"/>
              <a:buChar char="•"/>
            </a:pPr>
            <a:r>
              <a:rPr lang="en-US" sz="1250" dirty="0">
                <a:solidFill>
                  <a:srgbClr val="33475B"/>
                </a:solidFill>
                <a:latin typeface="Calibri" pitchFamily="34" charset="0"/>
                <a:ea typeface="Calibri" pitchFamily="34" charset="-122"/>
                <a:cs typeface="Calibri" pitchFamily="34" charset="-120"/>
              </a:rPr>
              <a:t>Targets that lack VLA support</a:t>
            </a:r>
            <a:endParaRPr lang="en-US" sz="1250" dirty="0"/>
          </a:p>
        </p:txBody>
      </p:sp>
      <p:sp>
        <p:nvSpPr>
          <p:cNvPr id="17"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8" name="Text 1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DEEP DIVE</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Why N-dimensional C types matter</a:t>
            </a:r>
            <a:endParaRPr lang="en-US" sz="2800" dirty="0"/>
          </a:p>
        </p:txBody>
      </p:sp>
      <p:sp>
        <p:nvSpPr>
          <p:cNvPr id="5" name="Shape 3"/>
          <p:cNvSpPr/>
          <p:nvPr/>
        </p:nvSpPr>
        <p:spPr>
          <a:xfrm>
            <a:off x="548640" y="1828800"/>
            <a:ext cx="5394960" cy="3200400"/>
          </a:xfrm>
          <a:prstGeom prst="roundRect">
            <a:avLst>
              <a:gd name="adj" fmla="val 1714"/>
            </a:avLst>
          </a:prstGeom>
          <a:solidFill>
            <a:srgbClr val="0C2138"/>
          </a:solidFill>
          <a:ln/>
          <a:effectLst>
            <a:outerShdw sx="100000" sy="100000" kx="0" ky="0" algn="bl" rotWithShape="0" blurRad="114300" dist="38100" dir="5400000">
              <a:srgbClr val="0A1F38">
                <a:alpha val="14000"/>
              </a:srgbClr>
            </a:outerShdw>
          </a:effectLst>
        </p:spPr>
      </p:sp>
      <p:sp>
        <p:nvSpPr>
          <p:cNvPr id="6" name="Text 4"/>
          <p:cNvSpPr/>
          <p:nvPr/>
        </p:nvSpPr>
        <p:spPr>
          <a:xfrm>
            <a:off x="731520" y="1901952"/>
            <a:ext cx="502920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Flat 1-D buffers — structure is only convention</a:t>
            </a:r>
            <a:endParaRPr lang="en-US" sz="1050" dirty="0"/>
          </a:p>
        </p:txBody>
      </p:sp>
      <p:sp>
        <p:nvSpPr>
          <p:cNvPr id="7" name="Text 5"/>
          <p:cNvSpPr/>
          <p:nvPr/>
        </p:nvSpPr>
        <p:spPr>
          <a:xfrm>
            <a:off x="731520" y="2212848"/>
            <a:ext cx="5029200" cy="2706624"/>
          </a:xfrm>
          <a:prstGeom prst="rect">
            <a:avLst/>
          </a:prstGeom>
          <a:noFill/>
          <a:ln/>
        </p:spPr>
        <p:txBody>
          <a:bodyPr wrap="square" lIns="0" tIns="0" rIns="0" bIns="0" rtlCol="0" anchor="t"/>
          <a:lstStyle/>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void add_flat(int N, int 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const float *restrict a,</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const float *restrict b,</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float *restrict out)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for (int n=0; n&lt;N; ++n)</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for (int c=0; c&lt;C; ++c)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int idx = n*C + 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out[idx] = a[idx] + b[idx];</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a:t>
            </a:r>
            <a:endParaRPr lang="en-US" sz="1250" dirty="0"/>
          </a:p>
        </p:txBody>
      </p:sp>
      <p:sp>
        <p:nvSpPr>
          <p:cNvPr id="8" name="Shape 6"/>
          <p:cNvSpPr/>
          <p:nvPr/>
        </p:nvSpPr>
        <p:spPr>
          <a:xfrm>
            <a:off x="6217920" y="1828800"/>
            <a:ext cx="5394960" cy="3200400"/>
          </a:xfrm>
          <a:prstGeom prst="roundRect">
            <a:avLst>
              <a:gd name="adj" fmla="val 1714"/>
            </a:avLst>
          </a:prstGeom>
          <a:solidFill>
            <a:srgbClr val="0C2138"/>
          </a:solidFill>
          <a:ln/>
          <a:effectLst>
            <a:outerShdw sx="100000" sy="100000" kx="0" ky="0" algn="bl" rotWithShape="0" blurRad="114300" dist="38100" dir="5400000">
              <a:srgbClr val="0A1F38">
                <a:alpha val="14000"/>
              </a:srgbClr>
            </a:outerShdw>
          </a:effectLst>
        </p:spPr>
      </p:sp>
      <p:sp>
        <p:nvSpPr>
          <p:cNvPr id="9" name="Text 7"/>
          <p:cNvSpPr/>
          <p:nvPr/>
        </p:nvSpPr>
        <p:spPr>
          <a:xfrm>
            <a:off x="6400800" y="1901952"/>
            <a:ext cx="502920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N-D VLA types — rank &amp; extent live in the type</a:t>
            </a:r>
            <a:endParaRPr lang="en-US" sz="1050" dirty="0"/>
          </a:p>
        </p:txBody>
      </p:sp>
      <p:sp>
        <p:nvSpPr>
          <p:cNvPr id="10" name="Text 8"/>
          <p:cNvSpPr/>
          <p:nvPr/>
        </p:nvSpPr>
        <p:spPr>
          <a:xfrm>
            <a:off x="6400800" y="2212848"/>
            <a:ext cx="5029200" cy="2706624"/>
          </a:xfrm>
          <a:prstGeom prst="rect">
            <a:avLst/>
          </a:prstGeom>
          <a:noFill/>
          <a:ln/>
        </p:spPr>
        <p:txBody>
          <a:bodyPr wrap="square" lIns="0" tIns="0" rIns="0" bIns="0" rtlCol="0" anchor="t"/>
          <a:lstStyle/>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void add_vla(int N, int 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const float a[restrict N][C],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const float b[restrict N][C],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float out[restrict N][C])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for (int n=0; n&lt;N; ++n)</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for (int c=0; c&lt;C; ++c)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out[n][c] = a[n][c] + b[n][c];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a:t>
            </a:r>
            <a:endParaRPr lang="en-US" sz="1250" dirty="0"/>
          </a:p>
        </p:txBody>
      </p:sp>
      <p:sp>
        <p:nvSpPr>
          <p:cNvPr id="11" name="Shape 9"/>
          <p:cNvSpPr/>
          <p:nvPr/>
        </p:nvSpPr>
        <p:spPr>
          <a:xfrm>
            <a:off x="548640" y="5166360"/>
            <a:ext cx="11064240" cy="1051560"/>
          </a:xfrm>
          <a:prstGeom prst="roundRect">
            <a:avLst>
              <a:gd name="adj" fmla="val 6087"/>
            </a:avLst>
          </a:prstGeom>
          <a:solidFill>
            <a:srgbClr val="0E2A47"/>
          </a:solidFill>
          <a:ln/>
        </p:spPr>
      </p:sp>
      <p:sp>
        <p:nvSpPr>
          <p:cNvPr id="12" name="Text 10"/>
          <p:cNvSpPr/>
          <p:nvPr/>
        </p:nvSpPr>
        <p:spPr>
          <a:xfrm>
            <a:off x="868680" y="5166360"/>
            <a:ext cx="10424160" cy="1051560"/>
          </a:xfrm>
          <a:prstGeom prst="rect">
            <a:avLst/>
          </a:prstGeom>
          <a:noFill/>
          <a:ln/>
        </p:spPr>
        <p:txBody>
          <a:bodyPr wrap="square" lIns="0" tIns="0" rIns="0" bIns="0" rtlCol="0" anchor="ctr"/>
          <a:lstStyle/>
          <a:p>
            <a:pPr indent="0" marL="0">
              <a:buNone/>
            </a:pPr>
            <a:r>
              <a:rPr lang="en-US" sz="1350" b="1" dirty="0">
                <a:solidFill>
                  <a:srgbClr val="E8A13A"/>
                </a:solidFill>
                <a:latin typeface="Calibri" pitchFamily="34" charset="0"/>
                <a:ea typeface="Calibri" pitchFamily="34" charset="-122"/>
                <a:cs typeface="Calibri" pitchFamily="34" charset="-120"/>
              </a:rPr>
              <a:t>The subtle point:  </a:t>
            </a:r>
            <a:pPr indent="0" marL="0">
              <a:buNone/>
            </a:pPr>
            <a:r>
              <a:rPr lang="en-US" sz="1350" dirty="0">
                <a:solidFill>
                  <a:srgbClr val="DCE8F0"/>
                </a:solidFill>
                <a:latin typeface="Calibri" pitchFamily="34" charset="0"/>
                <a:ea typeface="Calibri" pitchFamily="34" charset="-122"/>
                <a:cs typeface="Calibri" pitchFamily="34" charset="-120"/>
              </a:rPr>
              <a:t>accessing beyond a declared array object is undefined behaviour — even when the next tensor row is contiguous in memory. Keeping tensor structure in the type improves readability, reviewability and downstream analysis.</a:t>
            </a:r>
            <a:endParaRPr lang="en-US" sz="1350" dirty="0"/>
          </a:p>
        </p:txBody>
      </p:sp>
      <p:sp>
        <p:nvSpPr>
          <p:cNvPr id="13" name="Text 11"/>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4" name="Text 12"/>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THE TURNING POINT</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From experiment to coverage project</a:t>
            </a:r>
            <a:endParaRPr lang="en-US" sz="2800" dirty="0"/>
          </a:p>
        </p:txBody>
      </p:sp>
      <p:sp>
        <p:nvSpPr>
          <p:cNvPr id="5" name="Shape 3"/>
          <p:cNvSpPr/>
          <p:nvPr/>
        </p:nvSpPr>
        <p:spPr>
          <a:xfrm>
            <a:off x="548640" y="2011680"/>
            <a:ext cx="3611880" cy="2697480"/>
          </a:xfrm>
          <a:prstGeom prst="roundRect">
            <a:avLst>
              <a:gd name="adj" fmla="val 2712"/>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Shape 4"/>
          <p:cNvSpPr/>
          <p:nvPr/>
        </p:nvSpPr>
        <p:spPr>
          <a:xfrm>
            <a:off x="822960" y="228600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7" name="Text 5"/>
          <p:cNvSpPr/>
          <p:nvPr/>
        </p:nvSpPr>
        <p:spPr>
          <a:xfrm>
            <a:off x="822960" y="2286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822960" y="3017520"/>
            <a:ext cx="3063240" cy="457200"/>
          </a:xfrm>
          <a:prstGeom prst="rect">
            <a:avLst/>
          </a:prstGeom>
          <a:noFill/>
          <a:ln/>
        </p:spPr>
        <p:txBody>
          <a:bodyPr wrap="square" lIns="0" tIns="0" rIns="0" bIns="0" rtlCol="0" anchor="ctr"/>
          <a:lstStyle/>
          <a:p>
            <a:pPr indent="0" marL="0">
              <a:buNone/>
            </a:pPr>
            <a:r>
              <a:rPr lang="en-US" sz="1700" b="1" dirty="0">
                <a:solidFill>
                  <a:srgbClr val="0E2A47"/>
                </a:solidFill>
                <a:latin typeface="Calibri" pitchFamily="34" charset="0"/>
                <a:ea typeface="Calibri" pitchFamily="34" charset="-122"/>
                <a:cs typeface="Calibri" pitchFamily="34" charset="-120"/>
              </a:rPr>
              <a:t>Proof of concept</a:t>
            </a:r>
            <a:endParaRPr lang="en-US" sz="1700" dirty="0"/>
          </a:p>
        </p:txBody>
      </p:sp>
      <p:sp>
        <p:nvSpPr>
          <p:cNvPr id="9" name="Text 7"/>
          <p:cNvSpPr/>
          <p:nvPr/>
        </p:nvSpPr>
        <p:spPr>
          <a:xfrm>
            <a:off x="822960" y="3493008"/>
            <a:ext cx="3063240" cy="100584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The VLA-based C representation worked on early models</a:t>
            </a:r>
            <a:endParaRPr lang="en-US" sz="1300" dirty="0"/>
          </a:p>
        </p:txBody>
      </p:sp>
      <p:sp>
        <p:nvSpPr>
          <p:cNvPr id="10" name="Text 8"/>
          <p:cNvSpPr/>
          <p:nvPr/>
        </p:nvSpPr>
        <p:spPr>
          <a:xfrm>
            <a:off x="4142232" y="2011680"/>
            <a:ext cx="292608" cy="2697480"/>
          </a:xfrm>
          <a:prstGeom prst="rect">
            <a:avLst/>
          </a:prstGeom>
          <a:noFill/>
          <a:ln/>
        </p:spPr>
        <p:txBody>
          <a:bodyPr wrap="square" lIns="0" tIns="0" rIns="0" bIns="0" rtlCol="0" anchor="ctr"/>
          <a:lstStyle/>
          <a:p>
            <a:pPr algn="ctr" indent="0" marL="0">
              <a:buNone/>
            </a:pPr>
            <a:r>
              <a:rPr lang="en-US" sz="2200" dirty="0">
                <a:solidFill>
                  <a:srgbClr val="16A39A"/>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4416552" y="2011680"/>
            <a:ext cx="3611880" cy="2697480"/>
          </a:xfrm>
          <a:prstGeom prst="roundRect">
            <a:avLst>
              <a:gd name="adj" fmla="val 2712"/>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2" name="Shape 10"/>
          <p:cNvSpPr/>
          <p:nvPr/>
        </p:nvSpPr>
        <p:spPr>
          <a:xfrm>
            <a:off x="4690872" y="228600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13" name="Text 11"/>
          <p:cNvSpPr/>
          <p:nvPr/>
        </p:nvSpPr>
        <p:spPr>
          <a:xfrm>
            <a:off x="4690872" y="2286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4690872" y="3017520"/>
            <a:ext cx="3063240" cy="457200"/>
          </a:xfrm>
          <a:prstGeom prst="rect">
            <a:avLst/>
          </a:prstGeom>
          <a:noFill/>
          <a:ln/>
        </p:spPr>
        <p:txBody>
          <a:bodyPr wrap="square" lIns="0" tIns="0" rIns="0" bIns="0" rtlCol="0" anchor="ctr"/>
          <a:lstStyle/>
          <a:p>
            <a:pPr indent="0" marL="0">
              <a:buNone/>
            </a:pPr>
            <a:r>
              <a:rPr lang="en-US" sz="1700" b="1" dirty="0">
                <a:solidFill>
                  <a:srgbClr val="0E2A47"/>
                </a:solidFill>
                <a:latin typeface="Calibri" pitchFamily="34" charset="0"/>
                <a:ea typeface="Calibri" pitchFamily="34" charset="-122"/>
                <a:cs typeface="Calibri" pitchFamily="34" charset="-120"/>
              </a:rPr>
              <a:t>Goal expanded</a:t>
            </a:r>
            <a:endParaRPr lang="en-US" sz="1700" dirty="0"/>
          </a:p>
        </p:txBody>
      </p:sp>
      <p:sp>
        <p:nvSpPr>
          <p:cNvPr id="15" name="Text 13"/>
          <p:cNvSpPr/>
          <p:nvPr/>
        </p:nvSpPr>
        <p:spPr>
          <a:xfrm>
            <a:off x="4690872" y="3493008"/>
            <a:ext cx="3063240" cy="100584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From prototype to broad ONNX operator &amp; model coverage</a:t>
            </a:r>
            <a:endParaRPr lang="en-US" sz="1300" dirty="0"/>
          </a:p>
        </p:txBody>
      </p:sp>
      <p:sp>
        <p:nvSpPr>
          <p:cNvPr id="16" name="Text 14"/>
          <p:cNvSpPr/>
          <p:nvPr/>
        </p:nvSpPr>
        <p:spPr>
          <a:xfrm>
            <a:off x="8010144" y="2011680"/>
            <a:ext cx="292608" cy="2697480"/>
          </a:xfrm>
          <a:prstGeom prst="rect">
            <a:avLst/>
          </a:prstGeom>
          <a:noFill/>
          <a:ln/>
        </p:spPr>
        <p:txBody>
          <a:bodyPr wrap="square" lIns="0" tIns="0" rIns="0" bIns="0" rtlCol="0" anchor="ctr"/>
          <a:lstStyle/>
          <a:p>
            <a:pPr algn="ctr" indent="0" marL="0">
              <a:buNone/>
            </a:pPr>
            <a:r>
              <a:rPr lang="en-US" sz="2200" dirty="0">
                <a:solidFill>
                  <a:srgbClr val="16A39A"/>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8284464" y="2011680"/>
            <a:ext cx="3611880" cy="2697480"/>
          </a:xfrm>
          <a:prstGeom prst="roundRect">
            <a:avLst>
              <a:gd name="adj" fmla="val 2712"/>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8" name="Shape 16"/>
          <p:cNvSpPr/>
          <p:nvPr/>
        </p:nvSpPr>
        <p:spPr>
          <a:xfrm>
            <a:off x="8558784" y="228600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19" name="Text 17"/>
          <p:cNvSpPr/>
          <p:nvPr/>
        </p:nvSpPr>
        <p:spPr>
          <a:xfrm>
            <a:off x="8558784" y="22860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8558784" y="3017520"/>
            <a:ext cx="3063240" cy="457200"/>
          </a:xfrm>
          <a:prstGeom prst="rect">
            <a:avLst/>
          </a:prstGeom>
          <a:noFill/>
          <a:ln/>
        </p:spPr>
        <p:txBody>
          <a:bodyPr wrap="square" lIns="0" tIns="0" rIns="0" bIns="0" rtlCol="0" anchor="ctr"/>
          <a:lstStyle/>
          <a:p>
            <a:pPr indent="0" marL="0">
              <a:buNone/>
            </a:pPr>
            <a:r>
              <a:rPr lang="en-US" sz="1700" b="1" dirty="0">
                <a:solidFill>
                  <a:srgbClr val="0E2A47"/>
                </a:solidFill>
                <a:latin typeface="Calibri" pitchFamily="34" charset="0"/>
                <a:ea typeface="Calibri" pitchFamily="34" charset="-122"/>
                <a:cs typeface="Calibri" pitchFamily="34" charset="-120"/>
              </a:rPr>
              <a:t>Became a compiler</a:t>
            </a:r>
            <a:endParaRPr lang="en-US" sz="1700" dirty="0"/>
          </a:p>
        </p:txBody>
      </p:sp>
      <p:sp>
        <p:nvSpPr>
          <p:cNvPr id="21" name="Text 19"/>
          <p:cNvSpPr/>
          <p:nvPr/>
        </p:nvSpPr>
        <p:spPr>
          <a:xfrm>
            <a:off x="8558784" y="3493008"/>
            <a:ext cx="3063240" cy="100584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Pass-based AOT pipeline with verification &amp; coverage reports</a:t>
            </a:r>
            <a:endParaRPr lang="en-US" sz="1300" dirty="0"/>
          </a:p>
        </p:txBody>
      </p:sp>
      <p:sp>
        <p:nvSpPr>
          <p:cNvPr id="22" name="Shape 20"/>
          <p:cNvSpPr/>
          <p:nvPr/>
        </p:nvSpPr>
        <p:spPr>
          <a:xfrm>
            <a:off x="548640" y="5120640"/>
            <a:ext cx="11064240" cy="1005840"/>
          </a:xfrm>
          <a:prstGeom prst="roundRect">
            <a:avLst>
              <a:gd name="adj" fmla="val 6364"/>
            </a:avLst>
          </a:prstGeom>
          <a:solidFill>
            <a:srgbClr val="0E2A47"/>
          </a:solidFill>
          <a:ln/>
        </p:spPr>
      </p:sp>
      <p:sp>
        <p:nvSpPr>
          <p:cNvPr id="23" name="Text 21"/>
          <p:cNvSpPr/>
          <p:nvPr/>
        </p:nvSpPr>
        <p:spPr>
          <a:xfrm>
            <a:off x="868680" y="5120640"/>
            <a:ext cx="10424160" cy="1005840"/>
          </a:xfrm>
          <a:prstGeom prst="rect">
            <a:avLst/>
          </a:prstGeom>
          <a:noFill/>
          <a:ln/>
        </p:spPr>
        <p:txBody>
          <a:bodyPr wrap="square" lIns="0" tIns="0" rIns="0" bIns="0" rtlCol="0" anchor="ctr"/>
          <a:lstStyle/>
          <a:p>
            <a:pPr indent="0" marL="0">
              <a:buNone/>
            </a:pPr>
            <a:r>
              <a:rPr lang="en-US" sz="1450" i="1" dirty="0">
                <a:solidFill>
                  <a:srgbClr val="DCE8F0"/>
                </a:solidFill>
                <a:latin typeface="Calibri" pitchFamily="34" charset="0"/>
                <a:ea typeface="Calibri" pitchFamily="34" charset="-122"/>
                <a:cs typeface="Calibri" pitchFamily="34" charset="-120"/>
              </a:rPr>
              <a:t>A high-coverage ONNX compiler cannot be a pile of special cases — it needs registries, structured lowering, stable IR objects and a verification strategy.</a:t>
            </a:r>
            <a:endParaRPr lang="en-US" sz="1450" dirty="0"/>
          </a:p>
        </p:txBody>
      </p:sp>
      <p:sp>
        <p:nvSpPr>
          <p:cNvPr id="24" name="Text 2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25" name="Text 2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2A47"/>
        </a:solidFill>
      </p:bgPr>
    </p:bg>
    <p:spTree>
      <p:nvGrpSpPr>
        <p:cNvPr id="1" name=""/>
        <p:cNvGrpSpPr/>
        <p:nvPr/>
      </p:nvGrpSpPr>
      <p:grpSpPr>
        <a:xfrm>
          <a:off x="0" y="0"/>
          <a:ext cx="0" cy="0"/>
          <a:chOff x="0" y="0"/>
          <a:chExt cx="0" cy="0"/>
        </a:xfrm>
      </p:grpSpPr>
      <p:sp>
        <p:nvSpPr>
          <p:cNvPr id="2" name="Text 0"/>
          <p:cNvSpPr/>
          <p:nvPr/>
        </p:nvSpPr>
        <p:spPr>
          <a:xfrm>
            <a:off x="777240" y="914400"/>
            <a:ext cx="2743200" cy="1463040"/>
          </a:xfrm>
          <a:prstGeom prst="rect">
            <a:avLst/>
          </a:prstGeom>
          <a:noFill/>
          <a:ln/>
        </p:spPr>
        <p:txBody>
          <a:bodyPr wrap="square" lIns="0" tIns="0" rIns="0" bIns="0" rtlCol="0" anchor="ctr"/>
          <a:lstStyle/>
          <a:p>
            <a:pPr indent="0" marL="0">
              <a:buNone/>
            </a:pPr>
            <a:r>
              <a:rPr lang="en-US" sz="9600" b="1" dirty="0">
                <a:solidFill>
                  <a:srgbClr val="1C436B"/>
                </a:solidFill>
                <a:latin typeface="Cambria" pitchFamily="34" charset="0"/>
                <a:ea typeface="Cambria" pitchFamily="34" charset="-122"/>
                <a:cs typeface="Cambria" pitchFamily="34" charset="-120"/>
              </a:rPr>
              <a:t>02</a:t>
            </a:r>
            <a:endParaRPr lang="en-US" sz="9600" dirty="0"/>
          </a:p>
        </p:txBody>
      </p:sp>
      <p:sp>
        <p:nvSpPr>
          <p:cNvPr id="3" name="Shape 1"/>
          <p:cNvSpPr/>
          <p:nvPr/>
        </p:nvSpPr>
        <p:spPr>
          <a:xfrm>
            <a:off x="822960" y="2697480"/>
            <a:ext cx="640080" cy="109728"/>
          </a:xfrm>
          <a:prstGeom prst="roundRect">
            <a:avLst>
              <a:gd name="adj" fmla="val 50000"/>
            </a:avLst>
          </a:prstGeom>
          <a:solidFill>
            <a:srgbClr val="16A39A"/>
          </a:solidFill>
          <a:ln/>
        </p:spPr>
      </p:sp>
      <p:sp>
        <p:nvSpPr>
          <p:cNvPr id="4" name="Text 2"/>
          <p:cNvSpPr/>
          <p:nvPr/>
        </p:nvSpPr>
        <p:spPr>
          <a:xfrm>
            <a:off x="777240" y="28803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emx-onnx-cgen does</a:t>
            </a:r>
            <a:endParaRPr lang="en-US" sz="4000" dirty="0"/>
          </a:p>
        </p:txBody>
      </p:sp>
      <p:sp>
        <p:nvSpPr>
          <p:cNvPr id="5" name="Text 3"/>
          <p:cNvSpPr/>
          <p:nvPr/>
        </p:nvSpPr>
        <p:spPr>
          <a:xfrm>
            <a:off x="795528" y="3840480"/>
            <a:ext cx="10058400" cy="548640"/>
          </a:xfrm>
          <a:prstGeom prst="rect">
            <a:avLst/>
          </a:prstGeom>
          <a:noFill/>
          <a:ln/>
        </p:spPr>
        <p:txBody>
          <a:bodyPr wrap="square" lIns="0" tIns="0" rIns="0" bIns="0" rtlCol="0" anchor="ctr"/>
          <a:lstStyle/>
          <a:p>
            <a:pPr indent="0" marL="0">
              <a:buNone/>
            </a:pPr>
            <a:r>
              <a:rPr lang="en-US" sz="1700" dirty="0">
                <a:solidFill>
                  <a:srgbClr val="9FC0D6"/>
                </a:solidFill>
                <a:latin typeface="Calibri" pitchFamily="34" charset="0"/>
                <a:ea typeface="Calibri" pitchFamily="34" charset="-122"/>
                <a:cs typeface="Calibri" pitchFamily="34" charset="-120"/>
              </a:rPr>
              <a:t>The compiler and its output</a:t>
            </a:r>
            <a:endParaRPr lang="en-US" sz="1700" dirty="0"/>
          </a:p>
        </p:txBody>
      </p:sp>
      <p:sp>
        <p:nvSpPr>
          <p:cNvPr id="6" name="Text 4"/>
          <p:cNvSpPr/>
          <p:nvPr/>
        </p:nvSpPr>
        <p:spPr>
          <a:xfrm>
            <a:off x="822960" y="4572000"/>
            <a:ext cx="10424160" cy="1737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Ahead-of-time ONNX → portable, deterministic C</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A deliberately small, static public API</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C is the handoff IR into the embedded-AI toolchain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THE PROJECT</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What emx-onnx-cgen does</a:t>
            </a:r>
            <a:endParaRPr lang="en-US" sz="2800" dirty="0"/>
          </a:p>
        </p:txBody>
      </p:sp>
      <p:sp>
        <p:nvSpPr>
          <p:cNvPr id="5" name="Shape 3"/>
          <p:cNvSpPr/>
          <p:nvPr/>
        </p:nvSpPr>
        <p:spPr>
          <a:xfrm>
            <a:off x="548640" y="1783080"/>
            <a:ext cx="5577840" cy="4160520"/>
          </a:xfrm>
          <a:prstGeom prst="roundRect">
            <a:avLst>
              <a:gd name="adj" fmla="val 1538"/>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1965960"/>
            <a:ext cx="513892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Ahead-of-time ONNX → C</a:t>
            </a:r>
            <a:endParaRPr lang="en-US" sz="1500" dirty="0"/>
          </a:p>
        </p:txBody>
      </p:sp>
      <p:sp>
        <p:nvSpPr>
          <p:cNvPr id="7" name="Text 5"/>
          <p:cNvSpPr/>
          <p:nvPr/>
        </p:nvSpPr>
        <p:spPr>
          <a:xfrm>
            <a:off x="786384" y="2404872"/>
            <a:ext cx="5138928" cy="337413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Compiles ONNX models to portable, deterministic C</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Targets deeply embedded &amp; resource-constrained systems</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No dynamic allocation, no OS dependency, no runtime</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No hidden dispatch or callbacks — explicit loops &amp; layout</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Auditable, readable, suitable for reproducible builds</a:t>
            </a:r>
            <a:endParaRPr lang="en-US" sz="1250" dirty="0"/>
          </a:p>
        </p:txBody>
      </p:sp>
      <p:sp>
        <p:nvSpPr>
          <p:cNvPr id="8" name="Text 6"/>
          <p:cNvSpPr/>
          <p:nvPr/>
        </p:nvSpPr>
        <p:spPr>
          <a:xfrm>
            <a:off x="6400800" y="1828800"/>
            <a:ext cx="521208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Intentionally small public API</a:t>
            </a:r>
            <a:endParaRPr lang="en-US" sz="1500" dirty="0"/>
          </a:p>
        </p:txBody>
      </p:sp>
      <p:sp>
        <p:nvSpPr>
          <p:cNvPr id="9" name="Shape 7"/>
          <p:cNvSpPr/>
          <p:nvPr/>
        </p:nvSpPr>
        <p:spPr>
          <a:xfrm>
            <a:off x="6400800" y="2240280"/>
            <a:ext cx="5212080" cy="2331720"/>
          </a:xfrm>
          <a:prstGeom prst="roundRect">
            <a:avLst>
              <a:gd name="adj" fmla="val 2353"/>
            </a:avLst>
          </a:prstGeom>
          <a:solidFill>
            <a:srgbClr val="0C2138"/>
          </a:solidFill>
          <a:ln/>
          <a:effectLst>
            <a:outerShdw sx="100000" sy="100000" kx="0" ky="0" algn="bl" rotWithShape="0" blurRad="114300" dist="38100" dir="5400000">
              <a:srgbClr val="0A1F38">
                <a:alpha val="14000"/>
              </a:srgbClr>
            </a:outerShdw>
          </a:effectLst>
        </p:spPr>
      </p:sp>
      <p:sp>
        <p:nvSpPr>
          <p:cNvPr id="10" name="Text 8"/>
          <p:cNvSpPr/>
          <p:nvPr/>
        </p:nvSpPr>
        <p:spPr>
          <a:xfrm>
            <a:off x="6583680" y="2350008"/>
            <a:ext cx="4846320" cy="2112264"/>
          </a:xfrm>
          <a:prstGeom prst="rect">
            <a:avLst/>
          </a:prstGeom>
          <a:noFill/>
          <a:ln/>
        </p:spPr>
        <p:txBody>
          <a:bodyPr wrap="square" lIns="0" tIns="0" rIns="0" bIns="0" rtlCol="0" anchor="t"/>
          <a:lstStyle/>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_Bool model_load(const char *path);</a:t>
            </a:r>
            <a:endParaRPr lang="en-US" sz="1300" dirty="0"/>
          </a:p>
          <a:p>
            <a:pPr algn="l" indent="0" marL="0">
              <a:lnSpc>
                <a:spcPct val="105000"/>
              </a:lnSpc>
              <a:buNone/>
            </a:pP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void  model(/* ...inputs... */,</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 ...outputs... */);</a:t>
            </a:r>
            <a:endParaRPr lang="en-US" sz="1300" dirty="0"/>
          </a:p>
          <a:p>
            <a:pPr algn="l" indent="0" marL="0">
              <a:lnSpc>
                <a:spcPct val="105000"/>
              </a:lnSpc>
              <a:buNone/>
            </a:pP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tensor IO -&gt; C array parameters</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dynamic dims -&gt; C99 VLAs</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weights      -&gt; optional model.bin */</a:t>
            </a:r>
            <a:endParaRPr lang="en-US" sz="1300" dirty="0"/>
          </a:p>
        </p:txBody>
      </p:sp>
      <p:sp>
        <p:nvSpPr>
          <p:cNvPr id="11" name="Shape 9"/>
          <p:cNvSpPr/>
          <p:nvPr/>
        </p:nvSpPr>
        <p:spPr>
          <a:xfrm>
            <a:off x="6400800" y="4800600"/>
            <a:ext cx="5212080" cy="1143000"/>
          </a:xfrm>
          <a:prstGeom prst="roundRect">
            <a:avLst>
              <a:gd name="adj" fmla="val 5600"/>
            </a:avLst>
          </a:prstGeom>
          <a:solidFill>
            <a:srgbClr val="F2F6F8"/>
          </a:solidFill>
          <a:ln w="12700">
            <a:solidFill>
              <a:srgbClr val="DBE6EA"/>
            </a:solidFill>
            <a:prstDash val="solid"/>
          </a:ln>
        </p:spPr>
      </p:sp>
      <p:sp>
        <p:nvSpPr>
          <p:cNvPr id="12" name="Text 10"/>
          <p:cNvSpPr/>
          <p:nvPr/>
        </p:nvSpPr>
        <p:spPr>
          <a:xfrm>
            <a:off x="6583680" y="4892040"/>
            <a:ext cx="484632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Frontend of the emmtrix embedded-AI flow</a:t>
            </a:r>
            <a:endParaRPr lang="en-US" sz="1250" dirty="0"/>
          </a:p>
        </p:txBody>
      </p:sp>
      <p:sp>
        <p:nvSpPr>
          <p:cNvPr id="13" name="Text 11"/>
          <p:cNvSpPr/>
          <p:nvPr/>
        </p:nvSpPr>
        <p:spPr>
          <a:xfrm>
            <a:off x="6583680" y="5257800"/>
            <a:ext cx="4846320" cy="548640"/>
          </a:xfrm>
          <a:prstGeom prst="rect">
            <a:avLst/>
          </a:prstGeom>
          <a:noFill/>
          <a:ln/>
        </p:spPr>
        <p:txBody>
          <a:bodyPr wrap="square" lIns="0" tIns="0" rIns="0" bIns="0" rtlCol="0" anchor="t"/>
          <a:lstStyle/>
          <a:p>
            <a:pPr indent="0" marL="0">
              <a:buNone/>
            </a:pPr>
            <a:r>
              <a:rPr lang="en-US" sz="1250" dirty="0">
                <a:solidFill>
                  <a:srgbClr val="0E7C77"/>
                </a:solidFill>
                <a:latin typeface="Consolas" pitchFamily="34" charset="0"/>
                <a:ea typeface="Consolas" pitchFamily="34" charset="-122"/>
                <a:cs typeface="Consolas" pitchFamily="34" charset="-120"/>
              </a:rPr>
              <a:t>ONNX → clean C → Vectorizer → target architecture</a:t>
            </a:r>
            <a:endParaRPr lang="en-US" sz="1250" dirty="0"/>
          </a:p>
        </p:txBody>
      </p:sp>
      <p:sp>
        <p:nvSpPr>
          <p:cNvPr id="14" name="Text 1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5" name="Text 1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OUTPUT FORMAT</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What the compiler emits</a:t>
            </a:r>
            <a:endParaRPr lang="en-US" sz="2800" dirty="0"/>
          </a:p>
        </p:txBody>
      </p:sp>
      <p:sp>
        <p:nvSpPr>
          <p:cNvPr id="5" name="Shape 3"/>
          <p:cNvSpPr/>
          <p:nvPr/>
        </p:nvSpPr>
        <p:spPr>
          <a:xfrm>
            <a:off x="548640" y="1874520"/>
            <a:ext cx="6035040" cy="932688"/>
          </a:xfrm>
          <a:prstGeom prst="roundRect">
            <a:avLst>
              <a:gd name="adj" fmla="val 6863"/>
            </a:avLst>
          </a:prstGeom>
          <a:solidFill>
            <a:srgbClr val="EAF5F3"/>
          </a:solidFill>
          <a:ln w="12700">
            <a:solidFill>
              <a:srgbClr val="C9E5E1"/>
            </a:solidFill>
            <a:prstDash val="solid"/>
          </a:ln>
          <a:effectLst>
            <a:outerShdw sx="100000" sy="100000" kx="0" ky="0" algn="bl" rotWithShape="0" blurRad="114300" dist="38100" dir="5400000">
              <a:srgbClr val="0A1F38">
                <a:alpha val="8000"/>
              </a:srgbClr>
            </a:outerShdw>
          </a:effectLst>
        </p:spPr>
      </p:sp>
      <p:sp>
        <p:nvSpPr>
          <p:cNvPr id="6" name="Text 4"/>
          <p:cNvSpPr/>
          <p:nvPr/>
        </p:nvSpPr>
        <p:spPr>
          <a:xfrm>
            <a:off x="749808" y="1984248"/>
            <a:ext cx="5577840" cy="365760"/>
          </a:xfrm>
          <a:prstGeom prst="rect">
            <a:avLst/>
          </a:prstGeom>
          <a:noFill/>
          <a:ln/>
        </p:spPr>
        <p:txBody>
          <a:bodyPr wrap="square" lIns="0" tIns="0" rIns="0" bIns="0" rtlCol="0" anchor="ctr"/>
          <a:lstStyle/>
          <a:p>
            <a:pPr indent="0" marL="0">
              <a:buNone/>
            </a:pPr>
            <a:r>
              <a:rPr lang="en-US" sz="1500" b="1" dirty="0">
                <a:solidFill>
                  <a:srgbClr val="0E2A47"/>
                </a:solidFill>
                <a:latin typeface="Consolas" pitchFamily="34" charset="0"/>
                <a:ea typeface="Consolas" pitchFamily="34" charset="-122"/>
                <a:cs typeface="Consolas" pitchFamily="34" charset="-120"/>
              </a:rPr>
              <a:t>&lt;out&gt;.c</a:t>
            </a:r>
            <a:endParaRPr lang="en-US" sz="1500" dirty="0"/>
          </a:p>
        </p:txBody>
      </p:sp>
      <p:sp>
        <p:nvSpPr>
          <p:cNvPr id="7" name="Text 5"/>
          <p:cNvSpPr/>
          <p:nvPr/>
        </p:nvSpPr>
        <p:spPr>
          <a:xfrm>
            <a:off x="749808" y="2350008"/>
            <a:ext cx="5577840" cy="365760"/>
          </a:xfrm>
          <a:prstGeom prst="rect">
            <a:avLst/>
          </a:prstGeom>
          <a:noFill/>
          <a:ln/>
        </p:spPr>
        <p:txBody>
          <a:bodyPr wrap="square" lIns="0" tIns="0" rIns="0" bIns="0" rtlCol="0" anchor="ctr"/>
          <a:lstStyle/>
          <a:p>
            <a:pPr indent="0" marL="0">
              <a:buNone/>
            </a:pPr>
            <a:r>
              <a:rPr lang="en-US" sz="1200" dirty="0">
                <a:solidFill>
                  <a:srgbClr val="33475B"/>
                </a:solidFill>
                <a:latin typeface="Calibri" pitchFamily="34" charset="0"/>
                <a:ea typeface="Calibri" pitchFamily="34" charset="-122"/>
                <a:cs typeface="Calibri" pitchFamily="34" charset="-120"/>
              </a:rPr>
              <a:t>The generated model implementation</a:t>
            </a:r>
            <a:endParaRPr lang="en-US" sz="1200" dirty="0"/>
          </a:p>
        </p:txBody>
      </p:sp>
      <p:sp>
        <p:nvSpPr>
          <p:cNvPr id="8" name="Shape 6"/>
          <p:cNvSpPr/>
          <p:nvPr/>
        </p:nvSpPr>
        <p:spPr>
          <a:xfrm>
            <a:off x="548640" y="2916936"/>
            <a:ext cx="6035040" cy="932688"/>
          </a:xfrm>
          <a:prstGeom prst="roundRect">
            <a:avLst>
              <a:gd name="adj" fmla="val 6863"/>
            </a:avLst>
          </a:prstGeom>
          <a:solidFill>
            <a:srgbClr val="F2F6F8"/>
          </a:solidFill>
          <a:ln w="12700">
            <a:solidFill>
              <a:srgbClr val="DBE6EA"/>
            </a:solidFill>
            <a:prstDash val="solid"/>
          </a:ln>
          <a:effectLst>
            <a:outerShdw sx="100000" sy="100000" kx="0" ky="0" algn="bl" rotWithShape="0" blurRad="114300" dist="38100" dir="5400000">
              <a:srgbClr val="0A1F38">
                <a:alpha val="8000"/>
              </a:srgbClr>
            </a:outerShdw>
          </a:effectLst>
        </p:spPr>
      </p:sp>
      <p:sp>
        <p:nvSpPr>
          <p:cNvPr id="9" name="Text 7"/>
          <p:cNvSpPr/>
          <p:nvPr/>
        </p:nvSpPr>
        <p:spPr>
          <a:xfrm>
            <a:off x="749808" y="3026664"/>
            <a:ext cx="5577840" cy="365760"/>
          </a:xfrm>
          <a:prstGeom prst="rect">
            <a:avLst/>
          </a:prstGeom>
          <a:noFill/>
          <a:ln/>
        </p:spPr>
        <p:txBody>
          <a:bodyPr wrap="square" lIns="0" tIns="0" rIns="0" bIns="0" rtlCol="0" anchor="ctr"/>
          <a:lstStyle/>
          <a:p>
            <a:pPr indent="0" marL="0">
              <a:buNone/>
            </a:pPr>
            <a:r>
              <a:rPr lang="en-US" sz="1500" b="1" dirty="0">
                <a:solidFill>
                  <a:srgbClr val="0E2A47"/>
                </a:solidFill>
                <a:latin typeface="Consolas" pitchFamily="34" charset="0"/>
                <a:ea typeface="Consolas" pitchFamily="34" charset="-122"/>
                <a:cs typeface="Consolas" pitchFamily="34" charset="-120"/>
              </a:rPr>
              <a:t>&lt;out&gt;_data.c</a:t>
            </a:r>
            <a:endParaRPr lang="en-US" sz="1500" dirty="0"/>
          </a:p>
        </p:txBody>
      </p:sp>
      <p:sp>
        <p:nvSpPr>
          <p:cNvPr id="10" name="Text 8"/>
          <p:cNvSpPr/>
          <p:nvPr/>
        </p:nvSpPr>
        <p:spPr>
          <a:xfrm>
            <a:off x="749808" y="3392424"/>
            <a:ext cx="5577840" cy="365760"/>
          </a:xfrm>
          <a:prstGeom prst="rect">
            <a:avLst/>
          </a:prstGeom>
          <a:noFill/>
          <a:ln/>
        </p:spPr>
        <p:txBody>
          <a:bodyPr wrap="square" lIns="0" tIns="0" rIns="0" bIns="0" rtlCol="0" anchor="ctr"/>
          <a:lstStyle/>
          <a:p>
            <a:pPr indent="0" marL="0">
              <a:buNone/>
            </a:pPr>
            <a:r>
              <a:rPr lang="en-US" sz="1200" dirty="0">
                <a:solidFill>
                  <a:srgbClr val="33475B"/>
                </a:solidFill>
                <a:latin typeface="Calibri" pitchFamily="34" charset="0"/>
                <a:ea typeface="Calibri" pitchFamily="34" charset="-122"/>
                <a:cs typeface="Calibri" pitchFamily="34" charset="-120"/>
              </a:rPr>
              <a:t>Optional — embedded constant/weight data</a:t>
            </a:r>
            <a:endParaRPr lang="en-US" sz="1200" dirty="0"/>
          </a:p>
        </p:txBody>
      </p:sp>
      <p:sp>
        <p:nvSpPr>
          <p:cNvPr id="11" name="Shape 9"/>
          <p:cNvSpPr/>
          <p:nvPr/>
        </p:nvSpPr>
        <p:spPr>
          <a:xfrm>
            <a:off x="548640" y="3959352"/>
            <a:ext cx="6035040" cy="932688"/>
          </a:xfrm>
          <a:prstGeom prst="roundRect">
            <a:avLst>
              <a:gd name="adj" fmla="val 6863"/>
            </a:avLst>
          </a:prstGeom>
          <a:solidFill>
            <a:srgbClr val="F2F6F8"/>
          </a:solidFill>
          <a:ln w="12700">
            <a:solidFill>
              <a:srgbClr val="DBE6EA"/>
            </a:solidFill>
            <a:prstDash val="solid"/>
          </a:ln>
          <a:effectLst>
            <a:outerShdw sx="100000" sy="100000" kx="0" ky="0" algn="bl" rotWithShape="0" blurRad="114300" dist="38100" dir="5400000">
              <a:srgbClr val="0A1F38">
                <a:alpha val="8000"/>
              </a:srgbClr>
            </a:outerShdw>
          </a:effectLst>
        </p:spPr>
      </p:sp>
      <p:sp>
        <p:nvSpPr>
          <p:cNvPr id="12" name="Text 10"/>
          <p:cNvSpPr/>
          <p:nvPr/>
        </p:nvSpPr>
        <p:spPr>
          <a:xfrm>
            <a:off x="749808" y="4069080"/>
            <a:ext cx="5577840" cy="365760"/>
          </a:xfrm>
          <a:prstGeom prst="rect">
            <a:avLst/>
          </a:prstGeom>
          <a:noFill/>
          <a:ln/>
        </p:spPr>
        <p:txBody>
          <a:bodyPr wrap="square" lIns="0" tIns="0" rIns="0" bIns="0" rtlCol="0" anchor="ctr"/>
          <a:lstStyle/>
          <a:p>
            <a:pPr indent="0" marL="0">
              <a:buNone/>
            </a:pPr>
            <a:r>
              <a:rPr lang="en-US" sz="1500" b="1" dirty="0">
                <a:solidFill>
                  <a:srgbClr val="0E2A47"/>
                </a:solidFill>
                <a:latin typeface="Consolas" pitchFamily="34" charset="0"/>
                <a:ea typeface="Consolas" pitchFamily="34" charset="-122"/>
                <a:cs typeface="Consolas" pitchFamily="34" charset="-120"/>
              </a:rPr>
              <a:t>testbench .c</a:t>
            </a:r>
            <a:endParaRPr lang="en-US" sz="1500" dirty="0"/>
          </a:p>
        </p:txBody>
      </p:sp>
      <p:sp>
        <p:nvSpPr>
          <p:cNvPr id="13" name="Text 11"/>
          <p:cNvSpPr/>
          <p:nvPr/>
        </p:nvSpPr>
        <p:spPr>
          <a:xfrm>
            <a:off x="749808" y="4434840"/>
            <a:ext cx="5577840" cy="365760"/>
          </a:xfrm>
          <a:prstGeom prst="rect">
            <a:avLst/>
          </a:prstGeom>
          <a:noFill/>
          <a:ln/>
        </p:spPr>
        <p:txBody>
          <a:bodyPr wrap="square" lIns="0" tIns="0" rIns="0" bIns="0" rtlCol="0" anchor="ctr"/>
          <a:lstStyle/>
          <a:p>
            <a:pPr indent="0" marL="0">
              <a:buNone/>
            </a:pPr>
            <a:r>
              <a:rPr lang="en-US" sz="1200" dirty="0">
                <a:solidFill>
                  <a:srgbClr val="33475B"/>
                </a:solidFill>
                <a:latin typeface="Calibri" pitchFamily="34" charset="0"/>
                <a:ea typeface="Calibri" pitchFamily="34" charset="-122"/>
                <a:cs typeface="Calibri" pitchFamily="34" charset="-120"/>
              </a:rPr>
              <a:t>Optional — drives verification with recorded IO</a:t>
            </a:r>
            <a:endParaRPr lang="en-US" sz="1200" dirty="0"/>
          </a:p>
        </p:txBody>
      </p:sp>
      <p:sp>
        <p:nvSpPr>
          <p:cNvPr id="14" name="Shape 12"/>
          <p:cNvSpPr/>
          <p:nvPr/>
        </p:nvSpPr>
        <p:spPr>
          <a:xfrm>
            <a:off x="548640" y="5001768"/>
            <a:ext cx="6035040" cy="932688"/>
          </a:xfrm>
          <a:prstGeom prst="roundRect">
            <a:avLst>
              <a:gd name="adj" fmla="val 6863"/>
            </a:avLst>
          </a:prstGeom>
          <a:solidFill>
            <a:srgbClr val="F2F6F8"/>
          </a:solidFill>
          <a:ln w="12700">
            <a:solidFill>
              <a:srgbClr val="DBE6EA"/>
            </a:solidFill>
            <a:prstDash val="solid"/>
          </a:ln>
          <a:effectLst>
            <a:outerShdw sx="100000" sy="100000" kx="0" ky="0" algn="bl" rotWithShape="0" blurRad="114300" dist="38100" dir="5400000">
              <a:srgbClr val="0A1F38">
                <a:alpha val="8000"/>
              </a:srgbClr>
            </a:outerShdw>
          </a:effectLst>
        </p:spPr>
      </p:sp>
      <p:sp>
        <p:nvSpPr>
          <p:cNvPr id="15" name="Text 13"/>
          <p:cNvSpPr/>
          <p:nvPr/>
        </p:nvSpPr>
        <p:spPr>
          <a:xfrm>
            <a:off x="749808" y="5111496"/>
            <a:ext cx="5577840" cy="365760"/>
          </a:xfrm>
          <a:prstGeom prst="rect">
            <a:avLst/>
          </a:prstGeom>
          <a:noFill/>
          <a:ln/>
        </p:spPr>
        <p:txBody>
          <a:bodyPr wrap="square" lIns="0" tIns="0" rIns="0" bIns="0" rtlCol="0" anchor="ctr"/>
          <a:lstStyle/>
          <a:p>
            <a:pPr indent="0" marL="0">
              <a:buNone/>
            </a:pPr>
            <a:r>
              <a:rPr lang="en-US" sz="1500" b="1" dirty="0">
                <a:solidFill>
                  <a:srgbClr val="0E2A47"/>
                </a:solidFill>
                <a:latin typeface="Consolas" pitchFamily="34" charset="0"/>
                <a:ea typeface="Consolas" pitchFamily="34" charset="-122"/>
                <a:cs typeface="Consolas" pitchFamily="34" charset="-120"/>
              </a:rPr>
              <a:t>&lt;model&gt;.bin</a:t>
            </a:r>
            <a:endParaRPr lang="en-US" sz="1500" dirty="0"/>
          </a:p>
        </p:txBody>
      </p:sp>
      <p:sp>
        <p:nvSpPr>
          <p:cNvPr id="16" name="Text 14"/>
          <p:cNvSpPr/>
          <p:nvPr/>
        </p:nvSpPr>
        <p:spPr>
          <a:xfrm>
            <a:off x="749808" y="5477256"/>
            <a:ext cx="5577840" cy="365760"/>
          </a:xfrm>
          <a:prstGeom prst="rect">
            <a:avLst/>
          </a:prstGeom>
          <a:noFill/>
          <a:ln/>
        </p:spPr>
        <p:txBody>
          <a:bodyPr wrap="square" lIns="0" tIns="0" rIns="0" bIns="0" rtlCol="0" anchor="ctr"/>
          <a:lstStyle/>
          <a:p>
            <a:pPr indent="0" marL="0">
              <a:buNone/>
            </a:pPr>
            <a:r>
              <a:rPr lang="en-US" sz="1200" dirty="0">
                <a:solidFill>
                  <a:srgbClr val="33475B"/>
                </a:solidFill>
                <a:latin typeface="Calibri" pitchFamily="34" charset="0"/>
                <a:ea typeface="Calibri" pitchFamily="34" charset="-122"/>
                <a:cs typeface="Calibri" pitchFamily="34" charset="-120"/>
              </a:rPr>
              <a:t>Optional — external weights loaded at runtime</a:t>
            </a:r>
            <a:endParaRPr lang="en-US" sz="1200" dirty="0"/>
          </a:p>
        </p:txBody>
      </p:sp>
      <p:sp>
        <p:nvSpPr>
          <p:cNvPr id="17" name="Shape 15"/>
          <p:cNvSpPr/>
          <p:nvPr/>
        </p:nvSpPr>
        <p:spPr>
          <a:xfrm>
            <a:off x="6812280" y="1874520"/>
            <a:ext cx="4800600" cy="4114800"/>
          </a:xfrm>
          <a:prstGeom prst="roundRect">
            <a:avLst>
              <a:gd name="adj" fmla="val 1556"/>
            </a:avLst>
          </a:prstGeom>
          <a:solidFill>
            <a:srgbClr val="0E2A47"/>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8" name="Text 16"/>
          <p:cNvSpPr/>
          <p:nvPr/>
        </p:nvSpPr>
        <p:spPr>
          <a:xfrm>
            <a:off x="7050024" y="2057400"/>
            <a:ext cx="4361688"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Code-generation principles</a:t>
            </a:r>
            <a:endParaRPr lang="en-US" sz="1500" dirty="0"/>
          </a:p>
        </p:txBody>
      </p:sp>
      <p:sp>
        <p:nvSpPr>
          <p:cNvPr id="19" name="Text 17"/>
          <p:cNvSpPr/>
          <p:nvPr/>
        </p:nvSpPr>
        <p:spPr>
          <a:xfrm>
            <a:off x="7050024" y="2496312"/>
            <a:ext cx="4361688" cy="3328416"/>
          </a:xfrm>
          <a:prstGeom prst="rect">
            <a:avLst/>
          </a:prstGeom>
          <a:noFill/>
          <a:ln/>
        </p:spPr>
        <p:txBody>
          <a:bodyPr wrap="square" lIns="0" tIns="0" rIns="0" bIns="0" rtlCol="0" anchor="t"/>
          <a:lstStyle/>
          <a:p>
            <a:pPr algn="l" marL="177800" indent="-177800">
              <a:spcAft>
                <a:spcPts val="900"/>
              </a:spcAft>
              <a:buSzPct val="100000"/>
              <a:buChar char="✓"/>
            </a:pPr>
            <a:r>
              <a:rPr lang="en-US" sz="1300" dirty="0">
                <a:solidFill>
                  <a:srgbClr val="DCE8F0"/>
                </a:solidFill>
                <a:latin typeface="Calibri" pitchFamily="34" charset="0"/>
                <a:ea typeface="Calibri" pitchFamily="34" charset="-122"/>
                <a:cs typeface="Calibri" pitchFamily="34" charset="-120"/>
              </a:rPr>
              <a:t>Simple canonical loop forms</a:t>
            </a:r>
            <a:endParaRPr lang="en-US" sz="1300" dirty="0"/>
          </a:p>
          <a:p>
            <a:pPr algn="l" marL="177800" indent="-177800">
              <a:spcAft>
                <a:spcPts val="900"/>
              </a:spcAft>
              <a:buSzPct val="100000"/>
              <a:buChar char="✓"/>
            </a:pPr>
            <a:r>
              <a:rPr lang="en-US" sz="1300" dirty="0">
                <a:solidFill>
                  <a:srgbClr val="DCE8F0"/>
                </a:solidFill>
                <a:latin typeface="Calibri" pitchFamily="34" charset="0"/>
                <a:ea typeface="Calibri" pitchFamily="34" charset="-122"/>
                <a:cs typeface="Calibri" pitchFamily="34" charset="-120"/>
              </a:rPr>
              <a:t>Linear array accesses, explicit dims &amp; strides</a:t>
            </a:r>
            <a:endParaRPr lang="en-US" sz="1300" dirty="0"/>
          </a:p>
          <a:p>
            <a:pPr algn="l" marL="177800" indent="-177800">
              <a:spcAft>
                <a:spcPts val="900"/>
              </a:spcAft>
              <a:buSzPct val="100000"/>
              <a:buChar char="✓"/>
            </a:pPr>
            <a:r>
              <a:rPr lang="en-US" sz="1300" dirty="0">
                <a:solidFill>
                  <a:srgbClr val="DCE8F0"/>
                </a:solidFill>
                <a:latin typeface="Calibri" pitchFamily="34" charset="0"/>
                <a:ea typeface="Calibri" pitchFamily="34" charset="-122"/>
                <a:cs typeface="Calibri" pitchFamily="34" charset="-120"/>
              </a:rPr>
              <a:t>No hidden pointer aliasing</a:t>
            </a:r>
            <a:endParaRPr lang="en-US" sz="1300" dirty="0"/>
          </a:p>
          <a:p>
            <a:pPr algn="l" marL="177800" indent="-177800">
              <a:spcAft>
                <a:spcPts val="900"/>
              </a:spcAft>
              <a:buSzPct val="100000"/>
              <a:buChar char="✓"/>
            </a:pPr>
            <a:r>
              <a:rPr lang="en-US" sz="1300" dirty="0">
                <a:solidFill>
                  <a:srgbClr val="DCE8F0"/>
                </a:solidFill>
                <a:latin typeface="Calibri" pitchFamily="34" charset="0"/>
                <a:ea typeface="Calibri" pitchFamily="34" charset="-122"/>
                <a:cs typeface="Calibri" pitchFamily="34" charset="-120"/>
              </a:rPr>
              <a:t>No dynamic dispatch, no recursion</a:t>
            </a:r>
            <a:endParaRPr lang="en-US" sz="1300" dirty="0"/>
          </a:p>
          <a:p>
            <a:pPr algn="l" marL="177800" indent="-177800">
              <a:spcAft>
                <a:spcPts val="900"/>
              </a:spcAft>
              <a:buSzPct val="100000"/>
              <a:buChar char="✓"/>
            </a:pPr>
            <a:r>
              <a:rPr lang="en-US" sz="1300" dirty="0">
                <a:solidFill>
                  <a:srgbClr val="DCE8F0"/>
                </a:solidFill>
                <a:latin typeface="Calibri" pitchFamily="34" charset="0"/>
                <a:ea typeface="Calibri" pitchFamily="34" charset="-122"/>
                <a:cs typeface="Calibri" pitchFamily="34" charset="-120"/>
              </a:rPr>
              <a:t>No dynamic memory allocation</a:t>
            </a:r>
            <a:endParaRPr lang="en-US" sz="1300" dirty="0"/>
          </a:p>
          <a:p>
            <a:pPr algn="l" marL="177800" indent="-177800">
              <a:spcAft>
                <a:spcPts val="900"/>
              </a:spcAft>
              <a:buSzPct val="100000"/>
              <a:buChar char="✓"/>
            </a:pPr>
            <a:r>
              <a:rPr lang="en-US" sz="1300" dirty="0">
                <a:solidFill>
                  <a:srgbClr val="DCE8F0"/>
                </a:solidFill>
                <a:latin typeface="Calibri" pitchFamily="34" charset="0"/>
                <a:ea typeface="Calibri" pitchFamily="34" charset="-122"/>
                <a:cs typeface="Calibri" pitchFamily="34" charset="-120"/>
              </a:rPr>
              <a:t>Stable symbol names, deterministic ordering</a:t>
            </a:r>
            <a:endParaRPr lang="en-US" sz="1300" dirty="0"/>
          </a:p>
        </p:txBody>
      </p:sp>
      <p:sp>
        <p:nvSpPr>
          <p:cNvPr id="20" name="Text 18"/>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21" name="Text 19"/>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ABI</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How tensors and containers map to C parameters</a:t>
            </a:r>
            <a:endParaRPr lang="en-US" sz="2800" dirty="0"/>
          </a:p>
        </p:txBody>
      </p:sp>
      <p:sp>
        <p:nvSpPr>
          <p:cNvPr id="5" name="Shape 3"/>
          <p:cNvSpPr/>
          <p:nvPr/>
        </p:nvSpPr>
        <p:spPr>
          <a:xfrm>
            <a:off x="548640" y="1828800"/>
            <a:ext cx="5486400" cy="1783080"/>
          </a:xfrm>
          <a:prstGeom prst="roundRect">
            <a:avLst>
              <a:gd name="adj" fmla="val 3077"/>
            </a:avLst>
          </a:prstGeom>
          <a:solidFill>
            <a:srgbClr val="0C2138"/>
          </a:solidFill>
          <a:ln/>
          <a:effectLst>
            <a:outerShdw sx="100000" sy="100000" kx="0" ky="0" algn="bl" rotWithShape="0" blurRad="114300" dist="38100" dir="5400000">
              <a:srgbClr val="0A1F38">
                <a:alpha val="14000"/>
              </a:srgbClr>
            </a:outerShdw>
          </a:effectLst>
        </p:spPr>
      </p:sp>
      <p:sp>
        <p:nvSpPr>
          <p:cNvPr id="6" name="Text 4"/>
          <p:cNvSpPr/>
          <p:nvPr/>
        </p:nvSpPr>
        <p:spPr>
          <a:xfrm>
            <a:off x="731520" y="1901952"/>
            <a:ext cx="512064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Tensors</a:t>
            </a:r>
            <a:endParaRPr lang="en-US" sz="1050" dirty="0"/>
          </a:p>
        </p:txBody>
      </p:sp>
      <p:sp>
        <p:nvSpPr>
          <p:cNvPr id="7" name="Text 5"/>
          <p:cNvSpPr/>
          <p:nvPr/>
        </p:nvSpPr>
        <p:spPr>
          <a:xfrm>
            <a:off x="731520" y="2212848"/>
            <a:ext cx="5120640" cy="1289304"/>
          </a:xfrm>
          <a:prstGeom prst="rect">
            <a:avLst/>
          </a:prstGeom>
          <a:noFill/>
          <a:ln/>
        </p:spPr>
        <p:txBody>
          <a:bodyPr wrap="square" lIns="0" tIns="0" rIns="0" bIns="0" rtlCol="0" anchor="t"/>
          <a:lstStyle/>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plain tensor  -&gt; array parameter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void model(const float x[N][C], float y[N][C]);</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dynamic dim   -&gt; VLA extent argument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void model(int N, int C, const float x[N][C], ...);</a:t>
            </a:r>
            <a:endParaRPr lang="en-US" sz="1250" dirty="0"/>
          </a:p>
        </p:txBody>
      </p:sp>
      <p:sp>
        <p:nvSpPr>
          <p:cNvPr id="8" name="Shape 6"/>
          <p:cNvSpPr/>
          <p:nvPr/>
        </p:nvSpPr>
        <p:spPr>
          <a:xfrm>
            <a:off x="6217920" y="1828800"/>
            <a:ext cx="5394960" cy="1783080"/>
          </a:xfrm>
          <a:prstGeom prst="roundRect">
            <a:avLst>
              <a:gd name="adj" fmla="val 3077"/>
            </a:avLst>
          </a:prstGeom>
          <a:solidFill>
            <a:srgbClr val="0C2138"/>
          </a:solidFill>
          <a:ln/>
          <a:effectLst>
            <a:outerShdw sx="100000" sy="100000" kx="0" ky="0" algn="bl" rotWithShape="0" blurRad="114300" dist="38100" dir="5400000">
              <a:srgbClr val="0A1F38">
                <a:alpha val="14000"/>
              </a:srgbClr>
            </a:outerShdw>
          </a:effectLst>
        </p:spPr>
      </p:sp>
      <p:sp>
        <p:nvSpPr>
          <p:cNvPr id="9" name="Text 7"/>
          <p:cNvSpPr/>
          <p:nvPr/>
        </p:nvSpPr>
        <p:spPr>
          <a:xfrm>
            <a:off x="6400800" y="1901952"/>
            <a:ext cx="502920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Sequences — fixed capacity + count</a:t>
            </a:r>
            <a:endParaRPr lang="en-US" sz="1050" dirty="0"/>
          </a:p>
        </p:txBody>
      </p:sp>
      <p:sp>
        <p:nvSpPr>
          <p:cNvPr id="10" name="Text 8"/>
          <p:cNvSpPr/>
          <p:nvPr/>
        </p:nvSpPr>
        <p:spPr>
          <a:xfrm>
            <a:off x="6400800" y="2212848"/>
            <a:ext cx="5029200" cy="1289304"/>
          </a:xfrm>
          <a:prstGeom prst="rect">
            <a:avLst/>
          </a:prstGeom>
          <a:noFill/>
          <a:ln/>
        </p:spPr>
        <p:txBody>
          <a:bodyPr wrap="square" lIns="0" tIns="0" rIns="0" bIns="0" rtlCol="0" anchor="t"/>
          <a:lstStyle/>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 sequence input  */</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const T name[EMX_SEQUENCE_MAX_LEN][elem_shape...];</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idx_t  name__count;</a:t>
            </a:r>
            <a:endParaRPr lang="en-US" sz="1200" dirty="0"/>
          </a:p>
          <a:p>
            <a:pPr algn="l" indent="0" marL="0">
              <a:lnSpc>
                <a:spcPct val="105000"/>
              </a:lnSpc>
              <a:buNone/>
            </a:pP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 sequence output */</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T      name[EMX_SEQUENCE_MAX_LEN][elem_shape...];</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idx_t *name__count;</a:t>
            </a:r>
            <a:endParaRPr lang="en-US" sz="1200" dirty="0"/>
          </a:p>
        </p:txBody>
      </p:sp>
      <p:sp>
        <p:nvSpPr>
          <p:cNvPr id="11" name="Shape 9"/>
          <p:cNvSpPr/>
          <p:nvPr/>
        </p:nvSpPr>
        <p:spPr>
          <a:xfrm>
            <a:off x="548640" y="3794760"/>
            <a:ext cx="5486400" cy="2331720"/>
          </a:xfrm>
          <a:prstGeom prst="roundRect">
            <a:avLst>
              <a:gd name="adj" fmla="val 274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2" name="Text 10"/>
          <p:cNvSpPr/>
          <p:nvPr/>
        </p:nvSpPr>
        <p:spPr>
          <a:xfrm>
            <a:off x="786384" y="397764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Bounds the compiler must invent</a:t>
            </a:r>
            <a:endParaRPr lang="en-US" sz="1500" dirty="0"/>
          </a:p>
        </p:txBody>
      </p:sp>
      <p:sp>
        <p:nvSpPr>
          <p:cNvPr id="13" name="Text 11"/>
          <p:cNvSpPr/>
          <p:nvPr/>
        </p:nvSpPr>
        <p:spPr>
          <a:xfrm>
            <a:off x="786384" y="4416552"/>
            <a:ext cx="5047488" cy="1545336"/>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EMX_SEQUENCE_MAX_LEN — default 32, #ifndef-overridable</a:t>
            </a:r>
            <a:endParaRPr lang="en-US" sz="1200" dirty="0"/>
          </a:p>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EMX_STRING_MAX_LEN — default 256, #ifndef-overridable</a:t>
            </a:r>
            <a:endParaRPr lang="en-US" sz="1200" dirty="0"/>
          </a:p>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Ragged inputs: --sequence-element-shape declares maxima</a:t>
            </a:r>
            <a:endParaRPr lang="en-US" sz="1200" dirty="0"/>
          </a:p>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Per-item dims: idx_t name__dim_&lt;axis&gt;[EMX_SEQUENCE_MAX_LEN]</a:t>
            </a:r>
            <a:endParaRPr lang="en-US" sz="1200" dirty="0"/>
          </a:p>
        </p:txBody>
      </p:sp>
      <p:sp>
        <p:nvSpPr>
          <p:cNvPr id="14" name="Shape 12"/>
          <p:cNvSpPr/>
          <p:nvPr/>
        </p:nvSpPr>
        <p:spPr>
          <a:xfrm>
            <a:off x="6217920" y="3794760"/>
            <a:ext cx="5394960" cy="2331720"/>
          </a:xfrm>
          <a:prstGeom prst="roundRect">
            <a:avLst>
              <a:gd name="adj" fmla="val 2745"/>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15" name="Text 13"/>
          <p:cNvSpPr/>
          <p:nvPr/>
        </p:nvSpPr>
        <p:spPr>
          <a:xfrm>
            <a:off x="6455664" y="3977640"/>
            <a:ext cx="495604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Reduced-precision dtypes</a:t>
            </a:r>
            <a:endParaRPr lang="en-US" sz="1500" dirty="0"/>
          </a:p>
        </p:txBody>
      </p:sp>
      <p:sp>
        <p:nvSpPr>
          <p:cNvPr id="16" name="Text 14"/>
          <p:cNvSpPr/>
          <p:nvPr/>
        </p:nvSpPr>
        <p:spPr>
          <a:xfrm>
            <a:off x="6455664" y="4416552"/>
            <a:ext cx="4956048" cy="1545336"/>
          </a:xfrm>
          <a:prstGeom prst="rect">
            <a:avLst/>
          </a:prstGeom>
          <a:noFill/>
          <a:ln/>
        </p:spPr>
        <p:txBody>
          <a:bodyPr wrap="square" lIns="0" tIns="0" rIns="0" bIns="0" rtlCol="0" anchor="t"/>
          <a:lstStyle/>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float16 → _Float16 (where supported)</a:t>
            </a:r>
            <a:endParaRPr lang="en-US" sz="1200" dirty="0"/>
          </a:p>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bfloat16 → __bf16 (compiler/target-specific)</a:t>
            </a:r>
            <a:endParaRPr lang="en-US" sz="1200" dirty="0"/>
          </a:p>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int2 / int4 → _BitInt(N), unsigned _BitInt(N) (C23)</a:t>
            </a:r>
            <a:endParaRPr lang="en-US" sz="1200" dirty="0"/>
          </a:p>
          <a:p>
            <a:pPr algn="l" marL="177800" indent="-177800">
              <a:spcAft>
                <a:spcPts val="700"/>
              </a:spcAft>
              <a:buSzPct val="100000"/>
              <a:buChar char="•"/>
            </a:pPr>
            <a:r>
              <a:rPr lang="en-US" sz="1200" dirty="0">
                <a:solidFill>
                  <a:srgbClr val="33475B"/>
                </a:solidFill>
                <a:latin typeface="Calibri" pitchFamily="34" charset="0"/>
                <a:ea typeface="Calibri" pitchFamily="34" charset="-122"/>
                <a:cs typeface="Calibri" pitchFamily="34" charset="-120"/>
              </a:rPr>
              <a:t>FP8 / FP4 → uint8 storage + conversion helpers</a:t>
            </a:r>
            <a:endParaRPr lang="en-US" sz="1200" dirty="0"/>
          </a:p>
        </p:txBody>
      </p:sp>
      <p:sp>
        <p:nvSpPr>
          <p:cNvPr id="17"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8" name="Text 1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POSITIONING</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C is the handoff IR, not just the output</a:t>
            </a:r>
            <a:endParaRPr lang="en-US" sz="2800" dirty="0"/>
          </a:p>
        </p:txBody>
      </p:sp>
      <p:sp>
        <p:nvSpPr>
          <p:cNvPr id="5" name="Shape 3"/>
          <p:cNvSpPr/>
          <p:nvPr/>
        </p:nvSpPr>
        <p:spPr>
          <a:xfrm>
            <a:off x="640080" y="1965960"/>
            <a:ext cx="1444752" cy="566928"/>
          </a:xfrm>
          <a:prstGeom prst="roundRect">
            <a:avLst>
              <a:gd name="adj" fmla="val 16129"/>
            </a:avLst>
          </a:prstGeom>
          <a:solidFill>
            <a:srgbClr val="0E2A47"/>
          </a:solidFill>
          <a:ln/>
        </p:spPr>
      </p:sp>
      <p:sp>
        <p:nvSpPr>
          <p:cNvPr id="6" name="Text 4"/>
          <p:cNvSpPr/>
          <p:nvPr/>
        </p:nvSpPr>
        <p:spPr>
          <a:xfrm>
            <a:off x="640080" y="1965960"/>
            <a:ext cx="1444752" cy="566928"/>
          </a:xfrm>
          <a:prstGeom prst="rect">
            <a:avLst/>
          </a:prstGeom>
          <a:noFill/>
          <a:ln/>
        </p:spPr>
        <p:txBody>
          <a:bodyPr wrap="square" lIns="0" tIns="0" rIns="0" bIns="0" rtlCol="0" anchor="ctr"/>
          <a:lstStyle/>
          <a:p>
            <a:pPr algn="ctr" indent="0" marL="0">
              <a:buNone/>
            </a:pPr>
            <a:r>
              <a:rPr lang="en-US" sz="1250" dirty="0">
                <a:solidFill>
                  <a:srgbClr val="FFFFFF"/>
                </a:solidFill>
                <a:latin typeface="Consolas" pitchFamily="34" charset="0"/>
                <a:ea typeface="Consolas" pitchFamily="34" charset="-122"/>
                <a:cs typeface="Consolas" pitchFamily="34" charset="-120"/>
              </a:rPr>
              <a:t>ONNX model</a:t>
            </a:r>
            <a:endParaRPr lang="en-US" sz="1250" dirty="0"/>
          </a:p>
        </p:txBody>
      </p:sp>
      <p:sp>
        <p:nvSpPr>
          <p:cNvPr id="7" name="Text 5"/>
          <p:cNvSpPr/>
          <p:nvPr/>
        </p:nvSpPr>
        <p:spPr>
          <a:xfrm>
            <a:off x="2084832" y="1965960"/>
            <a:ext cx="384048" cy="566928"/>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468880" y="1965960"/>
            <a:ext cx="1768450" cy="566928"/>
          </a:xfrm>
          <a:prstGeom prst="roundRect">
            <a:avLst>
              <a:gd name="adj" fmla="val 16129"/>
            </a:avLst>
          </a:prstGeom>
          <a:solidFill>
            <a:srgbClr val="0E7C77"/>
          </a:solidFill>
          <a:ln/>
        </p:spPr>
      </p:sp>
      <p:sp>
        <p:nvSpPr>
          <p:cNvPr id="9" name="Text 7"/>
          <p:cNvSpPr/>
          <p:nvPr/>
        </p:nvSpPr>
        <p:spPr>
          <a:xfrm>
            <a:off x="2468880" y="1965960"/>
            <a:ext cx="1768450" cy="566928"/>
          </a:xfrm>
          <a:prstGeom prst="rect">
            <a:avLst/>
          </a:prstGeom>
          <a:noFill/>
          <a:ln/>
        </p:spPr>
        <p:txBody>
          <a:bodyPr wrap="square" lIns="0" tIns="0" rIns="0" bIns="0" rtlCol="0" anchor="ctr"/>
          <a:lstStyle/>
          <a:p>
            <a:pPr algn="ctr" indent="0" marL="0">
              <a:buNone/>
            </a:pPr>
            <a:r>
              <a:rPr lang="en-US" sz="1250" dirty="0">
                <a:solidFill>
                  <a:srgbClr val="FFFFFF"/>
                </a:solidFill>
                <a:latin typeface="Consolas" pitchFamily="34" charset="0"/>
                <a:ea typeface="Consolas" pitchFamily="34" charset="-122"/>
                <a:cs typeface="Consolas" pitchFamily="34" charset="-120"/>
              </a:rPr>
              <a:t>emx-onnx-cgen</a:t>
            </a:r>
            <a:endParaRPr lang="en-US" sz="1250" dirty="0"/>
          </a:p>
        </p:txBody>
      </p:sp>
      <p:sp>
        <p:nvSpPr>
          <p:cNvPr id="10" name="Text 8"/>
          <p:cNvSpPr/>
          <p:nvPr/>
        </p:nvSpPr>
        <p:spPr>
          <a:xfrm>
            <a:off x="4237330" y="1965960"/>
            <a:ext cx="384048" cy="566928"/>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4621378" y="1965960"/>
            <a:ext cx="1121054" cy="566928"/>
          </a:xfrm>
          <a:prstGeom prst="roundRect">
            <a:avLst>
              <a:gd name="adj" fmla="val 16129"/>
            </a:avLst>
          </a:prstGeom>
          <a:solidFill>
            <a:srgbClr val="0E7C77"/>
          </a:solidFill>
          <a:ln/>
        </p:spPr>
      </p:sp>
      <p:sp>
        <p:nvSpPr>
          <p:cNvPr id="12" name="Text 10"/>
          <p:cNvSpPr/>
          <p:nvPr/>
        </p:nvSpPr>
        <p:spPr>
          <a:xfrm>
            <a:off x="4621378" y="1965960"/>
            <a:ext cx="1121054" cy="566928"/>
          </a:xfrm>
          <a:prstGeom prst="rect">
            <a:avLst/>
          </a:prstGeom>
          <a:noFill/>
          <a:ln/>
        </p:spPr>
        <p:txBody>
          <a:bodyPr wrap="square" lIns="0" tIns="0" rIns="0" bIns="0" rtlCol="0" anchor="ctr"/>
          <a:lstStyle/>
          <a:p>
            <a:pPr algn="ctr" indent="0" marL="0">
              <a:buNone/>
            </a:pPr>
            <a:r>
              <a:rPr lang="en-US" sz="1250" dirty="0">
                <a:solidFill>
                  <a:srgbClr val="FFFFFF"/>
                </a:solidFill>
                <a:latin typeface="Consolas" pitchFamily="34" charset="0"/>
                <a:ea typeface="Consolas" pitchFamily="34" charset="-122"/>
                <a:cs typeface="Consolas" pitchFamily="34" charset="-120"/>
              </a:rPr>
              <a:t>clean C</a:t>
            </a:r>
            <a:endParaRPr lang="en-US" sz="1250" dirty="0"/>
          </a:p>
        </p:txBody>
      </p:sp>
      <p:sp>
        <p:nvSpPr>
          <p:cNvPr id="13" name="Text 11"/>
          <p:cNvSpPr/>
          <p:nvPr/>
        </p:nvSpPr>
        <p:spPr>
          <a:xfrm>
            <a:off x="5742432" y="1965960"/>
            <a:ext cx="384048" cy="566928"/>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6126480" y="1965960"/>
            <a:ext cx="2307946" cy="566928"/>
          </a:xfrm>
          <a:prstGeom prst="roundRect">
            <a:avLst>
              <a:gd name="adj" fmla="val 16129"/>
            </a:avLst>
          </a:prstGeom>
          <a:solidFill>
            <a:srgbClr val="0E2A47"/>
          </a:solidFill>
          <a:ln/>
        </p:spPr>
      </p:sp>
      <p:sp>
        <p:nvSpPr>
          <p:cNvPr id="15" name="Text 13"/>
          <p:cNvSpPr/>
          <p:nvPr/>
        </p:nvSpPr>
        <p:spPr>
          <a:xfrm>
            <a:off x="6126480" y="1965960"/>
            <a:ext cx="2307946" cy="566928"/>
          </a:xfrm>
          <a:prstGeom prst="rect">
            <a:avLst/>
          </a:prstGeom>
          <a:noFill/>
          <a:ln/>
        </p:spPr>
        <p:txBody>
          <a:bodyPr wrap="square" lIns="0" tIns="0" rIns="0" bIns="0" rtlCol="0" anchor="ctr"/>
          <a:lstStyle/>
          <a:p>
            <a:pPr algn="ctr" indent="0" marL="0">
              <a:buNone/>
            </a:pPr>
            <a:r>
              <a:rPr lang="en-US" sz="1250" dirty="0">
                <a:solidFill>
                  <a:srgbClr val="FFFFFF"/>
                </a:solidFill>
                <a:latin typeface="Consolas" pitchFamily="34" charset="0"/>
                <a:ea typeface="Consolas" pitchFamily="34" charset="-122"/>
                <a:cs typeface="Consolas" pitchFamily="34" charset="-120"/>
              </a:rPr>
              <a:t>emmtrix Vectorizer</a:t>
            </a:r>
            <a:endParaRPr lang="en-US" sz="1250" dirty="0"/>
          </a:p>
        </p:txBody>
      </p:sp>
      <p:sp>
        <p:nvSpPr>
          <p:cNvPr id="16" name="Text 14"/>
          <p:cNvSpPr/>
          <p:nvPr/>
        </p:nvSpPr>
        <p:spPr>
          <a:xfrm>
            <a:off x="8434426" y="1965960"/>
            <a:ext cx="384048" cy="566928"/>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8818474" y="1965960"/>
            <a:ext cx="2955341" cy="566928"/>
          </a:xfrm>
          <a:prstGeom prst="roundRect">
            <a:avLst>
              <a:gd name="adj" fmla="val 16129"/>
            </a:avLst>
          </a:prstGeom>
          <a:solidFill>
            <a:srgbClr val="0E2A47"/>
          </a:solidFill>
          <a:ln/>
        </p:spPr>
      </p:sp>
      <p:sp>
        <p:nvSpPr>
          <p:cNvPr id="18" name="Text 16"/>
          <p:cNvSpPr/>
          <p:nvPr/>
        </p:nvSpPr>
        <p:spPr>
          <a:xfrm>
            <a:off x="8818474" y="1965960"/>
            <a:ext cx="2955341" cy="566928"/>
          </a:xfrm>
          <a:prstGeom prst="rect">
            <a:avLst/>
          </a:prstGeom>
          <a:noFill/>
          <a:ln/>
        </p:spPr>
        <p:txBody>
          <a:bodyPr wrap="square" lIns="0" tIns="0" rIns="0" bIns="0" rtlCol="0" anchor="ctr"/>
          <a:lstStyle/>
          <a:p>
            <a:pPr algn="ctr" indent="0" marL="0">
              <a:buNone/>
            </a:pPr>
            <a:r>
              <a:rPr lang="en-US" sz="1250" dirty="0">
                <a:solidFill>
                  <a:srgbClr val="FFFFFF"/>
                </a:solidFill>
                <a:latin typeface="Consolas" pitchFamily="34" charset="0"/>
                <a:ea typeface="Consolas" pitchFamily="34" charset="-122"/>
                <a:cs typeface="Consolas" pitchFamily="34" charset="-120"/>
              </a:rPr>
              <a:t>embedded / safety target</a:t>
            </a:r>
            <a:endParaRPr lang="en-US" sz="1250" dirty="0"/>
          </a:p>
        </p:txBody>
      </p:sp>
      <p:sp>
        <p:nvSpPr>
          <p:cNvPr id="19" name="Shape 17"/>
          <p:cNvSpPr/>
          <p:nvPr/>
        </p:nvSpPr>
        <p:spPr>
          <a:xfrm>
            <a:off x="548640" y="2926080"/>
            <a:ext cx="5486400" cy="3017520"/>
          </a:xfrm>
          <a:prstGeom prst="roundRect">
            <a:avLst>
              <a:gd name="adj" fmla="val 2121"/>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20" name="Text 18"/>
          <p:cNvSpPr/>
          <p:nvPr/>
        </p:nvSpPr>
        <p:spPr>
          <a:xfrm>
            <a:off x="786384" y="31089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Like MLIR in spirit — different in handoff</a:t>
            </a:r>
            <a:endParaRPr lang="en-US" sz="1500" dirty="0"/>
          </a:p>
        </p:txBody>
      </p:sp>
      <p:sp>
        <p:nvSpPr>
          <p:cNvPr id="21" name="Text 19"/>
          <p:cNvSpPr/>
          <p:nvPr/>
        </p:nvSpPr>
        <p:spPr>
          <a:xfrm>
            <a:off x="786384" y="3547872"/>
            <a:ext cx="5047488" cy="2231136"/>
          </a:xfrm>
          <a:prstGeom prst="rect">
            <a:avLst/>
          </a:prstGeom>
          <a:noFill/>
          <a:ln/>
        </p:spPr>
        <p:txBody>
          <a:bodyPr wrap="square" lIns="0" tIns="0" rIns="0" bIns="0" rtlCol="0" anchor="t"/>
          <a:lstStyle/>
          <a:p>
            <a:pPr algn="l" marL="177800" indent="-177800">
              <a:spcAft>
                <a:spcPts val="800"/>
              </a:spcAft>
              <a:buSzPct val="100000"/>
              <a:buChar char="•"/>
            </a:pPr>
            <a:r>
              <a:rPr lang="en-US" sz="1250" dirty="0">
                <a:solidFill>
                  <a:srgbClr val="33475B"/>
                </a:solidFill>
                <a:latin typeface="Calibri" pitchFamily="34" charset="0"/>
                <a:ea typeface="Calibri" pitchFamily="34" charset="-122"/>
                <a:cs typeface="Calibri" pitchFamily="34" charset="-120"/>
              </a:rPr>
              <a:t>Staged lowering of a high-level model, as in MLIR/LLVM</a:t>
            </a:r>
            <a:endParaRPr lang="en-US" sz="1250" dirty="0"/>
          </a:p>
          <a:p>
            <a:pPr algn="l" marL="177800" indent="-177800">
              <a:spcAft>
                <a:spcPts val="800"/>
              </a:spcAft>
              <a:buSzPct val="100000"/>
              <a:buChar char="•"/>
            </a:pPr>
            <a:r>
              <a:rPr lang="en-US" sz="1250" dirty="0">
                <a:solidFill>
                  <a:srgbClr val="33475B"/>
                </a:solidFill>
                <a:latin typeface="Calibri" pitchFamily="34" charset="0"/>
                <a:ea typeface="Calibri" pitchFamily="34" charset="-122"/>
                <a:cs typeface="Calibri" pitchFamily="34" charset="-120"/>
              </a:rPr>
              <a:t>But the exposed artifact is standard C, not an internal IR</a:t>
            </a:r>
            <a:endParaRPr lang="en-US" sz="1250" dirty="0"/>
          </a:p>
          <a:p>
            <a:pPr algn="l" marL="177800" indent="-177800">
              <a:spcAft>
                <a:spcPts val="800"/>
              </a:spcAft>
              <a:buSzPct val="100000"/>
              <a:buChar char="•"/>
            </a:pPr>
            <a:r>
              <a:rPr lang="en-US" sz="1250" dirty="0">
                <a:solidFill>
                  <a:srgbClr val="33475B"/>
                </a:solidFill>
                <a:latin typeface="Calibri" pitchFamily="34" charset="0"/>
                <a:ea typeface="Calibri" pitchFamily="34" charset="-122"/>
                <a:cs typeface="Calibri" pitchFamily="34" charset="-120"/>
              </a:rPr>
              <a:t>C is standardized and broadly understood</a:t>
            </a:r>
            <a:endParaRPr lang="en-US" sz="1250" dirty="0"/>
          </a:p>
          <a:p>
            <a:pPr algn="l" marL="177800" indent="-177800">
              <a:spcAft>
                <a:spcPts val="800"/>
              </a:spcAft>
              <a:buSzPct val="100000"/>
              <a:buChar char="•"/>
            </a:pPr>
            <a:r>
              <a:rPr lang="en-US" sz="1250" dirty="0">
                <a:solidFill>
                  <a:srgbClr val="33475B"/>
                </a:solidFill>
                <a:latin typeface="Calibri" pitchFamily="34" charset="0"/>
                <a:ea typeface="Calibri" pitchFamily="34" charset="-122"/>
                <a:cs typeface="Calibri" pitchFamily="34" charset="-120"/>
              </a:rPr>
              <a:t>Reviewable by engineers and static-analysis tools</a:t>
            </a:r>
            <a:endParaRPr lang="en-US" sz="1250" dirty="0"/>
          </a:p>
          <a:p>
            <a:pPr algn="l" marL="177800" indent="-177800">
              <a:spcAft>
                <a:spcPts val="800"/>
              </a:spcAft>
              <a:buSzPct val="100000"/>
              <a:buChar char="•"/>
            </a:pPr>
            <a:r>
              <a:rPr lang="en-US" sz="1250" dirty="0">
                <a:solidFill>
                  <a:srgbClr val="33475B"/>
                </a:solidFill>
                <a:latin typeface="Calibri" pitchFamily="34" charset="0"/>
                <a:ea typeface="Calibri" pitchFamily="34" charset="-122"/>
                <a:cs typeface="Calibri" pitchFamily="34" charset="-120"/>
              </a:rPr>
              <a:t>Compiles with heterogeneous &amp; safety-critical toolchains</a:t>
            </a:r>
            <a:endParaRPr lang="en-US" sz="1250" dirty="0"/>
          </a:p>
        </p:txBody>
      </p:sp>
      <p:sp>
        <p:nvSpPr>
          <p:cNvPr id="22" name="Shape 20"/>
          <p:cNvSpPr/>
          <p:nvPr/>
        </p:nvSpPr>
        <p:spPr>
          <a:xfrm>
            <a:off x="6217920" y="2926080"/>
            <a:ext cx="5394960" cy="3017520"/>
          </a:xfrm>
          <a:prstGeom prst="roundRect">
            <a:avLst>
              <a:gd name="adj" fmla="val 2121"/>
            </a:avLst>
          </a:prstGeom>
          <a:solidFill>
            <a:srgbClr val="0E2A47"/>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23" name="Text 21"/>
          <p:cNvSpPr/>
          <p:nvPr/>
        </p:nvSpPr>
        <p:spPr>
          <a:xfrm>
            <a:off x="6455664" y="3108960"/>
            <a:ext cx="4956048"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So code quality is a contract</a:t>
            </a:r>
            <a:endParaRPr lang="en-US" sz="1500" dirty="0"/>
          </a:p>
        </p:txBody>
      </p:sp>
      <p:sp>
        <p:nvSpPr>
          <p:cNvPr id="24" name="Text 22"/>
          <p:cNvSpPr/>
          <p:nvPr/>
        </p:nvSpPr>
        <p:spPr>
          <a:xfrm>
            <a:off x="6455664" y="3547872"/>
            <a:ext cx="4956048" cy="2231136"/>
          </a:xfrm>
          <a:prstGeom prst="rect">
            <a:avLst/>
          </a:prstGeom>
          <a:noFill/>
          <a:ln/>
        </p:spPr>
        <p:txBody>
          <a:bodyPr wrap="square" lIns="0" tIns="0" rIns="0" bIns="0" rtlCol="0" anchor="t"/>
          <a:lstStyle/>
          <a:p>
            <a:pPr algn="l" marL="177800" indent="-177800">
              <a:spcAft>
                <a:spcPts val="900"/>
              </a:spcAft>
              <a:buSzPct val="100000"/>
              <a:buChar char="•"/>
            </a:pPr>
            <a:r>
              <a:rPr lang="en-US" sz="1250" dirty="0">
                <a:solidFill>
                  <a:srgbClr val="DCE8F0"/>
                </a:solidFill>
                <a:latin typeface="Calibri" pitchFamily="34" charset="0"/>
                <a:ea typeface="Calibri" pitchFamily="34" charset="-122"/>
                <a:cs typeface="Calibri" pitchFamily="34" charset="-120"/>
              </a:rPr>
              <a:t>Poor C is not just ugly — it weakens analysis &amp; review</a:t>
            </a:r>
            <a:endParaRPr lang="en-US" sz="1250" dirty="0"/>
          </a:p>
          <a:p>
            <a:pPr algn="l" marL="177800" indent="-177800">
              <a:spcAft>
                <a:spcPts val="900"/>
              </a:spcAft>
              <a:buSzPct val="100000"/>
              <a:buChar char="•"/>
            </a:pPr>
            <a:r>
              <a:rPr lang="en-US" sz="1250" dirty="0">
                <a:solidFill>
                  <a:srgbClr val="DCE8F0"/>
                </a:solidFill>
                <a:latin typeface="Calibri" pitchFamily="34" charset="0"/>
                <a:ea typeface="Calibri" pitchFamily="34" charset="-122"/>
                <a:cs typeface="Calibri" pitchFamily="34" charset="-120"/>
              </a:rPr>
              <a:t>It undermines vectorization and safety arguments</a:t>
            </a:r>
            <a:endParaRPr lang="en-US" sz="1250" dirty="0"/>
          </a:p>
          <a:p>
            <a:pPr algn="l" marL="177800" indent="-177800">
              <a:spcAft>
                <a:spcPts val="900"/>
              </a:spcAft>
              <a:buSzPct val="100000"/>
              <a:buChar char="•"/>
            </a:pPr>
            <a:r>
              <a:rPr lang="en-US" sz="1250" dirty="0">
                <a:solidFill>
                  <a:srgbClr val="DCE8F0"/>
                </a:solidFill>
                <a:latin typeface="Calibri" pitchFamily="34" charset="0"/>
                <a:ea typeface="Calibri" pitchFamily="34" charset="-122"/>
                <a:cs typeface="Calibri" pitchFamily="34" charset="-120"/>
              </a:rPr>
              <a:t>Clean, disciplined C is part of the compiler contract</a:t>
            </a:r>
            <a:endParaRPr lang="en-US" sz="1250" dirty="0"/>
          </a:p>
          <a:p>
            <a:pPr algn="l" marL="177800" indent="-177800">
              <a:spcAft>
                <a:spcPts val="900"/>
              </a:spcAft>
              <a:buSzPct val="100000"/>
              <a:buChar char="•"/>
            </a:pPr>
            <a:r>
              <a:rPr lang="en-US" sz="1250" dirty="0">
                <a:solidFill>
                  <a:srgbClr val="DCE8F0"/>
                </a:solidFill>
                <a:latin typeface="Calibri" pitchFamily="34" charset="0"/>
                <a:ea typeface="Calibri" pitchFamily="34" charset="-122"/>
                <a:cs typeface="Calibri" pitchFamily="34" charset="-120"/>
              </a:rPr>
              <a:t>Used in ISO 26262 / DO-178C contexts with qualification</a:t>
            </a:r>
            <a:endParaRPr lang="en-US" sz="1250" dirty="0"/>
          </a:p>
        </p:txBody>
      </p:sp>
      <p:sp>
        <p:nvSpPr>
          <p:cNvPr id="25" name="Text 23"/>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26" name="Text 2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A47"/>
        </a:solidFill>
      </p:bgPr>
    </p:bg>
    <p:spTree>
      <p:nvGrpSpPr>
        <p:cNvPr id="1" name=""/>
        <p:cNvGrpSpPr/>
        <p:nvPr/>
      </p:nvGrpSpPr>
      <p:grpSpPr>
        <a:xfrm>
          <a:off x="0" y="0"/>
          <a:ext cx="0" cy="0"/>
          <a:chOff x="0" y="0"/>
          <a:chExt cx="0" cy="0"/>
        </a:xfrm>
      </p:grpSpPr>
      <p:sp>
        <p:nvSpPr>
          <p:cNvPr id="2" name="Text 0"/>
          <p:cNvSpPr/>
          <p:nvPr/>
        </p:nvSpPr>
        <p:spPr>
          <a:xfrm>
            <a:off x="777240" y="914400"/>
            <a:ext cx="2743200" cy="1463040"/>
          </a:xfrm>
          <a:prstGeom prst="rect">
            <a:avLst/>
          </a:prstGeom>
          <a:noFill/>
          <a:ln/>
        </p:spPr>
        <p:txBody>
          <a:bodyPr wrap="square" lIns="0" tIns="0" rIns="0" bIns="0" rtlCol="0" anchor="ctr"/>
          <a:lstStyle/>
          <a:p>
            <a:pPr indent="0" marL="0">
              <a:buNone/>
            </a:pPr>
            <a:r>
              <a:rPr lang="en-US" sz="9600" b="1" dirty="0">
                <a:solidFill>
                  <a:srgbClr val="1C436B"/>
                </a:solidFill>
                <a:latin typeface="Cambria" pitchFamily="34" charset="0"/>
                <a:ea typeface="Cambria" pitchFamily="34" charset="-122"/>
                <a:cs typeface="Cambria" pitchFamily="34" charset="-120"/>
              </a:rPr>
              <a:t>03</a:t>
            </a:r>
            <a:endParaRPr lang="en-US" sz="9600" dirty="0"/>
          </a:p>
        </p:txBody>
      </p:sp>
      <p:sp>
        <p:nvSpPr>
          <p:cNvPr id="3" name="Shape 1"/>
          <p:cNvSpPr/>
          <p:nvPr/>
        </p:nvSpPr>
        <p:spPr>
          <a:xfrm>
            <a:off x="822960" y="2697480"/>
            <a:ext cx="640080" cy="109728"/>
          </a:xfrm>
          <a:prstGeom prst="roundRect">
            <a:avLst>
              <a:gd name="adj" fmla="val 50000"/>
            </a:avLst>
          </a:prstGeom>
          <a:solidFill>
            <a:srgbClr val="16A39A"/>
          </a:solidFill>
          <a:ln/>
        </p:spPr>
      </p:sp>
      <p:sp>
        <p:nvSpPr>
          <p:cNvPr id="4" name="Text 2"/>
          <p:cNvSpPr/>
          <p:nvPr/>
        </p:nvSpPr>
        <p:spPr>
          <a:xfrm>
            <a:off x="777240" y="28803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Architecture &amp; verification</a:t>
            </a:r>
            <a:endParaRPr lang="en-US" sz="4000" dirty="0"/>
          </a:p>
        </p:txBody>
      </p:sp>
      <p:sp>
        <p:nvSpPr>
          <p:cNvPr id="5" name="Text 3"/>
          <p:cNvSpPr/>
          <p:nvPr/>
        </p:nvSpPr>
        <p:spPr>
          <a:xfrm>
            <a:off x="795528" y="3840480"/>
            <a:ext cx="10058400" cy="548640"/>
          </a:xfrm>
          <a:prstGeom prst="rect">
            <a:avLst/>
          </a:prstGeom>
          <a:noFill/>
          <a:ln/>
        </p:spPr>
        <p:txBody>
          <a:bodyPr wrap="square" lIns="0" tIns="0" rIns="0" bIns="0" rtlCol="0" anchor="ctr"/>
          <a:lstStyle/>
          <a:p>
            <a:pPr indent="0" marL="0">
              <a:buNone/>
            </a:pPr>
            <a:r>
              <a:rPr lang="en-US" sz="1700" dirty="0">
                <a:solidFill>
                  <a:srgbClr val="9FC0D6"/>
                </a:solidFill>
                <a:latin typeface="Calibri" pitchFamily="34" charset="0"/>
                <a:ea typeface="Calibri" pitchFamily="34" charset="-122"/>
                <a:cs typeface="Calibri" pitchFamily="34" charset="-120"/>
              </a:rPr>
              <a:t>How 100% coverage shaped the system</a:t>
            </a:r>
            <a:endParaRPr lang="en-US" sz="1700" dirty="0"/>
          </a:p>
        </p:txBody>
      </p:sp>
      <p:sp>
        <p:nvSpPr>
          <p:cNvPr id="6" name="Text 4"/>
          <p:cNvSpPr/>
          <p:nvPr/>
        </p:nvSpPr>
        <p:spPr>
          <a:xfrm>
            <a:off x="822960" y="4572000"/>
            <a:ext cx="10424160" cy="1737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Coverage as an architectural constraint, not a metric</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A deterministic generate → compile → compare loop</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ORT-derived artifacts make coverage realistic</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ARCHITECTURE</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100% coverage shaped the architecture</a:t>
            </a:r>
            <a:endParaRPr lang="en-US" sz="2800" dirty="0"/>
          </a:p>
        </p:txBody>
      </p:sp>
      <p:sp>
        <p:nvSpPr>
          <p:cNvPr id="5" name="Text 3"/>
          <p:cNvSpPr/>
          <p:nvPr/>
        </p:nvSpPr>
        <p:spPr>
          <a:xfrm>
            <a:off x="548640" y="1664208"/>
            <a:ext cx="11064240" cy="411480"/>
          </a:xfrm>
          <a:prstGeom prst="rect">
            <a:avLst/>
          </a:prstGeom>
          <a:noFill/>
          <a:ln/>
        </p:spPr>
        <p:txBody>
          <a:bodyPr wrap="square" lIns="0" tIns="0" rIns="0" bIns="0" rtlCol="0" anchor="ctr"/>
          <a:lstStyle/>
          <a:p>
            <a:pPr indent="0" marL="0">
              <a:buNone/>
            </a:pPr>
            <a:r>
              <a:rPr lang="en-US" sz="1450" dirty="0">
                <a:solidFill>
                  <a:srgbClr val="33475B"/>
                </a:solidFill>
                <a:latin typeface="Calibri" pitchFamily="34" charset="0"/>
                <a:ea typeface="Calibri" pitchFamily="34" charset="-122"/>
                <a:cs typeface="Calibri" pitchFamily="34" charset="-120"/>
              </a:rPr>
              <a:t>Goal: 100% test coverage across the compiler pipeline — not just a metric, an architectural constraint.</a:t>
            </a:r>
            <a:endParaRPr lang="en-US" sz="1450" dirty="0"/>
          </a:p>
        </p:txBody>
      </p:sp>
      <p:sp>
        <p:nvSpPr>
          <p:cNvPr id="6" name="Shape 4"/>
          <p:cNvSpPr/>
          <p:nvPr/>
        </p:nvSpPr>
        <p:spPr>
          <a:xfrm>
            <a:off x="548640" y="2240280"/>
            <a:ext cx="5486400" cy="3794760"/>
          </a:xfrm>
          <a:prstGeom prst="roundRect">
            <a:avLst>
              <a:gd name="adj" fmla="val 1928"/>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7" name="Text 5"/>
          <p:cNvSpPr/>
          <p:nvPr/>
        </p:nvSpPr>
        <p:spPr>
          <a:xfrm>
            <a:off x="822960" y="2423160"/>
            <a:ext cx="4937760" cy="365760"/>
          </a:xfrm>
          <a:prstGeom prst="rect">
            <a:avLst/>
          </a:prstGeom>
          <a:noFill/>
          <a:ln/>
        </p:spPr>
        <p:txBody>
          <a:bodyPr wrap="square" lIns="0" tIns="0" rIns="0" bIns="0" rtlCol="0" anchor="ctr"/>
          <a:lstStyle/>
          <a:p>
            <a:pPr indent="0" marL="0">
              <a:buNone/>
            </a:pPr>
            <a:r>
              <a:rPr lang="en-US" sz="1600" b="1" dirty="0">
                <a:solidFill>
                  <a:srgbClr val="0E7C77"/>
                </a:solidFill>
                <a:latin typeface="Calibri" pitchFamily="34" charset="0"/>
                <a:ea typeface="Calibri" pitchFamily="34" charset="-122"/>
                <a:cs typeface="Calibri" pitchFamily="34" charset="-120"/>
              </a:rPr>
              <a:t>It forced</a:t>
            </a:r>
            <a:endParaRPr lang="en-US" sz="1600" dirty="0"/>
          </a:p>
        </p:txBody>
      </p:sp>
      <p:sp>
        <p:nvSpPr>
          <p:cNvPr id="8" name="Text 6"/>
          <p:cNvSpPr/>
          <p:nvPr/>
        </p:nvSpPr>
        <p:spPr>
          <a:xfrm>
            <a:off x="822960" y="283464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Pass-based architecture</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Explicit IR boundaries</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Deterministic codegen</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Precise, testable diagnostics</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Reference-based verification</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Explicit context, no global state</a:t>
            </a:r>
            <a:endParaRPr lang="en-US" sz="1350" dirty="0"/>
          </a:p>
        </p:txBody>
      </p:sp>
      <p:sp>
        <p:nvSpPr>
          <p:cNvPr id="9" name="Shape 7"/>
          <p:cNvSpPr/>
          <p:nvPr/>
        </p:nvSpPr>
        <p:spPr>
          <a:xfrm>
            <a:off x="6263640" y="2240280"/>
            <a:ext cx="5349240" cy="3794760"/>
          </a:xfrm>
          <a:prstGeom prst="roundRect">
            <a:avLst>
              <a:gd name="adj" fmla="val 1928"/>
            </a:avLst>
          </a:prstGeom>
          <a:solidFill>
            <a:srgbClr val="FBEEE9"/>
          </a:solidFill>
          <a:ln w="12700">
            <a:solidFill>
              <a:srgbClr val="EFD6CC"/>
            </a:solidFill>
            <a:prstDash val="solid"/>
          </a:ln>
          <a:effectLst>
            <a:outerShdw sx="100000" sy="100000" kx="0" ky="0" algn="bl" rotWithShape="0" blurRad="114300" dist="38100" dir="5400000">
              <a:srgbClr val="0A1F38">
                <a:alpha val="10000"/>
              </a:srgbClr>
            </a:outerShdw>
          </a:effectLst>
        </p:spPr>
      </p:sp>
      <p:sp>
        <p:nvSpPr>
          <p:cNvPr id="10" name="Text 8"/>
          <p:cNvSpPr/>
          <p:nvPr/>
        </p:nvSpPr>
        <p:spPr>
          <a:xfrm>
            <a:off x="6537960" y="2423160"/>
            <a:ext cx="4846320" cy="365760"/>
          </a:xfrm>
          <a:prstGeom prst="rect">
            <a:avLst/>
          </a:prstGeom>
          <a:noFill/>
          <a:ln/>
        </p:spPr>
        <p:txBody>
          <a:bodyPr wrap="square" lIns="0" tIns="0" rIns="0" bIns="0" rtlCol="0" anchor="ctr"/>
          <a:lstStyle/>
          <a:p>
            <a:pPr indent="0" marL="0">
              <a:buNone/>
            </a:pPr>
            <a:r>
              <a:rPr lang="en-US" sz="1600" b="1" dirty="0">
                <a:solidFill>
                  <a:srgbClr val="B5503A"/>
                </a:solidFill>
                <a:latin typeface="Calibri" pitchFamily="34" charset="0"/>
                <a:ea typeface="Calibri" pitchFamily="34" charset="-122"/>
                <a:cs typeface="Calibri" pitchFamily="34" charset="-120"/>
              </a:rPr>
              <a:t>It discouraged</a:t>
            </a:r>
            <a:endParaRPr lang="en-US" sz="1600" dirty="0"/>
          </a:p>
        </p:txBody>
      </p:sp>
      <p:sp>
        <p:nvSpPr>
          <p:cNvPr id="11" name="Text 9"/>
          <p:cNvSpPr/>
          <p:nvPr/>
        </p:nvSpPr>
        <p:spPr>
          <a:xfrm>
            <a:off x="6537960" y="283464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Hidden global state</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Oversized “god” modules</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Implicit shape assumptions</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Broad mutation in passes</a:t>
            </a:r>
            <a:endParaRPr lang="en-US" sz="1350" dirty="0"/>
          </a:p>
          <a:p>
            <a:pPr marL="342900" indent="-342900">
              <a:spcAft>
                <a:spcPts val="800"/>
              </a:spcAft>
              <a:buSzPct val="100000"/>
              <a:buChar char="✕"/>
            </a:pPr>
            <a:r>
              <a:rPr lang="en-US" sz="1350" dirty="0">
                <a:solidFill>
                  <a:srgbClr val="33475B"/>
                </a:solidFill>
                <a:latin typeface="Calibri" pitchFamily="34" charset="0"/>
                <a:ea typeface="Calibri" pitchFamily="34" charset="-122"/>
                <a:cs typeface="Calibri" pitchFamily="34" charset="-120"/>
              </a:rPr>
              <a:t>Codegen driven by verify-only inputs</a:t>
            </a:r>
            <a:endParaRPr lang="en-US" sz="1350" dirty="0"/>
          </a:p>
        </p:txBody>
      </p:sp>
      <p:sp>
        <p:nvSpPr>
          <p:cNvPr id="12"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3"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VERIFICATION</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The verification loop</a:t>
            </a:r>
            <a:endParaRPr lang="en-US" sz="2800" dirty="0"/>
          </a:p>
        </p:txBody>
      </p:sp>
      <p:sp>
        <p:nvSpPr>
          <p:cNvPr id="5" name="Shape 3"/>
          <p:cNvSpPr/>
          <p:nvPr/>
        </p:nvSpPr>
        <p:spPr>
          <a:xfrm>
            <a:off x="548640" y="2057400"/>
            <a:ext cx="2121408" cy="2194560"/>
          </a:xfrm>
          <a:prstGeom prst="roundRect">
            <a:avLst>
              <a:gd name="adj" fmla="val 3448"/>
            </a:avLst>
          </a:prstGeom>
          <a:solidFill>
            <a:srgbClr val="EAF5F3"/>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6" name="Text 4"/>
          <p:cNvSpPr/>
          <p:nvPr/>
        </p:nvSpPr>
        <p:spPr>
          <a:xfrm>
            <a:off x="713232" y="220370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31520" y="2734056"/>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Generate</a:t>
            </a:r>
            <a:endParaRPr lang="en-US" sz="1450" dirty="0"/>
          </a:p>
        </p:txBody>
      </p:sp>
      <p:sp>
        <p:nvSpPr>
          <p:cNvPr id="8" name="Text 6"/>
          <p:cNvSpPr/>
          <p:nvPr/>
        </p:nvSpPr>
        <p:spPr>
          <a:xfrm>
            <a:off x="731520" y="3154680"/>
            <a:ext cx="1755648" cy="100584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Emit C with a testbench</a:t>
            </a:r>
            <a:endParaRPr lang="en-US" sz="1150" dirty="0"/>
          </a:p>
        </p:txBody>
      </p:sp>
      <p:sp>
        <p:nvSpPr>
          <p:cNvPr id="9" name="Text 7"/>
          <p:cNvSpPr/>
          <p:nvPr/>
        </p:nvSpPr>
        <p:spPr>
          <a:xfrm>
            <a:off x="2624328" y="2057400"/>
            <a:ext cx="210312" cy="219456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788920" y="2057400"/>
            <a:ext cx="2121408" cy="2194560"/>
          </a:xfrm>
          <a:prstGeom prst="roundRect">
            <a:avLst>
              <a:gd name="adj" fmla="val 3448"/>
            </a:avLst>
          </a:prstGeom>
          <a:solidFill>
            <a:srgbClr val="F2F6F8"/>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11" name="Text 9"/>
          <p:cNvSpPr/>
          <p:nvPr/>
        </p:nvSpPr>
        <p:spPr>
          <a:xfrm>
            <a:off x="2953512" y="220370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2971800" y="2734056"/>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Compile &amp; run</a:t>
            </a:r>
            <a:endParaRPr lang="en-US" sz="1450" dirty="0"/>
          </a:p>
        </p:txBody>
      </p:sp>
      <p:sp>
        <p:nvSpPr>
          <p:cNvPr id="13" name="Text 11"/>
          <p:cNvSpPr/>
          <p:nvPr/>
        </p:nvSpPr>
        <p:spPr>
          <a:xfrm>
            <a:off x="2971800" y="3154680"/>
            <a:ext cx="1755648" cy="100584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Build and execute the generated C</a:t>
            </a:r>
            <a:endParaRPr lang="en-US" sz="1150" dirty="0"/>
          </a:p>
        </p:txBody>
      </p:sp>
      <p:sp>
        <p:nvSpPr>
          <p:cNvPr id="14" name="Text 12"/>
          <p:cNvSpPr/>
          <p:nvPr/>
        </p:nvSpPr>
        <p:spPr>
          <a:xfrm>
            <a:off x="4864608" y="2057400"/>
            <a:ext cx="210312" cy="219456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029200" y="2057400"/>
            <a:ext cx="2121408" cy="2194560"/>
          </a:xfrm>
          <a:prstGeom prst="roundRect">
            <a:avLst>
              <a:gd name="adj" fmla="val 3448"/>
            </a:avLst>
          </a:prstGeom>
          <a:solidFill>
            <a:srgbClr val="EAF5F3"/>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16" name="Text 14"/>
          <p:cNvSpPr/>
          <p:nvPr/>
        </p:nvSpPr>
        <p:spPr>
          <a:xfrm>
            <a:off x="5193792" y="220370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12080" y="2734056"/>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Reference</a:t>
            </a:r>
            <a:endParaRPr lang="en-US" sz="1450" dirty="0"/>
          </a:p>
        </p:txBody>
      </p:sp>
      <p:sp>
        <p:nvSpPr>
          <p:cNvPr id="18" name="Text 16"/>
          <p:cNvSpPr/>
          <p:nvPr/>
        </p:nvSpPr>
        <p:spPr>
          <a:xfrm>
            <a:off x="5212080" y="3154680"/>
            <a:ext cx="1755648" cy="100584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Run ONNX Runtime / ONNX Reference on same inputs</a:t>
            </a:r>
            <a:endParaRPr lang="en-US" sz="1150" dirty="0"/>
          </a:p>
        </p:txBody>
      </p:sp>
      <p:sp>
        <p:nvSpPr>
          <p:cNvPr id="19" name="Text 17"/>
          <p:cNvSpPr/>
          <p:nvPr/>
        </p:nvSpPr>
        <p:spPr>
          <a:xfrm>
            <a:off x="7104888" y="2057400"/>
            <a:ext cx="210312" cy="219456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269480" y="2057400"/>
            <a:ext cx="2121408" cy="2194560"/>
          </a:xfrm>
          <a:prstGeom prst="roundRect">
            <a:avLst>
              <a:gd name="adj" fmla="val 3448"/>
            </a:avLst>
          </a:prstGeom>
          <a:solidFill>
            <a:srgbClr val="F2F6F8"/>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21" name="Text 19"/>
          <p:cNvSpPr/>
          <p:nvPr/>
        </p:nvSpPr>
        <p:spPr>
          <a:xfrm>
            <a:off x="7434072" y="220370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452360" y="2734056"/>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Compare</a:t>
            </a:r>
            <a:endParaRPr lang="en-US" sz="1450" dirty="0"/>
          </a:p>
        </p:txBody>
      </p:sp>
      <p:sp>
        <p:nvSpPr>
          <p:cNvPr id="23" name="Text 21"/>
          <p:cNvSpPr/>
          <p:nvPr/>
        </p:nvSpPr>
        <p:spPr>
          <a:xfrm>
            <a:off x="7452360" y="3154680"/>
            <a:ext cx="1755648" cy="100584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ULP threshold after abs-epsilon; exact for non-float</a:t>
            </a:r>
            <a:endParaRPr lang="en-US" sz="1150" dirty="0"/>
          </a:p>
        </p:txBody>
      </p:sp>
      <p:sp>
        <p:nvSpPr>
          <p:cNvPr id="24" name="Text 22"/>
          <p:cNvSpPr/>
          <p:nvPr/>
        </p:nvSpPr>
        <p:spPr>
          <a:xfrm>
            <a:off x="9345168" y="2057400"/>
            <a:ext cx="210312" cy="219456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509760" y="2057400"/>
            <a:ext cx="2121408" cy="2194560"/>
          </a:xfrm>
          <a:prstGeom prst="roundRect">
            <a:avLst>
              <a:gd name="adj" fmla="val 3448"/>
            </a:avLst>
          </a:prstGeom>
          <a:solidFill>
            <a:srgbClr val="EAF5F3"/>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26" name="Text 24"/>
          <p:cNvSpPr/>
          <p:nvPr/>
        </p:nvSpPr>
        <p:spPr>
          <a:xfrm>
            <a:off x="9674352" y="220370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692640" y="2734056"/>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Record</a:t>
            </a:r>
            <a:endParaRPr lang="en-US" sz="1450" dirty="0"/>
          </a:p>
        </p:txBody>
      </p:sp>
      <p:sp>
        <p:nvSpPr>
          <p:cNvPr id="28" name="Text 26"/>
          <p:cNvSpPr/>
          <p:nvPr/>
        </p:nvSpPr>
        <p:spPr>
          <a:xfrm>
            <a:off x="9692640" y="3154680"/>
            <a:ext cx="1755648" cy="100584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Coverage + expected failures tracked</a:t>
            </a:r>
            <a:endParaRPr lang="en-US" sz="1150" dirty="0"/>
          </a:p>
        </p:txBody>
      </p:sp>
      <p:sp>
        <p:nvSpPr>
          <p:cNvPr id="29" name="Shape 27"/>
          <p:cNvSpPr/>
          <p:nvPr/>
        </p:nvSpPr>
        <p:spPr>
          <a:xfrm>
            <a:off x="548640" y="4709160"/>
            <a:ext cx="11064240" cy="1417320"/>
          </a:xfrm>
          <a:prstGeom prst="roundRect">
            <a:avLst>
              <a:gd name="adj" fmla="val 4516"/>
            </a:avLst>
          </a:prstGeom>
          <a:solidFill>
            <a:srgbClr val="0E2A47"/>
          </a:solidFill>
          <a:ln/>
        </p:spPr>
      </p:sp>
      <p:sp>
        <p:nvSpPr>
          <p:cNvPr id="30" name="Text 28"/>
          <p:cNvSpPr/>
          <p:nvPr/>
        </p:nvSpPr>
        <p:spPr>
          <a:xfrm>
            <a:off x="868680" y="4846320"/>
            <a:ext cx="2743200" cy="365760"/>
          </a:xfrm>
          <a:prstGeom prst="rect">
            <a:avLst/>
          </a:prstGeom>
          <a:noFill/>
          <a:ln/>
        </p:spPr>
        <p:txBody>
          <a:bodyPr wrap="square" lIns="0" tIns="0" rIns="0" bIns="0" rtlCol="0" anchor="ctr"/>
          <a:lstStyle/>
          <a:p>
            <a:pPr indent="0" marL="0">
              <a:buNone/>
            </a:pPr>
            <a:r>
              <a:rPr lang="en-US" sz="1400" b="1" dirty="0">
                <a:solidFill>
                  <a:srgbClr val="E8A13A"/>
                </a:solidFill>
                <a:latin typeface="Calibri" pitchFamily="34" charset="0"/>
                <a:ea typeface="Calibri" pitchFamily="34" charset="-122"/>
                <a:cs typeface="Calibri" pitchFamily="34" charset="-120"/>
              </a:rPr>
              <a:t>Invariant</a:t>
            </a:r>
            <a:endParaRPr lang="en-US" sz="1400" dirty="0"/>
          </a:p>
        </p:txBody>
      </p:sp>
      <p:sp>
        <p:nvSpPr>
          <p:cNvPr id="31" name="Text 29"/>
          <p:cNvSpPr/>
          <p:nvPr/>
        </p:nvSpPr>
        <p:spPr>
          <a:xfrm>
            <a:off x="868680" y="5212080"/>
            <a:ext cx="10515600" cy="777240"/>
          </a:xfrm>
          <a:prstGeom prst="rect">
            <a:avLst/>
          </a:prstGeom>
          <a:noFill/>
          <a:ln/>
        </p:spPr>
        <p:txBody>
          <a:bodyPr wrap="square" lIns="0" tIns="0" rIns="0" bIns="0" rtlCol="0" anchor="t"/>
          <a:lstStyle/>
          <a:p>
            <a:pPr indent="0" marL="0">
              <a:buNone/>
            </a:pPr>
            <a:r>
              <a:rPr lang="en-US" sz="1400" dirty="0">
                <a:solidFill>
                  <a:srgbClr val="DCE8F0"/>
                </a:solidFill>
                <a:latin typeface="Calibri" pitchFamily="34" charset="0"/>
                <a:ea typeface="Calibri" pitchFamily="34" charset="-122"/>
                <a:cs typeface="Calibri" pitchFamily="34" charset="-120"/>
              </a:rPr>
              <a:t>Verification-only inputs must never implicitly change generated code. If verify uses extra shape information, it is testing a different compiler path — compile/verify parity keeps the contract honest.</a:t>
            </a:r>
            <a:endParaRPr lang="en-US" sz="1400" dirty="0"/>
          </a:p>
        </p:txBody>
      </p:sp>
      <p:sp>
        <p:nvSpPr>
          <p:cNvPr id="32" name="Text 3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33" name="Text 3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INVARIANT</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Compile/verify parity in detail</a:t>
            </a:r>
            <a:endParaRPr lang="en-US" sz="2800" dirty="0"/>
          </a:p>
        </p:txBody>
      </p:sp>
      <p:sp>
        <p:nvSpPr>
          <p:cNvPr id="5" name="Shape 3"/>
          <p:cNvSpPr/>
          <p:nvPr/>
        </p:nvSpPr>
        <p:spPr>
          <a:xfrm>
            <a:off x="548640" y="1783080"/>
            <a:ext cx="5486400" cy="2743200"/>
          </a:xfrm>
          <a:prstGeom prst="roundRect">
            <a:avLst>
              <a:gd name="adj" fmla="val 2667"/>
            </a:avLst>
          </a:prstGeom>
          <a:solidFill>
            <a:srgbClr val="FBEEE9"/>
          </a:solidFill>
          <a:ln w="12700">
            <a:solidFill>
              <a:srgbClr val="EFD6CC"/>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77240" y="1920240"/>
            <a:ext cx="5029200" cy="365760"/>
          </a:xfrm>
          <a:prstGeom prst="rect">
            <a:avLst/>
          </a:prstGeom>
          <a:noFill/>
          <a:ln/>
        </p:spPr>
        <p:txBody>
          <a:bodyPr wrap="square" lIns="0" tIns="0" rIns="0" bIns="0" rtlCol="0" anchor="ctr"/>
          <a:lstStyle/>
          <a:p>
            <a:pPr indent="0" marL="0">
              <a:buNone/>
            </a:pPr>
            <a:r>
              <a:rPr lang="en-US" sz="1500" b="1" dirty="0">
                <a:solidFill>
                  <a:srgbClr val="B5503A"/>
                </a:solidFill>
                <a:latin typeface="Calibri" pitchFamily="34" charset="0"/>
                <a:ea typeface="Calibri" pitchFamily="34" charset="-122"/>
                <a:cs typeface="Calibri" pitchFamily="34" charset="-120"/>
              </a:rPr>
              <a:t>✗  Bad pattern</a:t>
            </a:r>
            <a:endParaRPr lang="en-US" sz="1500" dirty="0"/>
          </a:p>
        </p:txBody>
      </p:sp>
      <p:sp>
        <p:nvSpPr>
          <p:cNvPr id="7" name="Text 5"/>
          <p:cNvSpPr/>
          <p:nvPr/>
        </p:nvSpPr>
        <p:spPr>
          <a:xfrm>
            <a:off x="777240" y="2331720"/>
            <a:ext cx="5029200" cy="210312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33475B"/>
                </a:solidFill>
                <a:latin typeface="Calibri" pitchFamily="34" charset="0"/>
                <a:ea typeface="Calibri" pitchFamily="34" charset="-122"/>
                <a:cs typeface="Calibri" pitchFamily="34" charset="-120"/>
              </a:rPr>
              <a:t>verify reads representative input_*.pb files</a:t>
            </a:r>
            <a:endParaRPr lang="en-US" sz="1300" dirty="0"/>
          </a:p>
          <a:p>
            <a:pPr marL="342900" indent="-342900">
              <a:spcAft>
                <a:spcPts val="700"/>
              </a:spcAft>
              <a:buSzPct val="100000"/>
              <a:buChar char="•"/>
            </a:pPr>
            <a:r>
              <a:rPr lang="en-US" sz="1300" dirty="0">
                <a:solidFill>
                  <a:srgbClr val="33475B"/>
                </a:solidFill>
                <a:latin typeface="Calibri" pitchFamily="34" charset="0"/>
                <a:ea typeface="Calibri" pitchFamily="34" charset="-122"/>
                <a:cs typeface="Calibri" pitchFamily="34" charset="-120"/>
              </a:rPr>
              <a:t>those values or shapes make codegen succeed</a:t>
            </a:r>
            <a:endParaRPr lang="en-US" sz="1300" dirty="0"/>
          </a:p>
          <a:p>
            <a:pPr marL="342900" indent="-342900">
              <a:spcAft>
                <a:spcPts val="700"/>
              </a:spcAft>
              <a:buSzPct val="100000"/>
              <a:buChar char="•"/>
            </a:pPr>
            <a:r>
              <a:rPr lang="en-US" sz="1300" dirty="0">
                <a:solidFill>
                  <a:srgbClr val="33475B"/>
                </a:solidFill>
                <a:latin typeface="Calibri" pitchFamily="34" charset="0"/>
                <a:ea typeface="Calibri" pitchFamily="34" charset="-122"/>
                <a:cs typeface="Calibri" pitchFamily="34" charset="-120"/>
              </a:rPr>
              <a:t>plain compile would fail or emit different code</a:t>
            </a:r>
            <a:endParaRPr lang="en-US" sz="1300" dirty="0"/>
          </a:p>
          <a:p>
            <a:pPr indent="0" marL="0">
              <a:buNone/>
            </a:pPr>
            <a:r>
              <a:rPr lang="en-US" sz="1300" b="1" dirty="0">
                <a:solidFill>
                  <a:srgbClr val="B5503A"/>
                </a:solidFill>
                <a:latin typeface="Calibri" pitchFamily="34" charset="0"/>
                <a:ea typeface="Calibri" pitchFamily="34" charset="-122"/>
                <a:cs typeface="Calibri" pitchFamily="34" charset="-120"/>
              </a:rPr>
              <a:t>→ test results no longer reflect real compilation</a:t>
            </a:r>
            <a:endParaRPr lang="en-US" sz="1300" dirty="0"/>
          </a:p>
        </p:txBody>
      </p:sp>
      <p:sp>
        <p:nvSpPr>
          <p:cNvPr id="8" name="Shape 6"/>
          <p:cNvSpPr/>
          <p:nvPr/>
        </p:nvSpPr>
        <p:spPr>
          <a:xfrm>
            <a:off x="6217920" y="1783080"/>
            <a:ext cx="5394960" cy="2743200"/>
          </a:xfrm>
          <a:prstGeom prst="roundRect">
            <a:avLst>
              <a:gd name="adj" fmla="val 2667"/>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6446520" y="1920240"/>
            <a:ext cx="493776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  Project principle</a:t>
            </a:r>
            <a:endParaRPr lang="en-US" sz="1500" dirty="0"/>
          </a:p>
        </p:txBody>
      </p:sp>
      <p:sp>
        <p:nvSpPr>
          <p:cNvPr id="10" name="Text 8"/>
          <p:cNvSpPr/>
          <p:nvPr/>
        </p:nvSpPr>
        <p:spPr>
          <a:xfrm>
            <a:off x="6446520" y="2331720"/>
            <a:ext cx="4937760" cy="210312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33475B"/>
                </a:solidFill>
                <a:latin typeface="Calibri" pitchFamily="34" charset="0"/>
                <a:ea typeface="Calibri" pitchFamily="34" charset="-122"/>
                <a:cs typeface="Calibri" pitchFamily="34" charset="-120"/>
              </a:rPr>
              <a:t>Models needing representative inputs to resolve dynamic shapes must fail clearly…</a:t>
            </a:r>
            <a:endParaRPr lang="en-US" sz="1300" dirty="0"/>
          </a:p>
          <a:p>
            <a:pPr marL="342900" indent="-342900">
              <a:spcAft>
                <a:spcPts val="700"/>
              </a:spcAft>
              <a:buSzPct val="100000"/>
              <a:buChar char="•"/>
            </a:pPr>
            <a:r>
              <a:rPr lang="en-US" sz="1300" dirty="0">
                <a:solidFill>
                  <a:srgbClr val="33475B"/>
                </a:solidFill>
                <a:latin typeface="Calibri" pitchFamily="34" charset="0"/>
                <a:ea typeface="Calibri" pitchFamily="34" charset="-122"/>
                <a:cs typeface="Calibri" pitchFamily="34" charset="-120"/>
              </a:rPr>
              <a:t>…or require an explicit compiler option that compile also accepts</a:t>
            </a:r>
            <a:endParaRPr lang="en-US" sz="1300" dirty="0"/>
          </a:p>
          <a:p>
            <a:pPr marL="342900" indent="-342900">
              <a:buSzPct val="100000"/>
              <a:buChar char="•"/>
            </a:pPr>
            <a:r>
              <a:rPr lang="en-US" sz="1300" dirty="0">
                <a:solidFill>
                  <a:srgbClr val="33475B"/>
                </a:solidFill>
                <a:latin typeface="Calibri" pitchFamily="34" charset="0"/>
                <a:ea typeface="Calibri" pitchFamily="34" charset="-122"/>
                <a:cs typeface="Calibri" pitchFamily="34" charset="-120"/>
              </a:rPr>
              <a:t>Export with static shapes, or supply explicit options</a:t>
            </a:r>
            <a:endParaRPr lang="en-US" sz="1300" dirty="0"/>
          </a:p>
        </p:txBody>
      </p:sp>
      <p:sp>
        <p:nvSpPr>
          <p:cNvPr id="11" name="Shape 9"/>
          <p:cNvSpPr/>
          <p:nvPr/>
        </p:nvSpPr>
        <p:spPr>
          <a:xfrm>
            <a:off x="548640" y="4709160"/>
            <a:ext cx="11064240" cy="1417320"/>
          </a:xfrm>
          <a:prstGeom prst="roundRect">
            <a:avLst>
              <a:gd name="adj" fmla="val 4516"/>
            </a:avLst>
          </a:prstGeom>
          <a:solidFill>
            <a:srgbClr val="0E2A47"/>
          </a:solidFill>
          <a:ln/>
        </p:spPr>
      </p:sp>
      <p:sp>
        <p:nvSpPr>
          <p:cNvPr id="12" name="Text 10"/>
          <p:cNvSpPr/>
          <p:nvPr/>
        </p:nvSpPr>
        <p:spPr>
          <a:xfrm>
            <a:off x="868680" y="4846320"/>
            <a:ext cx="3657600" cy="365760"/>
          </a:xfrm>
          <a:prstGeom prst="rect">
            <a:avLst/>
          </a:prstGeom>
          <a:noFill/>
          <a:ln/>
        </p:spPr>
        <p:txBody>
          <a:bodyPr wrap="square" lIns="0" tIns="0" rIns="0" bIns="0" rtlCol="0" anchor="ctr"/>
          <a:lstStyle/>
          <a:p>
            <a:pPr indent="0" marL="0">
              <a:buNone/>
            </a:pPr>
            <a:r>
              <a:rPr lang="en-US" sz="1400" b="1" dirty="0">
                <a:solidFill>
                  <a:srgbClr val="E8A13A"/>
                </a:solidFill>
                <a:latin typeface="Calibri" pitchFamily="34" charset="0"/>
                <a:ea typeface="Calibri" pitchFamily="34" charset="-122"/>
                <a:cs typeface="Calibri" pitchFamily="34" charset="-120"/>
              </a:rPr>
              <a:t>Why it matters</a:t>
            </a:r>
            <a:endParaRPr lang="en-US" sz="1400" dirty="0"/>
          </a:p>
        </p:txBody>
      </p:sp>
      <p:sp>
        <p:nvSpPr>
          <p:cNvPr id="13" name="Text 11"/>
          <p:cNvSpPr/>
          <p:nvPr/>
        </p:nvSpPr>
        <p:spPr>
          <a:xfrm>
            <a:off x="868680" y="5230368"/>
            <a:ext cx="10515600" cy="731520"/>
          </a:xfrm>
          <a:prstGeom prst="rect">
            <a:avLst/>
          </a:prstGeom>
          <a:noFill/>
          <a:ln/>
        </p:spPr>
        <p:txBody>
          <a:bodyPr wrap="square" lIns="0" tIns="0" rIns="0" bIns="0" rtlCol="0" anchor="t"/>
          <a:lstStyle/>
          <a:p>
            <a:pPr indent="0" marL="0">
              <a:buNone/>
            </a:pPr>
            <a:r>
              <a:rPr lang="en-US" sz="1400" dirty="0">
                <a:solidFill>
                  <a:srgbClr val="DCE8F0"/>
                </a:solidFill>
                <a:latin typeface="Calibri" pitchFamily="34" charset="0"/>
                <a:ea typeface="Calibri" pitchFamily="34" charset="-122"/>
                <a:cs typeface="Calibri" pitchFamily="34" charset="-120"/>
              </a:rPr>
              <a:t>Reproducibility · deterministic code generation · an honest compiler contract · meaningful test results.</a:t>
            </a:r>
            <a:endParaRPr lang="en-US" sz="1400" dirty="0"/>
          </a:p>
        </p:txBody>
      </p:sp>
      <p:sp>
        <p:nvSpPr>
          <p:cNvPr id="14" name="Text 1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5" name="Text 1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REALISTIC COVERAGE</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ORT-derived artifacts: emx-ort-test-artifacts</a:t>
            </a:r>
            <a:endParaRPr lang="en-US" sz="2800" dirty="0"/>
          </a:p>
        </p:txBody>
      </p:sp>
      <p:sp>
        <p:nvSpPr>
          <p:cNvPr id="5" name="Shape 3"/>
          <p:cNvSpPr/>
          <p:nvPr/>
        </p:nvSpPr>
        <p:spPr>
          <a:xfrm>
            <a:off x="548640" y="1828800"/>
            <a:ext cx="5486400" cy="1280160"/>
          </a:xfrm>
          <a:prstGeom prst="roundRect">
            <a:avLst>
              <a:gd name="adj" fmla="val 4286"/>
            </a:avLst>
          </a:prstGeom>
          <a:solidFill>
            <a:srgbClr val="0C2138"/>
          </a:solidFill>
          <a:ln/>
          <a:effectLst>
            <a:outerShdw sx="100000" sy="100000" kx="0" ky="0" algn="bl" rotWithShape="0" blurRad="114300" dist="38100" dir="5400000">
              <a:srgbClr val="0A1F38">
                <a:alpha val="14000"/>
              </a:srgbClr>
            </a:outerShdw>
          </a:effectLst>
        </p:spPr>
      </p:sp>
      <p:sp>
        <p:nvSpPr>
          <p:cNvPr id="6" name="Text 4"/>
          <p:cNvSpPr/>
          <p:nvPr/>
        </p:nvSpPr>
        <p:spPr>
          <a:xfrm>
            <a:off x="731520" y="1901952"/>
            <a:ext cx="512064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The export principle</a:t>
            </a:r>
            <a:endParaRPr lang="en-US" sz="1050" dirty="0"/>
          </a:p>
        </p:txBody>
      </p:sp>
      <p:sp>
        <p:nvSpPr>
          <p:cNvPr id="7" name="Text 5"/>
          <p:cNvSpPr/>
          <p:nvPr/>
        </p:nvSpPr>
        <p:spPr>
          <a:xfrm>
            <a:off x="731520" y="2212848"/>
            <a:ext cx="5120640" cy="786384"/>
          </a:xfrm>
          <a:prstGeom prst="rect">
            <a:avLst/>
          </a:prstGeom>
          <a:noFill/>
          <a:ln/>
        </p:spPr>
        <p:txBody>
          <a:bodyPr wrap="square" lIns="0" tIns="0" rIns="0" bIns="0" rtlCol="0" anchor="t"/>
          <a:lstStyle/>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ORT test case</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-&gt; exported ONNX model + test_data_set_*</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-&gt; backend-runnable test artifact</a:t>
            </a:r>
            <a:endParaRPr lang="en-US" sz="1300" dirty="0"/>
          </a:p>
        </p:txBody>
      </p:sp>
      <p:sp>
        <p:nvSpPr>
          <p:cNvPr id="8" name="Shape 6"/>
          <p:cNvSpPr/>
          <p:nvPr/>
        </p:nvSpPr>
        <p:spPr>
          <a:xfrm>
            <a:off x="548640" y="3291840"/>
            <a:ext cx="5486400" cy="2834640"/>
          </a:xfrm>
          <a:prstGeom prst="roundRect">
            <a:avLst>
              <a:gd name="adj" fmla="val 2258"/>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786384" y="347472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Why it matters</a:t>
            </a:r>
            <a:endParaRPr lang="en-US" sz="1500" dirty="0"/>
          </a:p>
        </p:txBody>
      </p:sp>
      <p:sp>
        <p:nvSpPr>
          <p:cNvPr id="10" name="Text 8"/>
          <p:cNvSpPr/>
          <p:nvPr/>
        </p:nvSpPr>
        <p:spPr>
          <a:xfrm>
            <a:off x="786384" y="3913632"/>
            <a:ext cx="5047488" cy="2048256"/>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Official ONNX backend tests are the standards baseline</a:t>
            </a:r>
            <a:endParaRPr lang="en-US" sz="1200" dirty="0"/>
          </a:p>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ORT artifacts apply the same model+test-data pattern broadly</a:t>
            </a:r>
            <a:endParaRPr lang="en-US" sz="1200" dirty="0"/>
          </a:p>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Includes contrib/operator scenarios &amp; runtime-style edge cases</a:t>
            </a:r>
            <a:endParaRPr lang="en-US" sz="1200" dirty="0"/>
          </a:p>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Forces real model/test directory handling, not micrographs</a:t>
            </a:r>
            <a:endParaRPr lang="en-US" sz="1200" dirty="0"/>
          </a:p>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Preserves ORT's intended numerical tolerances</a:t>
            </a:r>
            <a:endParaRPr lang="en-US" sz="1200" dirty="0"/>
          </a:p>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Failures stay reproducible via recorded command lines</a:t>
            </a:r>
            <a:endParaRPr lang="en-US" sz="1200" dirty="0"/>
          </a:p>
        </p:txBody>
      </p:sp>
      <p:sp>
        <p:nvSpPr>
          <p:cNvPr id="11" name="Shape 9"/>
          <p:cNvSpPr/>
          <p:nvPr/>
        </p:nvSpPr>
        <p:spPr>
          <a:xfrm>
            <a:off x="6217920" y="1828800"/>
            <a:ext cx="5394960" cy="2331720"/>
          </a:xfrm>
          <a:prstGeom prst="roundRect">
            <a:avLst>
              <a:gd name="adj" fmla="val 2745"/>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12" name="Text 10"/>
          <p:cNvSpPr/>
          <p:nvPr/>
        </p:nvSpPr>
        <p:spPr>
          <a:xfrm>
            <a:off x="6455664" y="2011680"/>
            <a:ext cx="495604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validation.json fields</a:t>
            </a:r>
            <a:endParaRPr lang="en-US" sz="1500" dirty="0"/>
          </a:p>
        </p:txBody>
      </p:sp>
      <p:sp>
        <p:nvSpPr>
          <p:cNvPr id="13" name="Text 11"/>
          <p:cNvSpPr/>
          <p:nvPr/>
        </p:nvSpPr>
        <p:spPr>
          <a:xfrm>
            <a:off x="6455664" y="2450592"/>
            <a:ext cx="4956048" cy="154533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expects_failure / expected_failure_substring</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per-output relative_error</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per-output absolute_error</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per-output sort_output</a:t>
            </a:r>
            <a:endParaRPr lang="en-US" sz="1250" dirty="0"/>
          </a:p>
        </p:txBody>
      </p:sp>
      <p:sp>
        <p:nvSpPr>
          <p:cNvPr id="14" name="Shape 12"/>
          <p:cNvSpPr/>
          <p:nvPr/>
        </p:nvSpPr>
        <p:spPr>
          <a:xfrm>
            <a:off x="6217920" y="4343400"/>
            <a:ext cx="5394960" cy="1783080"/>
          </a:xfrm>
          <a:prstGeom prst="roundRect">
            <a:avLst>
              <a:gd name="adj" fmla="val 4103"/>
            </a:avLst>
          </a:prstGeom>
          <a:solidFill>
            <a:srgbClr val="0E2A47"/>
          </a:solidFill>
          <a:ln/>
        </p:spPr>
      </p:sp>
      <p:sp>
        <p:nvSpPr>
          <p:cNvPr id="15" name="Text 13"/>
          <p:cNvSpPr/>
          <p:nvPr/>
        </p:nvSpPr>
        <p:spPr>
          <a:xfrm>
            <a:off x="6446520" y="4480560"/>
            <a:ext cx="4937760" cy="365760"/>
          </a:xfrm>
          <a:prstGeom prst="rect">
            <a:avLst/>
          </a:prstGeom>
          <a:noFill/>
          <a:ln/>
        </p:spPr>
        <p:txBody>
          <a:bodyPr wrap="square" lIns="0" tIns="0" rIns="0" bIns="0" rtlCol="0" anchor="ctr"/>
          <a:lstStyle/>
          <a:p>
            <a:pPr indent="0" marL="0">
              <a:buNone/>
            </a:pPr>
            <a:r>
              <a:rPr lang="en-US" sz="1350" b="1" dirty="0">
                <a:solidFill>
                  <a:srgbClr val="E8A13A"/>
                </a:solidFill>
                <a:latin typeface="Calibri" pitchFamily="34" charset="0"/>
                <a:ea typeface="Calibri" pitchFamily="34" charset="-122"/>
                <a:cs typeface="Calibri" pitchFamily="34" charset="-120"/>
              </a:rPr>
              <a:t>Proposed: convert to ONNX backend data.json</a:t>
            </a:r>
            <a:endParaRPr lang="en-US" sz="1350" dirty="0"/>
          </a:p>
        </p:txBody>
      </p:sp>
      <p:sp>
        <p:nvSpPr>
          <p:cNvPr id="16" name="Text 14"/>
          <p:cNvSpPr/>
          <p:nvPr/>
        </p:nvSpPr>
        <p:spPr>
          <a:xfrm>
            <a:off x="6446520" y="4864608"/>
            <a:ext cx="4937760" cy="1188720"/>
          </a:xfrm>
          <a:prstGeom prst="rect">
            <a:avLst/>
          </a:prstGeom>
          <a:noFill/>
          <a:ln/>
        </p:spPr>
        <p:txBody>
          <a:bodyPr wrap="square" lIns="0" tIns="0" rIns="0" bIns="0" rtlCol="0" anchor="t"/>
          <a:lstStyle/>
          <a:p>
            <a:pPr indent="0" marL="0">
              <a:buNone/>
            </a:pPr>
            <a:r>
              <a:rPr lang="en-US" sz="1200" dirty="0">
                <a:solidFill>
                  <a:srgbClr val="CFE0EC"/>
                </a:solidFill>
                <a:latin typeface="Calibri" pitchFamily="34" charset="0"/>
                <a:ea typeface="Calibri" pitchFamily="34" charset="-122"/>
                <a:cs typeface="Calibri" pitchFamily="34" charset="-120"/>
              </a:rPr>
              <a:t>Each test becomes self-contained — model, protobuf test data, and comparison tolerances in the expected ONNX backend-test convention. Other backends could reuse ORT-derived tests outside the ORT C++ harness.</a:t>
            </a:r>
            <a:endParaRPr lang="en-US" sz="1200" dirty="0"/>
          </a:p>
        </p:txBody>
      </p:sp>
      <p:sp>
        <p:nvSpPr>
          <p:cNvPr id="17"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8" name="Text 1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2A47"/>
        </a:solidFill>
      </p:bgPr>
    </p:bg>
    <p:spTree>
      <p:nvGrpSpPr>
        <p:cNvPr id="1" name=""/>
        <p:cNvGrpSpPr/>
        <p:nvPr/>
      </p:nvGrpSpPr>
      <p:grpSpPr>
        <a:xfrm>
          <a:off x="0" y="0"/>
          <a:ext cx="0" cy="0"/>
          <a:chOff x="0" y="0"/>
          <a:chExt cx="0" cy="0"/>
        </a:xfrm>
      </p:grpSpPr>
      <p:sp>
        <p:nvSpPr>
          <p:cNvPr id="2" name="Text 0"/>
          <p:cNvSpPr/>
          <p:nvPr/>
        </p:nvSpPr>
        <p:spPr>
          <a:xfrm>
            <a:off x="777240" y="914400"/>
            <a:ext cx="2743200" cy="1463040"/>
          </a:xfrm>
          <a:prstGeom prst="rect">
            <a:avLst/>
          </a:prstGeom>
          <a:noFill/>
          <a:ln/>
        </p:spPr>
        <p:txBody>
          <a:bodyPr wrap="square" lIns="0" tIns="0" rIns="0" bIns="0" rtlCol="0" anchor="ctr"/>
          <a:lstStyle/>
          <a:p>
            <a:pPr indent="0" marL="0">
              <a:buNone/>
            </a:pPr>
            <a:r>
              <a:rPr lang="en-US" sz="9600" b="1" dirty="0">
                <a:solidFill>
                  <a:srgbClr val="1C436B"/>
                </a:solidFill>
                <a:latin typeface="Cambria" pitchFamily="34" charset="0"/>
                <a:ea typeface="Cambria" pitchFamily="34" charset="-122"/>
                <a:cs typeface="Cambria" pitchFamily="34" charset="-120"/>
              </a:rPr>
              <a:t>04</a:t>
            </a:r>
            <a:endParaRPr lang="en-US" sz="9600" dirty="0"/>
          </a:p>
        </p:txBody>
      </p:sp>
      <p:sp>
        <p:nvSpPr>
          <p:cNvPr id="3" name="Shape 1"/>
          <p:cNvSpPr/>
          <p:nvPr/>
        </p:nvSpPr>
        <p:spPr>
          <a:xfrm>
            <a:off x="822960" y="2697480"/>
            <a:ext cx="640080" cy="109728"/>
          </a:xfrm>
          <a:prstGeom prst="roundRect">
            <a:avLst>
              <a:gd name="adj" fmla="val 50000"/>
            </a:avLst>
          </a:prstGeom>
          <a:solidFill>
            <a:srgbClr val="16A39A"/>
          </a:solidFill>
          <a:ln/>
        </p:spPr>
      </p:sp>
      <p:sp>
        <p:nvSpPr>
          <p:cNvPr id="4" name="Text 2"/>
          <p:cNvSpPr/>
          <p:nvPr/>
        </p:nvSpPr>
        <p:spPr>
          <a:xfrm>
            <a:off x="777240" y="28803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ONNX lessons learned</a:t>
            </a:r>
            <a:endParaRPr lang="en-US" sz="4000" dirty="0"/>
          </a:p>
        </p:txBody>
      </p:sp>
      <p:sp>
        <p:nvSpPr>
          <p:cNvPr id="5" name="Text 3"/>
          <p:cNvSpPr/>
          <p:nvPr/>
        </p:nvSpPr>
        <p:spPr>
          <a:xfrm>
            <a:off x="795528" y="3840480"/>
            <a:ext cx="10058400" cy="548640"/>
          </a:xfrm>
          <a:prstGeom prst="rect">
            <a:avLst/>
          </a:prstGeom>
          <a:noFill/>
          <a:ln/>
        </p:spPr>
        <p:txBody>
          <a:bodyPr wrap="square" lIns="0" tIns="0" rIns="0" bIns="0" rtlCol="0" anchor="ctr"/>
          <a:lstStyle/>
          <a:p>
            <a:pPr indent="0" marL="0">
              <a:buNone/>
            </a:pPr>
            <a:r>
              <a:rPr lang="en-US" sz="1700" dirty="0">
                <a:solidFill>
                  <a:srgbClr val="9FC0D6"/>
                </a:solidFill>
                <a:latin typeface="Calibri" pitchFamily="34" charset="0"/>
                <a:ea typeface="Calibri" pitchFamily="34" charset="-122"/>
                <a:cs typeface="Calibri" pitchFamily="34" charset="-120"/>
              </a:rPr>
              <a:t>Where a flexible interchange format meets a static compiler</a:t>
            </a:r>
            <a:endParaRPr lang="en-US" sz="1700" dirty="0"/>
          </a:p>
        </p:txBody>
      </p:sp>
      <p:sp>
        <p:nvSpPr>
          <p:cNvPr id="6" name="Text 4"/>
          <p:cNvSpPr/>
          <p:nvPr/>
        </p:nvSpPr>
        <p:spPr>
          <a:xfrm>
            <a:off x="822960" y="4572000"/>
            <a:ext cx="10424160" cy="1737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Lesson 1 — ONNX is effectively unbounded</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Lesson 2 — type &amp; shape inference is not enough</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Lesson 3 — numerical accuracy is underspecified</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Plus: dtype mapping &amp; generated-code quality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1</a:t>
            </a:r>
            <a:endParaRPr lang="en-US" sz="1200" dirty="0"/>
          </a:p>
        </p:txBody>
      </p:sp>
      <p:sp>
        <p:nvSpPr>
          <p:cNvPr id="4" name="Shape 2"/>
          <p:cNvSpPr/>
          <p:nvPr/>
        </p:nvSpPr>
        <p:spPr>
          <a:xfrm>
            <a:off x="548640" y="749808"/>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5" name="Text 3"/>
          <p:cNvSpPr/>
          <p:nvPr/>
        </p:nvSpPr>
        <p:spPr>
          <a:xfrm>
            <a:off x="548640" y="7498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98448" y="749808"/>
            <a:ext cx="10332720" cy="603504"/>
          </a:xfrm>
          <a:prstGeom prst="rect">
            <a:avLst/>
          </a:prstGeom>
          <a:noFill/>
          <a:ln/>
        </p:spPr>
        <p:txBody>
          <a:bodyPr wrap="square" lIns="0" tIns="0" rIns="0" bIns="0" rtlCol="0" anchor="ctr"/>
          <a:lstStyle/>
          <a:p>
            <a:pPr indent="0" marL="0">
              <a:buNone/>
            </a:pPr>
            <a:r>
              <a:rPr lang="en-US" sz="2700" b="1" dirty="0">
                <a:solidFill>
                  <a:srgbClr val="0E2A47"/>
                </a:solidFill>
                <a:latin typeface="Cambria" pitchFamily="34" charset="0"/>
                <a:ea typeface="Cambria" pitchFamily="34" charset="-122"/>
                <a:cs typeface="Cambria" pitchFamily="34" charset="-120"/>
              </a:rPr>
              <a:t>ONNX is effectively unbounded</a:t>
            </a:r>
            <a:endParaRPr lang="en-US" sz="2700" dirty="0"/>
          </a:p>
        </p:txBody>
      </p:sp>
      <p:sp>
        <p:nvSpPr>
          <p:cNvPr id="7" name="Shape 5"/>
          <p:cNvSpPr/>
          <p:nvPr/>
        </p:nvSpPr>
        <p:spPr>
          <a:xfrm>
            <a:off x="548640" y="1783080"/>
            <a:ext cx="3611880" cy="2286000"/>
          </a:xfrm>
          <a:prstGeom prst="roundRect">
            <a:avLst>
              <a:gd name="adj" fmla="val 320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8" name="Text 6"/>
          <p:cNvSpPr/>
          <p:nvPr/>
        </p:nvSpPr>
        <p:spPr>
          <a:xfrm>
            <a:off x="777240" y="2011680"/>
            <a:ext cx="3154680" cy="777240"/>
          </a:xfrm>
          <a:prstGeom prst="rect">
            <a:avLst/>
          </a:prstGeom>
          <a:noFill/>
          <a:ln/>
        </p:spPr>
        <p:txBody>
          <a:bodyPr wrap="square" lIns="0" tIns="0" rIns="0" bIns="0" rtlCol="0" anchor="t"/>
          <a:lstStyle/>
          <a:p>
            <a:pPr indent="0" marL="0">
              <a:buNone/>
            </a:pPr>
            <a:r>
              <a:rPr lang="en-US" sz="1650" b="1" dirty="0">
                <a:solidFill>
                  <a:srgbClr val="0E7C77"/>
                </a:solidFill>
                <a:latin typeface="Calibri" pitchFamily="34" charset="0"/>
                <a:ea typeface="Calibri" pitchFamily="34" charset="-122"/>
                <a:cs typeface="Calibri" pitchFamily="34" charset="-120"/>
              </a:rPr>
              <a:t>Dynamic dimensions</a:t>
            </a:r>
            <a:endParaRPr lang="en-US" sz="1650" dirty="0"/>
          </a:p>
        </p:txBody>
      </p:sp>
      <p:sp>
        <p:nvSpPr>
          <p:cNvPr id="9" name="Text 7"/>
          <p:cNvSpPr/>
          <p:nvPr/>
        </p:nvSpPr>
        <p:spPr>
          <a:xfrm>
            <a:off x="777240" y="2770632"/>
            <a:ext cx="3154680" cy="118872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Symbolic/unknown axes give a runtime extent, but no maximum</a:t>
            </a:r>
            <a:endParaRPr lang="en-US" sz="1300" dirty="0"/>
          </a:p>
        </p:txBody>
      </p:sp>
      <p:sp>
        <p:nvSpPr>
          <p:cNvPr id="10" name="Shape 8"/>
          <p:cNvSpPr/>
          <p:nvPr/>
        </p:nvSpPr>
        <p:spPr>
          <a:xfrm>
            <a:off x="4416552" y="1783080"/>
            <a:ext cx="3611880" cy="2286000"/>
          </a:xfrm>
          <a:prstGeom prst="roundRect">
            <a:avLst>
              <a:gd name="adj" fmla="val 320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1" name="Text 9"/>
          <p:cNvSpPr/>
          <p:nvPr/>
        </p:nvSpPr>
        <p:spPr>
          <a:xfrm>
            <a:off x="4645152" y="2011680"/>
            <a:ext cx="3154680" cy="777240"/>
          </a:xfrm>
          <a:prstGeom prst="rect">
            <a:avLst/>
          </a:prstGeom>
          <a:noFill/>
          <a:ln/>
        </p:spPr>
        <p:txBody>
          <a:bodyPr wrap="square" lIns="0" tIns="0" rIns="0" bIns="0" rtlCol="0" anchor="t"/>
          <a:lstStyle/>
          <a:p>
            <a:pPr indent="0" marL="0">
              <a:buNone/>
            </a:pPr>
            <a:r>
              <a:rPr lang="en-US" sz="1650" b="1" dirty="0">
                <a:solidFill>
                  <a:srgbClr val="0E7C77"/>
                </a:solidFill>
                <a:latin typeface="Calibri" pitchFamily="34" charset="0"/>
                <a:ea typeface="Calibri" pitchFamily="34" charset="-122"/>
                <a:cs typeface="Calibri" pitchFamily="34" charset="-120"/>
              </a:rPr>
              <a:t>Sequence length</a:t>
            </a:r>
            <a:endParaRPr lang="en-US" sz="1650" dirty="0"/>
          </a:p>
        </p:txBody>
      </p:sp>
      <p:sp>
        <p:nvSpPr>
          <p:cNvPr id="12" name="Text 10"/>
          <p:cNvSpPr/>
          <p:nvPr/>
        </p:nvSpPr>
        <p:spPr>
          <a:xfrm>
            <a:off x="4645152" y="2770632"/>
            <a:ext cx="3154680" cy="118872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Containers have no natural capacity — one level above a dynamic dim</a:t>
            </a:r>
            <a:endParaRPr lang="en-US" sz="1300" dirty="0"/>
          </a:p>
        </p:txBody>
      </p:sp>
      <p:sp>
        <p:nvSpPr>
          <p:cNvPr id="13" name="Shape 11"/>
          <p:cNvSpPr/>
          <p:nvPr/>
        </p:nvSpPr>
        <p:spPr>
          <a:xfrm>
            <a:off x="8284464" y="1783080"/>
            <a:ext cx="3611880" cy="2286000"/>
          </a:xfrm>
          <a:prstGeom prst="roundRect">
            <a:avLst>
              <a:gd name="adj" fmla="val 320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4" name="Text 12"/>
          <p:cNvSpPr/>
          <p:nvPr/>
        </p:nvSpPr>
        <p:spPr>
          <a:xfrm>
            <a:off x="8513064" y="2011680"/>
            <a:ext cx="3154680" cy="777240"/>
          </a:xfrm>
          <a:prstGeom prst="rect">
            <a:avLst/>
          </a:prstGeom>
          <a:noFill/>
          <a:ln/>
        </p:spPr>
        <p:txBody>
          <a:bodyPr wrap="square" lIns="0" tIns="0" rIns="0" bIns="0" rtlCol="0" anchor="t"/>
          <a:lstStyle/>
          <a:p>
            <a:pPr indent="0" marL="0">
              <a:buNone/>
            </a:pPr>
            <a:r>
              <a:rPr lang="en-US" sz="1650" b="1" dirty="0">
                <a:solidFill>
                  <a:srgbClr val="0E7C77"/>
                </a:solidFill>
                <a:latin typeface="Calibri" pitchFamily="34" charset="0"/>
                <a:ea typeface="Calibri" pitchFamily="34" charset="-122"/>
                <a:cs typeface="Calibri" pitchFamily="34" charset="-120"/>
              </a:rPr>
              <a:t>String size</a:t>
            </a:r>
            <a:endParaRPr lang="en-US" sz="1650" dirty="0"/>
          </a:p>
        </p:txBody>
      </p:sp>
      <p:sp>
        <p:nvSpPr>
          <p:cNvPr id="15" name="Text 13"/>
          <p:cNvSpPr/>
          <p:nvPr/>
        </p:nvSpPr>
        <p:spPr>
          <a:xfrm>
            <a:off x="8513064" y="2770632"/>
            <a:ext cx="3154680" cy="118872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String tensors carry no maximum character length</a:t>
            </a:r>
            <a:endParaRPr lang="en-US" sz="1300" dirty="0"/>
          </a:p>
        </p:txBody>
      </p:sp>
      <p:sp>
        <p:nvSpPr>
          <p:cNvPr id="16" name="Shape 14"/>
          <p:cNvSpPr/>
          <p:nvPr/>
        </p:nvSpPr>
        <p:spPr>
          <a:xfrm>
            <a:off x="548640" y="4297680"/>
            <a:ext cx="11064240" cy="1828800"/>
          </a:xfrm>
          <a:prstGeom prst="roundRect">
            <a:avLst>
              <a:gd name="adj" fmla="val 3500"/>
            </a:avLst>
          </a:prstGeom>
          <a:solidFill>
            <a:srgbClr val="0E2A47"/>
          </a:solidFill>
          <a:ln/>
        </p:spPr>
      </p:sp>
      <p:sp>
        <p:nvSpPr>
          <p:cNvPr id="17" name="Text 15"/>
          <p:cNvSpPr/>
          <p:nvPr/>
        </p:nvSpPr>
        <p:spPr>
          <a:xfrm>
            <a:off x="822960" y="4434840"/>
            <a:ext cx="10515600" cy="365760"/>
          </a:xfrm>
          <a:prstGeom prst="rect">
            <a:avLst/>
          </a:prstGeom>
          <a:noFill/>
          <a:ln/>
        </p:spPr>
        <p:txBody>
          <a:bodyPr wrap="square" lIns="0" tIns="0" rIns="0" bIns="0" rtlCol="0" anchor="ctr"/>
          <a:lstStyle/>
          <a:p>
            <a:pPr indent="0" marL="0">
              <a:buNone/>
            </a:pPr>
            <a:r>
              <a:rPr lang="en-US" sz="1450" b="1" dirty="0">
                <a:solidFill>
                  <a:srgbClr val="E8A13A"/>
                </a:solidFill>
                <a:latin typeface="Calibri" pitchFamily="34" charset="0"/>
                <a:ea typeface="Calibri" pitchFamily="34" charset="-122"/>
                <a:cs typeface="Calibri" pitchFamily="34" charset="-120"/>
              </a:rPr>
              <a:t>The core AOT lesson</a:t>
            </a:r>
            <a:endParaRPr lang="en-US" sz="1450" dirty="0"/>
          </a:p>
        </p:txBody>
      </p:sp>
      <p:sp>
        <p:nvSpPr>
          <p:cNvPr id="18" name="Text 16"/>
          <p:cNvSpPr/>
          <p:nvPr/>
        </p:nvSpPr>
        <p:spPr>
          <a:xfrm>
            <a:off x="822960" y="4828032"/>
            <a:ext cx="10515600" cy="1188720"/>
          </a:xfrm>
          <a:prstGeom prst="rect">
            <a:avLst/>
          </a:prstGeom>
          <a:noFill/>
          <a:ln/>
        </p:spPr>
        <p:txBody>
          <a:bodyPr wrap="square" lIns="0" tIns="0" rIns="0" bIns="0" rtlCol="0" anchor="t"/>
          <a:lstStyle/>
          <a:p>
            <a:pPr indent="0" marL="0">
              <a:buNone/>
            </a:pPr>
            <a:r>
              <a:rPr lang="en-US" sz="1400" dirty="0">
                <a:solidFill>
                  <a:srgbClr val="DCE8F0"/>
                </a:solidFill>
                <a:latin typeface="Calibri" pitchFamily="34" charset="0"/>
                <a:ea typeface="Calibri" pitchFamily="34" charset="-122"/>
                <a:cs typeface="Calibri" pitchFamily="34" charset="-120"/>
              </a:rPr>
              <a:t>ONNX is intentionally flexible for interchange and runtime execution. General static memory planning is impossible without additional assumptions. A tensor dimension asks “how large is this axis?”; a sequence asks “how many tensor objects exist, and what shape is each?” — comfortable for runtimes, hard for static C. Embedded C needs concrete bounds, or a clear failure.</a:t>
            </a:r>
            <a:endParaRPr lang="en-US" sz="1400" dirty="0"/>
          </a:p>
        </p:txBody>
      </p:sp>
      <p:sp>
        <p:nvSpPr>
          <p:cNvPr id="19" name="Text 1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20" name="Text 18"/>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1 · DYNAMIC DIMENSIONS</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Runtime extent ≠ maximum extent</a:t>
            </a:r>
            <a:endParaRPr lang="en-US" sz="2800" dirty="0"/>
          </a:p>
        </p:txBody>
      </p:sp>
      <p:sp>
        <p:nvSpPr>
          <p:cNvPr id="5" name="Shape 3"/>
          <p:cNvSpPr/>
          <p:nvPr/>
        </p:nvSpPr>
        <p:spPr>
          <a:xfrm>
            <a:off x="548640" y="1783080"/>
            <a:ext cx="5486400" cy="2377440"/>
          </a:xfrm>
          <a:prstGeom prst="roundRect">
            <a:avLst>
              <a:gd name="adj" fmla="val 2692"/>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19659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The gap</a:t>
            </a:r>
            <a:endParaRPr lang="en-US" sz="1500" dirty="0"/>
          </a:p>
        </p:txBody>
      </p:sp>
      <p:sp>
        <p:nvSpPr>
          <p:cNvPr id="7" name="Text 5"/>
          <p:cNvSpPr/>
          <p:nvPr/>
        </p:nvSpPr>
        <p:spPr>
          <a:xfrm>
            <a:off x="786384" y="2404872"/>
            <a:ext cx="5047488" cy="159105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ONNX can mark dimensions symbolic or unknown</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That gives the compiler a runtime extent…</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…but never a maximum extent</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VLAs express runtime dims in the ABI — not a memory bound</a:t>
            </a:r>
            <a:endParaRPr lang="en-US" sz="1250" dirty="0"/>
          </a:p>
        </p:txBody>
      </p:sp>
      <p:sp>
        <p:nvSpPr>
          <p:cNvPr id="8" name="Shape 6"/>
          <p:cNvSpPr/>
          <p:nvPr/>
        </p:nvSpPr>
        <p:spPr>
          <a:xfrm>
            <a:off x="548640" y="4343400"/>
            <a:ext cx="5486400" cy="1783080"/>
          </a:xfrm>
          <a:prstGeom prst="roundRect">
            <a:avLst>
              <a:gd name="adj" fmla="val 3590"/>
            </a:avLst>
          </a:prstGeom>
          <a:solidFill>
            <a:srgbClr val="FBF3E7"/>
          </a:solidFill>
          <a:ln w="12700">
            <a:solidFill>
              <a:srgbClr val="EAD9BC"/>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786384" y="4526280"/>
            <a:ext cx="5047488" cy="365760"/>
          </a:xfrm>
          <a:prstGeom prst="rect">
            <a:avLst/>
          </a:prstGeom>
          <a:noFill/>
          <a:ln/>
        </p:spPr>
        <p:txBody>
          <a:bodyPr wrap="square" lIns="0" tIns="0" rIns="0" bIns="0" rtlCol="0" anchor="ctr"/>
          <a:lstStyle/>
          <a:p>
            <a:pPr indent="0" marL="0">
              <a:buNone/>
            </a:pPr>
            <a:r>
              <a:rPr lang="en-US" sz="1500" b="1" dirty="0">
                <a:solidFill>
                  <a:srgbClr val="B5781F"/>
                </a:solidFill>
                <a:latin typeface="Calibri" pitchFamily="34" charset="0"/>
                <a:ea typeface="Calibri" pitchFamily="34" charset="-122"/>
                <a:cs typeface="Calibri" pitchFamily="34" charset="-120"/>
              </a:rPr>
              <a:t>A backend without heap must…</a:t>
            </a:r>
            <a:endParaRPr lang="en-US" sz="1500" dirty="0"/>
          </a:p>
        </p:txBody>
      </p:sp>
      <p:sp>
        <p:nvSpPr>
          <p:cNvPr id="10" name="Text 8"/>
          <p:cNvSpPr/>
          <p:nvPr/>
        </p:nvSpPr>
        <p:spPr>
          <a:xfrm>
            <a:off x="786384" y="4965192"/>
            <a:ext cx="5047488" cy="99669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require maxima, or</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require caller-provided storage with capacities, or</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accept unbounded stack usage, or reject the model</a:t>
            </a:r>
            <a:endParaRPr lang="en-US" sz="1250" dirty="0"/>
          </a:p>
        </p:txBody>
      </p:sp>
      <p:sp>
        <p:nvSpPr>
          <p:cNvPr id="11" name="Shape 9"/>
          <p:cNvSpPr/>
          <p:nvPr/>
        </p:nvSpPr>
        <p:spPr>
          <a:xfrm>
            <a:off x="6217920" y="1783080"/>
            <a:ext cx="5394960" cy="2377440"/>
          </a:xfrm>
          <a:prstGeom prst="roundRect">
            <a:avLst>
              <a:gd name="adj" fmla="val 2308"/>
            </a:avLst>
          </a:prstGeom>
          <a:solidFill>
            <a:srgbClr val="0C2138"/>
          </a:solidFill>
          <a:ln/>
          <a:effectLst>
            <a:outerShdw sx="100000" sy="100000" kx="0" ky="0" algn="bl" rotWithShape="0" blurRad="114300" dist="38100" dir="5400000">
              <a:srgbClr val="0A1F38">
                <a:alpha val="14000"/>
              </a:srgbClr>
            </a:outerShdw>
          </a:effectLst>
        </p:spPr>
      </p:sp>
      <p:sp>
        <p:nvSpPr>
          <p:cNvPr id="12" name="Text 10"/>
          <p:cNvSpPr/>
          <p:nvPr/>
        </p:nvSpPr>
        <p:spPr>
          <a:xfrm>
            <a:off x="6400800" y="1856232"/>
            <a:ext cx="502920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VLAs carry the extent, not the bound</a:t>
            </a:r>
            <a:endParaRPr lang="en-US" sz="1050" dirty="0"/>
          </a:p>
        </p:txBody>
      </p:sp>
      <p:sp>
        <p:nvSpPr>
          <p:cNvPr id="13" name="Text 11"/>
          <p:cNvSpPr/>
          <p:nvPr/>
        </p:nvSpPr>
        <p:spPr>
          <a:xfrm>
            <a:off x="6400800" y="2167128"/>
            <a:ext cx="5029200" cy="1883664"/>
          </a:xfrm>
          <a:prstGeom prst="rect">
            <a:avLst/>
          </a:prstGeom>
          <a:noFill/>
          <a:ln/>
        </p:spPr>
        <p:txBody>
          <a:bodyPr wrap="square" lIns="0" tIns="0" rIns="0" bIns="0" rtlCol="0" anchor="t"/>
          <a:lstStyle/>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extent N, C known only at runtime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void model(int N, int 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const float x[restrict N][C],</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float       y[restrict N][C]);</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temporaries &amp; caller buffers can still</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grow without a compile-time bound      */</a:t>
            </a:r>
            <a:endParaRPr lang="en-US" sz="1250" dirty="0"/>
          </a:p>
        </p:txBody>
      </p:sp>
      <p:sp>
        <p:nvSpPr>
          <p:cNvPr id="14" name="Shape 12"/>
          <p:cNvSpPr/>
          <p:nvPr/>
        </p:nvSpPr>
        <p:spPr>
          <a:xfrm>
            <a:off x="6217920" y="4343400"/>
            <a:ext cx="5394960" cy="1783080"/>
          </a:xfrm>
          <a:prstGeom prst="roundRect">
            <a:avLst>
              <a:gd name="adj" fmla="val 4103"/>
            </a:avLst>
          </a:prstGeom>
          <a:solidFill>
            <a:srgbClr val="EAF5F3"/>
          </a:solidFill>
          <a:ln w="12700">
            <a:solidFill>
              <a:srgbClr val="C9E5E1"/>
            </a:solidFill>
            <a:prstDash val="solid"/>
          </a:ln>
        </p:spPr>
      </p:sp>
      <p:sp>
        <p:nvSpPr>
          <p:cNvPr id="15" name="Text 13"/>
          <p:cNvSpPr/>
          <p:nvPr/>
        </p:nvSpPr>
        <p:spPr>
          <a:xfrm>
            <a:off x="6446520" y="4462272"/>
            <a:ext cx="4937760" cy="365760"/>
          </a:xfrm>
          <a:prstGeom prst="rect">
            <a:avLst/>
          </a:prstGeom>
          <a:noFill/>
          <a:ln/>
        </p:spPr>
        <p:txBody>
          <a:bodyPr wrap="square" lIns="0" tIns="0" rIns="0" bIns="0" rtlCol="0" anchor="ctr"/>
          <a:lstStyle/>
          <a:p>
            <a:pPr indent="0" marL="0">
              <a:buNone/>
            </a:pPr>
            <a:r>
              <a:rPr lang="en-US" sz="1400" b="1" dirty="0">
                <a:solidFill>
                  <a:srgbClr val="0E7C77"/>
                </a:solidFill>
                <a:latin typeface="Calibri" pitchFamily="34" charset="0"/>
                <a:ea typeface="Calibri" pitchFamily="34" charset="-122"/>
                <a:cs typeface="Calibri" pitchFamily="34" charset="-120"/>
              </a:rPr>
              <a:t>emx-onnx-cgen policy</a:t>
            </a:r>
            <a:endParaRPr lang="en-US" sz="1400" dirty="0"/>
          </a:p>
        </p:txBody>
      </p:sp>
      <p:sp>
        <p:nvSpPr>
          <p:cNvPr id="16" name="Text 14"/>
          <p:cNvSpPr/>
          <p:nvPr/>
        </p:nvSpPr>
        <p:spPr>
          <a:xfrm>
            <a:off x="6446520" y="4846320"/>
            <a:ext cx="4937760" cy="118872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Require static shapes where necessary; support VLAs where the shape is representable and acceptable; fail clearly when a required bound is missing. Models that need representative inputs to resolve shapes should be exported static or given explicit options.</a:t>
            </a:r>
            <a:endParaRPr lang="en-US" sz="1200" dirty="0"/>
          </a:p>
        </p:txBody>
      </p:sp>
      <p:sp>
        <p:nvSpPr>
          <p:cNvPr id="17"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8" name="Text 1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1 · SEQUENCES</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Sequences: a dynamic length one level higher</a:t>
            </a:r>
            <a:endParaRPr lang="en-US" sz="2800" dirty="0"/>
          </a:p>
        </p:txBody>
      </p:sp>
      <p:sp>
        <p:nvSpPr>
          <p:cNvPr id="5" name="Shape 3"/>
          <p:cNvSpPr/>
          <p:nvPr/>
        </p:nvSpPr>
        <p:spPr>
          <a:xfrm>
            <a:off x="548640" y="1828800"/>
            <a:ext cx="5577840" cy="3291840"/>
          </a:xfrm>
          <a:prstGeom prst="roundRect">
            <a:avLst>
              <a:gd name="adj" fmla="val 1667"/>
            </a:avLst>
          </a:prstGeom>
          <a:solidFill>
            <a:srgbClr val="0C2138"/>
          </a:solidFill>
          <a:ln/>
          <a:effectLst>
            <a:outerShdw sx="100000" sy="100000" kx="0" ky="0" algn="bl" rotWithShape="0" blurRad="114300" dist="38100" dir="5400000">
              <a:srgbClr val="0A1F38">
                <a:alpha val="14000"/>
              </a:srgbClr>
            </a:outerShdw>
          </a:effectLst>
        </p:spPr>
      </p:sp>
      <p:sp>
        <p:nvSpPr>
          <p:cNvPr id="6" name="Text 4"/>
          <p:cNvSpPr/>
          <p:nvPr/>
        </p:nvSpPr>
        <p:spPr>
          <a:xfrm>
            <a:off x="731520" y="1901952"/>
            <a:ext cx="521208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Fixed-capacity array + count metadata</a:t>
            </a:r>
            <a:endParaRPr lang="en-US" sz="1050" dirty="0"/>
          </a:p>
        </p:txBody>
      </p:sp>
      <p:sp>
        <p:nvSpPr>
          <p:cNvPr id="7" name="Text 5"/>
          <p:cNvSpPr/>
          <p:nvPr/>
        </p:nvSpPr>
        <p:spPr>
          <a:xfrm>
            <a:off x="731520" y="2212848"/>
            <a:ext cx="5212080" cy="2798064"/>
          </a:xfrm>
          <a:prstGeom prst="rect">
            <a:avLst/>
          </a:prstGeom>
          <a:noFill/>
          <a:ln/>
        </p:spPr>
        <p:txBody>
          <a:bodyPr wrap="square" lIns="0" tIns="0" rIns="0" bIns="0" rtlCol="0" anchor="t"/>
          <a:lstStyle/>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 input  */</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const T name[EMX_SEQUENCE_MAX_LEN][elem_shape...];</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idx_t  name__count;</a:t>
            </a:r>
            <a:endParaRPr lang="en-US" sz="1200" dirty="0"/>
          </a:p>
          <a:p>
            <a:pPr algn="l" indent="0" marL="0">
              <a:lnSpc>
                <a:spcPct val="105000"/>
              </a:lnSpc>
              <a:buNone/>
            </a:pP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 output */</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T      name[EMX_SEQUENCE_MAX_LEN][elem_shape...];</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idx_t *name__count;</a:t>
            </a:r>
            <a:endParaRPr lang="en-US" sz="1200" dirty="0"/>
          </a:p>
          <a:p>
            <a:pPr algn="l" indent="0" marL="0">
              <a:lnSpc>
                <a:spcPct val="105000"/>
              </a:lnSpc>
              <a:buNone/>
            </a:pP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#ifndef EMX_SEQUENCE_MAX_LEN</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#define EMX_SEQUENCE_MAX_LEN 32   /* overridable */</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#endif</a:t>
            </a:r>
            <a:endParaRPr lang="en-US" sz="1200" dirty="0"/>
          </a:p>
        </p:txBody>
      </p:sp>
      <p:sp>
        <p:nvSpPr>
          <p:cNvPr id="8" name="Shape 6"/>
          <p:cNvSpPr/>
          <p:nvPr/>
        </p:nvSpPr>
        <p:spPr>
          <a:xfrm>
            <a:off x="6309360" y="1828800"/>
            <a:ext cx="5303520" cy="1783080"/>
          </a:xfrm>
          <a:prstGeom prst="roundRect">
            <a:avLst>
              <a:gd name="adj" fmla="val 359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6547104" y="2011680"/>
            <a:ext cx="486460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Why containers are hard</a:t>
            </a:r>
            <a:endParaRPr lang="en-US" sz="1500" dirty="0"/>
          </a:p>
        </p:txBody>
      </p:sp>
      <p:sp>
        <p:nvSpPr>
          <p:cNvPr id="10" name="Text 8"/>
          <p:cNvSpPr/>
          <p:nvPr/>
        </p:nvSpPr>
        <p:spPr>
          <a:xfrm>
            <a:off x="6547104" y="2450592"/>
            <a:ext cx="4864608" cy="996696"/>
          </a:xfrm>
          <a:prstGeom prst="rect">
            <a:avLst/>
          </a:prstGeom>
          <a:noFill/>
          <a:ln/>
        </p:spPr>
        <p:txBody>
          <a:bodyPr wrap="square" lIns="0" tIns="0" rIns="0" bIns="0" rtlCol="0" anchor="t"/>
          <a:lstStyle/>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A sequence is a container value, not a tensor with one more axis</a:t>
            </a:r>
            <a:endParaRPr lang="en-US" sz="1200" dirty="0"/>
          </a:p>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Needs max length, element dtype, rank and element shape</a:t>
            </a:r>
            <a:endParaRPr lang="en-US" sz="1200" dirty="0"/>
          </a:p>
          <a:p>
            <a:pPr algn="l" marL="177800" indent="-177800">
              <a:spcAft>
                <a:spcPts val="600"/>
              </a:spcAft>
              <a:buSzPct val="100000"/>
              <a:buChar char="•"/>
            </a:pPr>
            <a:r>
              <a:rPr lang="en-US" sz="1200" dirty="0">
                <a:solidFill>
                  <a:srgbClr val="33475B"/>
                </a:solidFill>
                <a:latin typeface="Calibri" pitchFamily="34" charset="0"/>
                <a:ea typeface="Calibri" pitchFamily="34" charset="-122"/>
                <a:cs typeface="Calibri" pitchFamily="34" charset="-120"/>
              </a:rPr>
              <a:t>Without a max, no fixed storage can be reserved</a:t>
            </a:r>
            <a:endParaRPr lang="en-US" sz="1200" dirty="0"/>
          </a:p>
        </p:txBody>
      </p:sp>
      <p:sp>
        <p:nvSpPr>
          <p:cNvPr id="11" name="Shape 9"/>
          <p:cNvSpPr/>
          <p:nvPr/>
        </p:nvSpPr>
        <p:spPr>
          <a:xfrm>
            <a:off x="6309360" y="3749040"/>
            <a:ext cx="5303520" cy="2377440"/>
          </a:xfrm>
          <a:prstGeom prst="roundRect">
            <a:avLst>
              <a:gd name="adj" fmla="val 2692"/>
            </a:avLst>
          </a:prstGeom>
          <a:solidFill>
            <a:srgbClr val="FBF3E7"/>
          </a:solidFill>
          <a:ln w="12700">
            <a:solidFill>
              <a:srgbClr val="EAD9BC"/>
            </a:solidFill>
            <a:prstDash val="solid"/>
          </a:ln>
          <a:effectLst>
            <a:outerShdw sx="100000" sy="100000" kx="0" ky="0" algn="bl" rotWithShape="0" blurRad="114300" dist="38100" dir="5400000">
              <a:srgbClr val="0A1F38">
                <a:alpha val="10000"/>
              </a:srgbClr>
            </a:outerShdw>
          </a:effectLst>
        </p:spPr>
      </p:sp>
      <p:sp>
        <p:nvSpPr>
          <p:cNvPr id="12" name="Text 10"/>
          <p:cNvSpPr/>
          <p:nvPr/>
        </p:nvSpPr>
        <p:spPr>
          <a:xfrm>
            <a:off x="6547104" y="3931920"/>
            <a:ext cx="4864608" cy="365760"/>
          </a:xfrm>
          <a:prstGeom prst="rect">
            <a:avLst/>
          </a:prstGeom>
          <a:noFill/>
          <a:ln/>
        </p:spPr>
        <p:txBody>
          <a:bodyPr wrap="square" lIns="0" tIns="0" rIns="0" bIns="0" rtlCol="0" anchor="ctr"/>
          <a:lstStyle/>
          <a:p>
            <a:pPr indent="0" marL="0">
              <a:buNone/>
            </a:pPr>
            <a:r>
              <a:rPr lang="en-US" sz="1500" b="1" dirty="0">
                <a:solidFill>
                  <a:srgbClr val="B5781F"/>
                </a:solidFill>
                <a:latin typeface="Calibri" pitchFamily="34" charset="0"/>
                <a:ea typeface="Calibri" pitchFamily="34" charset="-122"/>
                <a:cs typeface="Calibri" pitchFamily="34" charset="-120"/>
              </a:rPr>
              <a:t>Ragged sequences</a:t>
            </a:r>
            <a:endParaRPr lang="en-US" sz="1500" dirty="0"/>
          </a:p>
        </p:txBody>
      </p:sp>
      <p:sp>
        <p:nvSpPr>
          <p:cNvPr id="13" name="Text 11"/>
          <p:cNvSpPr/>
          <p:nvPr/>
        </p:nvSpPr>
        <p:spPr>
          <a:xfrm>
            <a:off x="6547104" y="4370832"/>
            <a:ext cx="4864608" cy="1591056"/>
          </a:xfrm>
          <a:prstGeom prst="rect">
            <a:avLst/>
          </a:prstGeom>
          <a:noFill/>
          <a:ln/>
        </p:spPr>
        <p:txBody>
          <a:bodyPr wrap="square" lIns="0" tIns="0" rIns="0" bIns="0" rtlCol="0" anchor="t"/>
          <a:lstStyle/>
          <a:p>
            <a:pPr algn="l" marL="177800" indent="-177800">
              <a:spcAft>
                <a:spcPts val="500"/>
              </a:spcAft>
              <a:buSzPct val="100000"/>
              <a:buChar char="•"/>
            </a:pPr>
            <a:r>
              <a:rPr lang="en-US" sz="1150" dirty="0">
                <a:solidFill>
                  <a:srgbClr val="33475B"/>
                </a:solidFill>
                <a:latin typeface="Calibri" pitchFamily="34" charset="0"/>
                <a:ea typeface="Calibri" pitchFamily="34" charset="-122"/>
                <a:cs typeface="Calibri" pitchFamily="34" charset="-120"/>
              </a:rPr>
              <a:t>Not accepted implicitly</a:t>
            </a:r>
            <a:endParaRPr lang="en-US" sz="1150" dirty="0"/>
          </a:p>
          <a:p>
            <a:pPr algn="l" marL="177800" indent="-177800">
              <a:spcAft>
                <a:spcPts val="500"/>
              </a:spcAft>
              <a:buSzPct val="100000"/>
              <a:buChar char="•"/>
            </a:pPr>
            <a:r>
              <a:rPr lang="en-US" sz="1150" dirty="0">
                <a:solidFill>
                  <a:srgbClr val="33475B"/>
                </a:solidFill>
                <a:latin typeface="Calibri" pitchFamily="34" charset="0"/>
                <a:ea typeface="Calibri" pitchFamily="34" charset="-122"/>
                <a:cs typeface="Calibri" pitchFamily="34" charset="-120"/>
              </a:rPr>
              <a:t>--sequence-element-shape declares rank + per-axis maxima</a:t>
            </a:r>
            <a:endParaRPr lang="en-US" sz="1150" dirty="0"/>
          </a:p>
          <a:p>
            <a:pPr algn="l" marL="177800" indent="-177800">
              <a:spcAft>
                <a:spcPts val="500"/>
              </a:spcAft>
              <a:buSzPct val="100000"/>
              <a:buChar char="•"/>
            </a:pPr>
            <a:r>
              <a:rPr lang="en-US" sz="1150" dirty="0">
                <a:solidFill>
                  <a:srgbClr val="33475B"/>
                </a:solidFill>
                <a:latin typeface="Calibri" pitchFamily="34" charset="0"/>
                <a:ea typeface="Calibri" pitchFamily="34" charset="-122"/>
                <a:cs typeface="Calibri" pitchFamily="34" charset="-120"/>
              </a:rPr>
              <a:t>e.g. sequence=[&lt;=8] or boxes=[&lt;=100,4]</a:t>
            </a:r>
            <a:endParaRPr lang="en-US" sz="1150" dirty="0"/>
          </a:p>
          <a:p>
            <a:pPr algn="l" marL="177800" indent="-177800">
              <a:spcAft>
                <a:spcPts val="500"/>
              </a:spcAft>
              <a:buSzPct val="100000"/>
              <a:buChar char="•"/>
            </a:pPr>
            <a:r>
              <a:rPr lang="en-US" sz="1150" dirty="0">
                <a:solidFill>
                  <a:srgbClr val="33475B"/>
                </a:solidFill>
                <a:latin typeface="Calibri" pitchFamily="34" charset="0"/>
                <a:ea typeface="Calibri" pitchFamily="34" charset="-122"/>
                <a:cs typeface="Calibri" pitchFamily="34" charset="-120"/>
              </a:rPr>
              <a:t>Per-item dims: idx_t name__dim_&lt;axis&gt;[…MAX_LEN]</a:t>
            </a:r>
            <a:endParaRPr lang="en-US" sz="1150" dirty="0"/>
          </a:p>
          <a:p>
            <a:pPr algn="l" marL="177800" indent="-177800">
              <a:spcAft>
                <a:spcPts val="500"/>
              </a:spcAft>
              <a:buSzPct val="100000"/>
              <a:buChar char="•"/>
            </a:pPr>
            <a:r>
              <a:rPr lang="en-US" sz="1150" dirty="0">
                <a:solidFill>
                  <a:srgbClr val="33475B"/>
                </a:solidFill>
                <a:latin typeface="Calibri" pitchFamily="34" charset="0"/>
                <a:ea typeface="Calibri" pitchFamily="34" charset="-122"/>
                <a:cs typeface="Calibri" pitchFamily="34" charset="-120"/>
              </a:rPr>
              <a:t>Only first name__count entries are meaningful</a:t>
            </a:r>
            <a:endParaRPr lang="en-US" sz="1150" dirty="0"/>
          </a:p>
        </p:txBody>
      </p:sp>
      <p:sp>
        <p:nvSpPr>
          <p:cNvPr id="14" name="Text 1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5" name="Text 1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1 · STRINGS</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Strings: the same unbounded-length problem</a:t>
            </a:r>
            <a:endParaRPr lang="en-US" sz="2800" dirty="0"/>
          </a:p>
        </p:txBody>
      </p:sp>
      <p:sp>
        <p:nvSpPr>
          <p:cNvPr id="5" name="Shape 3"/>
          <p:cNvSpPr/>
          <p:nvPr/>
        </p:nvSpPr>
        <p:spPr>
          <a:xfrm>
            <a:off x="548640" y="1783080"/>
            <a:ext cx="5486400" cy="2331720"/>
          </a:xfrm>
          <a:prstGeom prst="roundRect">
            <a:avLst>
              <a:gd name="adj" fmla="val 274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19659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The gap</a:t>
            </a:r>
            <a:endParaRPr lang="en-US" sz="1500" dirty="0"/>
          </a:p>
        </p:txBody>
      </p:sp>
      <p:sp>
        <p:nvSpPr>
          <p:cNvPr id="7" name="Text 5"/>
          <p:cNvSpPr/>
          <p:nvPr/>
        </p:nvSpPr>
        <p:spPr>
          <a:xfrm>
            <a:off x="786384" y="2404872"/>
            <a:ext cx="5047488" cy="154533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ONNX string tensors declare no maximum length</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A heap backend stores variable-length strings at runtime</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A no-heap backend must reserve storage at compile time</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Options: require a bound, pick a policy, truncate, or reject</a:t>
            </a:r>
            <a:endParaRPr lang="en-US" sz="1250" dirty="0"/>
          </a:p>
        </p:txBody>
      </p:sp>
      <p:sp>
        <p:nvSpPr>
          <p:cNvPr id="8" name="Shape 6"/>
          <p:cNvSpPr/>
          <p:nvPr/>
        </p:nvSpPr>
        <p:spPr>
          <a:xfrm>
            <a:off x="548640" y="4297680"/>
            <a:ext cx="5486400" cy="1828800"/>
          </a:xfrm>
          <a:prstGeom prst="roundRect">
            <a:avLst>
              <a:gd name="adj" fmla="val 3500"/>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786384" y="44805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Directly analogous to sequences</a:t>
            </a:r>
            <a:endParaRPr lang="en-US" sz="1500" dirty="0"/>
          </a:p>
        </p:txBody>
      </p:sp>
      <p:sp>
        <p:nvSpPr>
          <p:cNvPr id="10" name="Text 8"/>
          <p:cNvSpPr/>
          <p:nvPr/>
        </p:nvSpPr>
        <p:spPr>
          <a:xfrm>
            <a:off x="786384" y="4919472"/>
            <a:ext cx="5047488" cy="104241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Strings: missing bound = max characters per element</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Sequences: missing bound = max number of elements</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Both: unbounded length → bounded static storage</a:t>
            </a:r>
            <a:endParaRPr lang="en-US" sz="1250" dirty="0"/>
          </a:p>
        </p:txBody>
      </p:sp>
      <p:sp>
        <p:nvSpPr>
          <p:cNvPr id="11" name="Shape 9"/>
          <p:cNvSpPr/>
          <p:nvPr/>
        </p:nvSpPr>
        <p:spPr>
          <a:xfrm>
            <a:off x="6217920" y="1783080"/>
            <a:ext cx="5394960" cy="2834640"/>
          </a:xfrm>
          <a:prstGeom prst="roundRect">
            <a:avLst>
              <a:gd name="adj" fmla="val 1935"/>
            </a:avLst>
          </a:prstGeom>
          <a:solidFill>
            <a:srgbClr val="0C2138"/>
          </a:solidFill>
          <a:ln/>
          <a:effectLst>
            <a:outerShdw sx="100000" sy="100000" kx="0" ky="0" algn="bl" rotWithShape="0" blurRad="114300" dist="38100" dir="5400000">
              <a:srgbClr val="0A1F38">
                <a:alpha val="14000"/>
              </a:srgbClr>
            </a:outerShdw>
          </a:effectLst>
        </p:spPr>
      </p:sp>
      <p:sp>
        <p:nvSpPr>
          <p:cNvPr id="12" name="Text 10"/>
          <p:cNvSpPr/>
          <p:nvPr/>
        </p:nvSpPr>
        <p:spPr>
          <a:xfrm>
            <a:off x="6400800" y="1856232"/>
            <a:ext cx="502920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Fixed-size '\0'-terminated C string slots</a:t>
            </a:r>
            <a:endParaRPr lang="en-US" sz="1050" dirty="0"/>
          </a:p>
        </p:txBody>
      </p:sp>
      <p:sp>
        <p:nvSpPr>
          <p:cNvPr id="13" name="Text 11"/>
          <p:cNvSpPr/>
          <p:nvPr/>
        </p:nvSpPr>
        <p:spPr>
          <a:xfrm>
            <a:off x="6400800" y="2167128"/>
            <a:ext cx="5029200" cy="2340864"/>
          </a:xfrm>
          <a:prstGeom prst="rect">
            <a:avLst/>
          </a:prstGeom>
          <a:noFill/>
          <a:ln/>
        </p:spPr>
        <p:txBody>
          <a:bodyPr wrap="square" lIns="0" tIns="0" rIns="0" bIns="0" rtlCol="0" anchor="t"/>
          <a:lstStyle/>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char name[...][EMX_STRING_MAX_LEN];  /* per element */</a:t>
            </a:r>
            <a:endParaRPr lang="en-US" sz="1200" dirty="0"/>
          </a:p>
          <a:p>
            <a:pPr algn="l" indent="0" marL="0">
              <a:lnSpc>
                <a:spcPct val="105000"/>
              </a:lnSpc>
              <a:buNone/>
            </a:pP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#ifndef EMX_STRING_MAX_LEN</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#define EMX_STRING_MAX_LEN 256   /* overridable */</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#endif</a:t>
            </a:r>
            <a:endParaRPr lang="en-US" sz="1200" dirty="0"/>
          </a:p>
          <a:p>
            <a:pPr algn="l" indent="0" marL="0">
              <a:lnSpc>
                <a:spcPct val="105000"/>
              </a:lnSpc>
              <a:buNone/>
            </a:pP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 testbench: strings over the slot are truncated</a:t>
            </a:r>
            <a:endParaRPr lang="en-US" sz="1200" dirty="0"/>
          </a:p>
          <a:p>
            <a:pPr algn="l" indent="0" marL="0">
              <a:lnSpc>
                <a:spcPct val="105000"/>
              </a:lnSpc>
              <a:buNone/>
            </a:pPr>
            <a:r>
              <a:rPr lang="en-US" sz="1200" dirty="0">
                <a:solidFill>
                  <a:srgbClr val="D7E4EC"/>
                </a:solidFill>
                <a:latin typeface="Consolas" pitchFamily="34" charset="0"/>
                <a:ea typeface="Consolas" pitchFamily="34" charset="-122"/>
                <a:cs typeface="Consolas" pitchFamily="34" charset="-120"/>
              </a:rPr>
              <a:t>   to EMX_STRING_MAX_LEN - 1 bytes and null-padded */</a:t>
            </a:r>
            <a:endParaRPr lang="en-US" sz="1200" dirty="0"/>
          </a:p>
        </p:txBody>
      </p:sp>
      <p:sp>
        <p:nvSpPr>
          <p:cNvPr id="14" name="Text 12"/>
          <p:cNvSpPr/>
          <p:nvPr/>
        </p:nvSpPr>
        <p:spPr>
          <a:xfrm>
            <a:off x="6217920" y="4800600"/>
            <a:ext cx="5394960" cy="1280160"/>
          </a:xfrm>
          <a:prstGeom prst="rect">
            <a:avLst/>
          </a:prstGeom>
          <a:noFill/>
          <a:ln/>
        </p:spPr>
        <p:txBody>
          <a:bodyPr wrap="square" lIns="0" tIns="0" rIns="0" bIns="0" rtlCol="0" anchor="t"/>
          <a:lstStyle/>
          <a:p>
            <a:pPr indent="0" marL="0">
              <a:buNone/>
            </a:pPr>
            <a:r>
              <a:rPr lang="en-US" sz="1250" i="1" dirty="0">
                <a:solidFill>
                  <a:srgbClr val="6B7C8F"/>
                </a:solidFill>
                <a:latin typeface="Calibri" pitchFamily="34" charset="0"/>
                <a:ea typeface="Calibri" pitchFamily="34" charset="-122"/>
                <a:cs typeface="Calibri" pitchFamily="34" charset="-120"/>
              </a:rPr>
              <a:t>Trade-off: arbitrary ONNX string length is not represented without an explicit bound — but memory stays static and deterministic.</a:t>
            </a:r>
            <a:endParaRPr lang="en-US" sz="1250" dirty="0"/>
          </a:p>
        </p:txBody>
      </p:sp>
      <p:sp>
        <p:nvSpPr>
          <p:cNvPr id="15" name="Text 13"/>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6" name="Text 1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2</a:t>
            </a:r>
            <a:endParaRPr lang="en-US" sz="1200" dirty="0"/>
          </a:p>
        </p:txBody>
      </p:sp>
      <p:sp>
        <p:nvSpPr>
          <p:cNvPr id="4" name="Shape 2"/>
          <p:cNvSpPr/>
          <p:nvPr/>
        </p:nvSpPr>
        <p:spPr>
          <a:xfrm>
            <a:off x="548640" y="749808"/>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5" name="Text 3"/>
          <p:cNvSpPr/>
          <p:nvPr/>
        </p:nvSpPr>
        <p:spPr>
          <a:xfrm>
            <a:off x="548640" y="7498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6" name="Text 4"/>
          <p:cNvSpPr/>
          <p:nvPr/>
        </p:nvSpPr>
        <p:spPr>
          <a:xfrm>
            <a:off x="1298448" y="749808"/>
            <a:ext cx="10332720" cy="603504"/>
          </a:xfrm>
          <a:prstGeom prst="rect">
            <a:avLst/>
          </a:prstGeom>
          <a:noFill/>
          <a:ln/>
        </p:spPr>
        <p:txBody>
          <a:bodyPr wrap="square" lIns="0" tIns="0" rIns="0" bIns="0" rtlCol="0" anchor="ctr"/>
          <a:lstStyle/>
          <a:p>
            <a:pPr indent="0" marL="0">
              <a:buNone/>
            </a:pPr>
            <a:r>
              <a:rPr lang="en-US" sz="2700" b="1" dirty="0">
                <a:solidFill>
                  <a:srgbClr val="0E2A47"/>
                </a:solidFill>
                <a:latin typeface="Cambria" pitchFamily="34" charset="0"/>
                <a:ea typeface="Cambria" pitchFamily="34" charset="-122"/>
                <a:cs typeface="Cambria" pitchFamily="34" charset="-120"/>
              </a:rPr>
              <a:t>Type &amp; shape inference is not enough</a:t>
            </a:r>
            <a:endParaRPr lang="en-US" sz="2700" dirty="0"/>
          </a:p>
        </p:txBody>
      </p:sp>
      <p:sp>
        <p:nvSpPr>
          <p:cNvPr id="7" name="Shape 5"/>
          <p:cNvSpPr/>
          <p:nvPr/>
        </p:nvSpPr>
        <p:spPr>
          <a:xfrm>
            <a:off x="548640" y="1783080"/>
            <a:ext cx="5486400" cy="2331720"/>
          </a:xfrm>
          <a:prstGeom prst="roundRect">
            <a:avLst>
              <a:gd name="adj" fmla="val 274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8" name="Text 6"/>
          <p:cNvSpPr/>
          <p:nvPr/>
        </p:nvSpPr>
        <p:spPr>
          <a:xfrm>
            <a:off x="786384" y="19659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Where it falls short</a:t>
            </a:r>
            <a:endParaRPr lang="en-US" sz="1500" dirty="0"/>
          </a:p>
        </p:txBody>
      </p:sp>
      <p:sp>
        <p:nvSpPr>
          <p:cNvPr id="9" name="Text 7"/>
          <p:cNvSpPr/>
          <p:nvPr/>
        </p:nvSpPr>
        <p:spPr>
          <a:xfrm>
            <a:off x="786384" y="2404872"/>
            <a:ext cx="5047488" cy="154533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Inference is incomplete for some operators</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Output shape can depend on values, attributes or subgraphs</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Container element shapes may simply be missing</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Dynamic-output operators need capacity decisions</a:t>
            </a:r>
            <a:endParaRPr lang="en-US" sz="1250" dirty="0"/>
          </a:p>
        </p:txBody>
      </p:sp>
      <p:sp>
        <p:nvSpPr>
          <p:cNvPr id="10" name="Shape 8"/>
          <p:cNvSpPr/>
          <p:nvPr/>
        </p:nvSpPr>
        <p:spPr>
          <a:xfrm>
            <a:off x="548640" y="4297680"/>
            <a:ext cx="5486400" cy="1828800"/>
          </a:xfrm>
          <a:prstGeom prst="roundRect">
            <a:avLst>
              <a:gd name="adj" fmla="val 3500"/>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11" name="Text 9"/>
          <p:cNvSpPr/>
          <p:nvPr/>
        </p:nvSpPr>
        <p:spPr>
          <a:xfrm>
            <a:off x="786384" y="44805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Compiler response</a:t>
            </a:r>
            <a:endParaRPr lang="en-US" sz="1500" dirty="0"/>
          </a:p>
        </p:txBody>
      </p:sp>
      <p:sp>
        <p:nvSpPr>
          <p:cNvPr id="12" name="Text 10"/>
          <p:cNvSpPr/>
          <p:nvPr/>
        </p:nvSpPr>
        <p:spPr>
          <a:xfrm>
            <a:off x="786384" y="4919472"/>
            <a:ext cx="5047488" cy="1042416"/>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Normalize attributes &amp; types on import</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Add compiler-side inference/validation where ONNX stops</a:t>
            </a:r>
            <a:endParaRPr lang="en-US" sz="1250" dirty="0"/>
          </a:p>
          <a:p>
            <a:pPr algn="l" marL="177800" indent="-177800">
              <a:spcAft>
                <a:spcPts val="700"/>
              </a:spcAft>
              <a:buSzPct val="100000"/>
              <a:buChar char="•"/>
            </a:pPr>
            <a:r>
              <a:rPr lang="en-US" sz="1250" dirty="0">
                <a:solidFill>
                  <a:srgbClr val="33475B"/>
                </a:solidFill>
                <a:latin typeface="Calibri" pitchFamily="34" charset="0"/>
                <a:ea typeface="Calibri" pitchFamily="34" charset="-122"/>
                <a:cs typeface="Calibri" pitchFamily="34" charset="-120"/>
              </a:rPr>
              <a:t>Make missing information an explicit error</a:t>
            </a:r>
            <a:endParaRPr lang="en-US" sz="1250" dirty="0"/>
          </a:p>
        </p:txBody>
      </p:sp>
      <p:sp>
        <p:nvSpPr>
          <p:cNvPr id="13" name="Shape 11"/>
          <p:cNvSpPr/>
          <p:nvPr/>
        </p:nvSpPr>
        <p:spPr>
          <a:xfrm>
            <a:off x="6217920" y="1783080"/>
            <a:ext cx="5394960" cy="4343400"/>
          </a:xfrm>
          <a:prstGeom prst="roundRect">
            <a:avLst>
              <a:gd name="adj" fmla="val 1684"/>
            </a:avLst>
          </a:prstGeom>
          <a:solidFill>
            <a:srgbClr val="FBEEE9"/>
          </a:solidFill>
          <a:ln w="12700">
            <a:solidFill>
              <a:srgbClr val="EFD6CC"/>
            </a:solidFill>
            <a:prstDash val="solid"/>
          </a:ln>
          <a:effectLst>
            <a:outerShdw sx="100000" sy="100000" kx="0" ky="0" algn="bl" rotWithShape="0" blurRad="114300" dist="38100" dir="5400000">
              <a:srgbClr val="0A1F38">
                <a:alpha val="10000"/>
              </a:srgbClr>
            </a:outerShdw>
          </a:effectLst>
        </p:spPr>
      </p:sp>
      <p:sp>
        <p:nvSpPr>
          <p:cNvPr id="14" name="Text 12"/>
          <p:cNvSpPr/>
          <p:nvPr/>
        </p:nvSpPr>
        <p:spPr>
          <a:xfrm>
            <a:off x="6446520" y="1920240"/>
            <a:ext cx="4937760" cy="365760"/>
          </a:xfrm>
          <a:prstGeom prst="rect">
            <a:avLst/>
          </a:prstGeom>
          <a:noFill/>
          <a:ln/>
        </p:spPr>
        <p:txBody>
          <a:bodyPr wrap="square" lIns="0" tIns="0" rIns="0" bIns="0" rtlCol="0" anchor="ctr"/>
          <a:lstStyle/>
          <a:p>
            <a:pPr indent="0" marL="0">
              <a:buNone/>
            </a:pPr>
            <a:r>
              <a:rPr lang="en-US" sz="1550" b="1" dirty="0">
                <a:solidFill>
                  <a:srgbClr val="B5503A"/>
                </a:solidFill>
                <a:latin typeface="Calibri" pitchFamily="34" charset="0"/>
                <a:ea typeface="Calibri" pitchFamily="34" charset="-122"/>
                <a:cs typeface="Calibri" pitchFamily="34" charset="-120"/>
              </a:rPr>
              <a:t>The duplication problem</a:t>
            </a:r>
            <a:endParaRPr lang="en-US" sz="1550" dirty="0"/>
          </a:p>
        </p:txBody>
      </p:sp>
      <p:sp>
        <p:nvSpPr>
          <p:cNvPr id="15" name="Text 13"/>
          <p:cNvSpPr/>
          <p:nvPr/>
        </p:nvSpPr>
        <p:spPr>
          <a:xfrm>
            <a:off x="6446520" y="2331720"/>
            <a:ext cx="4983480" cy="3657600"/>
          </a:xfrm>
          <a:prstGeom prst="rect">
            <a:avLst/>
          </a:prstGeom>
          <a:noFill/>
          <a:ln/>
        </p:spPr>
        <p:txBody>
          <a:bodyPr wrap="square" lIns="0" tIns="0" rIns="0" bIns="0" rtlCol="0" anchor="t"/>
          <a:lstStyle/>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No reliable standalone library infers shapes/types for dynamic models well enough for static code generators.</a:t>
            </a:r>
            <a:endParaRPr lang="en-US" sz="1300" dirty="0"/>
          </a:p>
          <a:p>
            <a:pPr indent="0" marL="0">
              <a:spcAft>
                <a:spcPts val="900"/>
              </a:spcAft>
              <a:buNone/>
            </a:pPr>
            <a:r>
              <a:rPr lang="en-US" sz="1300" dirty="0">
                <a:solidFill>
                  <a:srgbClr val="33475B"/>
                </a:solidFill>
                <a:latin typeface="Calibri" pitchFamily="34" charset="0"/>
                <a:ea typeface="Calibri" pitchFamily="34" charset="-122"/>
                <a:cs typeface="Calibri" pitchFamily="34" charset="-120"/>
              </a:rPr>
              <a:t>So importers, MLIR frontends, code generators, verifiers and optimizers each reimplement parts of it…</a:t>
            </a:r>
            <a:endParaRPr lang="en-US" sz="1300" dirty="0"/>
          </a:p>
          <a:p>
            <a:pPr indent="0" marL="0">
              <a:spcAft>
                <a:spcPts val="900"/>
              </a:spcAft>
              <a:buNone/>
            </a:pPr>
            <a:r>
              <a:rPr lang="en-US" sz="1300" b="1" dirty="0">
                <a:solidFill>
                  <a:srgbClr val="B5503A"/>
                </a:solidFill>
                <a:latin typeface="Calibri" pitchFamily="34" charset="0"/>
                <a:ea typeface="Calibri" pitchFamily="34" charset="-122"/>
                <a:cs typeface="Calibri" pitchFamily="34" charset="-120"/>
              </a:rPr>
              <a:t>…and may produce different answers for the same model.</a:t>
            </a:r>
            <a:endParaRPr lang="en-US" sz="1300" dirty="0"/>
          </a:p>
          <a:p>
            <a:pPr indent="0" marL="0">
              <a:buNone/>
            </a:pPr>
            <a:r>
              <a:rPr lang="en-US" sz="1300" i="1" dirty="0">
                <a:solidFill>
                  <a:srgbClr val="33475B"/>
                </a:solidFill>
                <a:latin typeface="Calibri" pitchFamily="34" charset="0"/>
                <a:ea typeface="Calibri" pitchFamily="34" charset="-122"/>
                <a:cs typeface="Calibri" pitchFamily="34" charset="-120"/>
              </a:rPr>
              <a:t>Shape/type inference should be separable both from code generation and from a fixed operator universe.</a:t>
            </a:r>
            <a:endParaRPr lang="en-US" sz="1300" dirty="0"/>
          </a:p>
        </p:txBody>
      </p:sp>
      <p:sp>
        <p:nvSpPr>
          <p:cNvPr id="16" name="Text 1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7" name="Text 1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2 · VISION  (RESEARCH DIRECTION)</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A shared, extensible inference layer</a:t>
            </a:r>
            <a:endParaRPr lang="en-US" sz="2800" dirty="0"/>
          </a:p>
        </p:txBody>
      </p:sp>
      <p:sp>
        <p:nvSpPr>
          <p:cNvPr id="5" name="Shape 3"/>
          <p:cNvSpPr/>
          <p:nvPr/>
        </p:nvSpPr>
        <p:spPr>
          <a:xfrm>
            <a:off x="548640" y="1828800"/>
            <a:ext cx="3611880" cy="2240280"/>
          </a:xfrm>
          <a:prstGeom prst="roundRect">
            <a:avLst>
              <a:gd name="adj" fmla="val 326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77240" y="2029968"/>
            <a:ext cx="3154680" cy="411480"/>
          </a:xfrm>
          <a:prstGeom prst="rect">
            <a:avLst/>
          </a:prstGeom>
          <a:noFill/>
          <a:ln/>
        </p:spPr>
        <p:txBody>
          <a:bodyPr wrap="square" lIns="0" tIns="0" rIns="0" bIns="0" rtlCol="0" anchor="ctr"/>
          <a:lstStyle/>
          <a:p>
            <a:pPr indent="0" marL="0">
              <a:buNone/>
            </a:pPr>
            <a:r>
              <a:rPr lang="en-US" sz="1600" b="1" dirty="0">
                <a:solidFill>
                  <a:srgbClr val="0E7C77"/>
                </a:solidFill>
                <a:latin typeface="Calibri" pitchFamily="34" charset="0"/>
                <a:ea typeface="Calibri" pitchFamily="34" charset="-122"/>
                <a:cs typeface="Calibri" pitchFamily="34" charset="-120"/>
              </a:rPr>
              <a:t>Reusable</a:t>
            </a:r>
            <a:endParaRPr lang="en-US" sz="1600" dirty="0"/>
          </a:p>
        </p:txBody>
      </p:sp>
      <p:sp>
        <p:nvSpPr>
          <p:cNvPr id="7" name="Text 5"/>
          <p:cNvSpPr/>
          <p:nvPr/>
        </p:nvSpPr>
        <p:spPr>
          <a:xfrm>
            <a:off x="777240" y="2487168"/>
            <a:ext cx="3154680" cy="1463040"/>
          </a:xfrm>
          <a:prstGeom prst="rect">
            <a:avLst/>
          </a:prstGeom>
          <a:noFill/>
          <a:ln/>
        </p:spPr>
        <p:txBody>
          <a:bodyPr wrap="square" lIns="0" tIns="0" rIns="0" bIns="0" rtlCol="0" anchor="t"/>
          <a:lstStyle/>
          <a:p>
            <a:pPr indent="0" marL="0">
              <a:buNone/>
            </a:pPr>
            <a:r>
              <a:rPr lang="en-US" sz="1250" dirty="0">
                <a:solidFill>
                  <a:srgbClr val="33475B"/>
                </a:solidFill>
                <a:latin typeface="Calibri" pitchFamily="34" charset="0"/>
                <a:ea typeface="Calibri" pitchFamily="34" charset="-122"/>
                <a:cs typeface="Calibri" pitchFamily="34" charset="-120"/>
              </a:rPr>
              <a:t>A shared library that understands symbolic &amp; dynamic dims, preserves constraints, and reports unresolved facts explicitly</a:t>
            </a:r>
            <a:endParaRPr lang="en-US" sz="1250" dirty="0"/>
          </a:p>
        </p:txBody>
      </p:sp>
      <p:sp>
        <p:nvSpPr>
          <p:cNvPr id="8" name="Shape 6"/>
          <p:cNvSpPr/>
          <p:nvPr/>
        </p:nvSpPr>
        <p:spPr>
          <a:xfrm>
            <a:off x="4416552" y="1828800"/>
            <a:ext cx="3611880" cy="2240280"/>
          </a:xfrm>
          <a:prstGeom prst="roundRect">
            <a:avLst>
              <a:gd name="adj" fmla="val 326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4645152" y="2029968"/>
            <a:ext cx="3154680" cy="411480"/>
          </a:xfrm>
          <a:prstGeom prst="rect">
            <a:avLst/>
          </a:prstGeom>
          <a:noFill/>
          <a:ln/>
        </p:spPr>
        <p:txBody>
          <a:bodyPr wrap="square" lIns="0" tIns="0" rIns="0" bIns="0" rtlCol="0" anchor="ctr"/>
          <a:lstStyle/>
          <a:p>
            <a:pPr indent="0" marL="0">
              <a:buNone/>
            </a:pPr>
            <a:r>
              <a:rPr lang="en-US" sz="1600" b="1" dirty="0">
                <a:solidFill>
                  <a:srgbClr val="0E7C77"/>
                </a:solidFill>
                <a:latin typeface="Calibri" pitchFamily="34" charset="0"/>
                <a:ea typeface="Calibri" pitchFamily="34" charset="-122"/>
                <a:cs typeface="Calibri" pitchFamily="34" charset="-120"/>
              </a:rPr>
              <a:t>Extensible</a:t>
            </a:r>
            <a:endParaRPr lang="en-US" sz="1600" dirty="0"/>
          </a:p>
        </p:txBody>
      </p:sp>
      <p:sp>
        <p:nvSpPr>
          <p:cNvPr id="10" name="Text 8"/>
          <p:cNvSpPr/>
          <p:nvPr/>
        </p:nvSpPr>
        <p:spPr>
          <a:xfrm>
            <a:off x="4645152" y="2487168"/>
            <a:ext cx="3154680" cy="1463040"/>
          </a:xfrm>
          <a:prstGeom prst="rect">
            <a:avLst/>
          </a:prstGeom>
          <a:noFill/>
          <a:ln/>
        </p:spPr>
        <p:txBody>
          <a:bodyPr wrap="square" lIns="0" tIns="0" rIns="0" bIns="0" rtlCol="0" anchor="t"/>
          <a:lstStyle/>
          <a:p>
            <a:pPr indent="0" marL="0">
              <a:buNone/>
            </a:pPr>
            <a:r>
              <a:rPr lang="en-US" sz="1250" dirty="0">
                <a:solidFill>
                  <a:srgbClr val="33475B"/>
                </a:solidFill>
                <a:latin typeface="Calibri" pitchFamily="34" charset="0"/>
                <a:ea typeface="Calibri" pitchFamily="34" charset="-122"/>
                <a:cs typeface="Calibri" pitchFamily="34" charset="-120"/>
              </a:rPr>
              <a:t>A registry/plugin for external operator domains — e.g. Microsoft/ORT contrib ops, not just ONNX core</a:t>
            </a:r>
            <a:endParaRPr lang="en-US" sz="1250" dirty="0"/>
          </a:p>
        </p:txBody>
      </p:sp>
      <p:sp>
        <p:nvSpPr>
          <p:cNvPr id="11" name="Shape 9"/>
          <p:cNvSpPr/>
          <p:nvPr/>
        </p:nvSpPr>
        <p:spPr>
          <a:xfrm>
            <a:off x="8284464" y="1828800"/>
            <a:ext cx="3611880" cy="2240280"/>
          </a:xfrm>
          <a:prstGeom prst="roundRect">
            <a:avLst>
              <a:gd name="adj" fmla="val 326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2" name="Text 10"/>
          <p:cNvSpPr/>
          <p:nvPr/>
        </p:nvSpPr>
        <p:spPr>
          <a:xfrm>
            <a:off x="8513064" y="2029968"/>
            <a:ext cx="3154680" cy="411480"/>
          </a:xfrm>
          <a:prstGeom prst="rect">
            <a:avLst/>
          </a:prstGeom>
          <a:noFill/>
          <a:ln/>
        </p:spPr>
        <p:txBody>
          <a:bodyPr wrap="square" lIns="0" tIns="0" rIns="0" bIns="0" rtlCol="0" anchor="ctr"/>
          <a:lstStyle/>
          <a:p>
            <a:pPr indent="0" marL="0">
              <a:buNone/>
            </a:pPr>
            <a:r>
              <a:rPr lang="en-US" sz="1600" b="1" dirty="0">
                <a:solidFill>
                  <a:srgbClr val="0E7C77"/>
                </a:solidFill>
                <a:latin typeface="Calibri" pitchFamily="34" charset="0"/>
                <a:ea typeface="Calibri" pitchFamily="34" charset="-122"/>
                <a:cs typeface="Calibri" pitchFamily="34" charset="-120"/>
              </a:rPr>
              <a:t>Persistable</a:t>
            </a:r>
            <a:endParaRPr lang="en-US" sz="1600" dirty="0"/>
          </a:p>
        </p:txBody>
      </p:sp>
      <p:sp>
        <p:nvSpPr>
          <p:cNvPr id="13" name="Text 11"/>
          <p:cNvSpPr/>
          <p:nvPr/>
        </p:nvSpPr>
        <p:spPr>
          <a:xfrm>
            <a:off x="8513064" y="2487168"/>
            <a:ext cx="3154680" cy="1463040"/>
          </a:xfrm>
          <a:prstGeom prst="rect">
            <a:avLst/>
          </a:prstGeom>
          <a:noFill/>
          <a:ln/>
        </p:spPr>
        <p:txBody>
          <a:bodyPr wrap="square" lIns="0" tIns="0" rIns="0" bIns="0" rtlCol="0" anchor="t"/>
          <a:lstStyle/>
          <a:p>
            <a:pPr indent="0" marL="0">
              <a:buNone/>
            </a:pPr>
            <a:r>
              <a:rPr lang="en-US" sz="1250" dirty="0">
                <a:solidFill>
                  <a:srgbClr val="33475B"/>
                </a:solidFill>
                <a:latin typeface="Calibri" pitchFamily="34" charset="0"/>
                <a:ea typeface="Calibri" pitchFamily="34" charset="-122"/>
                <a:cs typeface="Calibri" pitchFamily="34" charset="-120"/>
              </a:rPr>
              <a:t>Write inferred results back into the model (enriched value_info / metadata) so backends consume, not recompute</a:t>
            </a:r>
            <a:endParaRPr lang="en-US" sz="1250" dirty="0"/>
          </a:p>
        </p:txBody>
      </p:sp>
      <p:sp>
        <p:nvSpPr>
          <p:cNvPr id="14" name="Shape 12"/>
          <p:cNvSpPr/>
          <p:nvPr/>
        </p:nvSpPr>
        <p:spPr>
          <a:xfrm>
            <a:off x="548640" y="4297680"/>
            <a:ext cx="11064240" cy="1828800"/>
          </a:xfrm>
          <a:prstGeom prst="roundRect">
            <a:avLst>
              <a:gd name="adj" fmla="val 3500"/>
            </a:avLst>
          </a:prstGeom>
          <a:solidFill>
            <a:srgbClr val="0E2A47"/>
          </a:solidFill>
          <a:ln/>
        </p:spPr>
      </p:sp>
      <p:sp>
        <p:nvSpPr>
          <p:cNvPr id="15" name="Text 13"/>
          <p:cNvSpPr/>
          <p:nvPr/>
        </p:nvSpPr>
        <p:spPr>
          <a:xfrm>
            <a:off x="822960" y="4434840"/>
            <a:ext cx="1051560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ONE DSL  </a:t>
            </a:r>
            <a:pPr indent="0" marL="0">
              <a:buNone/>
            </a:pPr>
            <a:r>
              <a:rPr lang="en-US" sz="1500" b="1" dirty="0">
                <a:solidFill>
                  <a:srgbClr val="FFFFFF"/>
                </a:solidFill>
                <a:latin typeface="Calibri" pitchFamily="34" charset="0"/>
                <a:ea typeface="Calibri" pitchFamily="34" charset="-122"/>
                <a:cs typeface="Calibri" pitchFamily="34" charset="-120"/>
              </a:rPr>
              <a:t>→ shape/type rules written once</a:t>
            </a:r>
            <a:endParaRPr lang="en-US" sz="1500" dirty="0"/>
          </a:p>
        </p:txBody>
      </p:sp>
      <p:sp>
        <p:nvSpPr>
          <p:cNvPr id="16" name="Text 14"/>
          <p:cNvSpPr/>
          <p:nvPr/>
        </p:nvSpPr>
        <p:spPr>
          <a:xfrm>
            <a:off x="822960" y="4846320"/>
            <a:ext cx="1051560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CFE0EC"/>
                </a:solidFill>
                <a:latin typeface="Calibri" pitchFamily="34" charset="0"/>
                <a:ea typeface="Calibri" pitchFamily="34" charset="-122"/>
                <a:cs typeface="Calibri" pitchFamily="34" charset="-120"/>
              </a:rPr>
              <a:t>Drives both C++ and Python inference</a:t>
            </a:r>
            <a:endParaRPr lang="en-US" sz="1250" dirty="0"/>
          </a:p>
          <a:p>
            <a:pPr marL="342900" indent="-342900">
              <a:spcAft>
                <a:spcPts val="600"/>
              </a:spcAft>
              <a:buSzPct val="100000"/>
              <a:buChar char="•"/>
            </a:pPr>
            <a:r>
              <a:rPr lang="en-US" sz="1250" dirty="0">
                <a:solidFill>
                  <a:srgbClr val="CFE0EC"/>
                </a:solidFill>
                <a:latin typeface="Calibri" pitchFamily="34" charset="0"/>
                <a:ea typeface="Calibri" pitchFamily="34" charset="-122"/>
                <a:cs typeface="Calibri" pitchFamily="34" charset="-120"/>
              </a:rPr>
              <a:t>Numeric evaluation for concrete dims; symbolic evaluation (e.g. SymPy) for symbolic dims</a:t>
            </a:r>
            <a:endParaRPr lang="en-US" sz="1250" dirty="0"/>
          </a:p>
          <a:p>
            <a:pPr marL="342900" indent="-342900">
              <a:buSzPct val="100000"/>
              <a:buChar char="•"/>
            </a:pPr>
            <a:r>
              <a:rPr lang="en-US" sz="1250" dirty="0">
                <a:solidFill>
                  <a:srgbClr val="CFE0EC"/>
                </a:solidFill>
                <a:latin typeface="Calibri" pitchFamily="34" charset="0"/>
                <a:ea typeface="Calibri" pitchFamily="34" charset="-122"/>
                <a:cs typeface="Calibri" pitchFamily="34" charset="-120"/>
              </a:rPr>
              <a:t>Custom operators ship their own rule instead of every backend hard-coding it — could even live inside ONNX models</a:t>
            </a:r>
            <a:endParaRPr lang="en-US" sz="1250" dirty="0"/>
          </a:p>
        </p:txBody>
      </p:sp>
      <p:sp>
        <p:nvSpPr>
          <p:cNvPr id="17"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8" name="Text 16"/>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3</a:t>
            </a:r>
            <a:endParaRPr lang="en-US" sz="1200" dirty="0"/>
          </a:p>
        </p:txBody>
      </p:sp>
      <p:sp>
        <p:nvSpPr>
          <p:cNvPr id="4" name="Shape 2"/>
          <p:cNvSpPr/>
          <p:nvPr/>
        </p:nvSpPr>
        <p:spPr>
          <a:xfrm>
            <a:off x="548640" y="749808"/>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5" name="Text 3"/>
          <p:cNvSpPr/>
          <p:nvPr/>
        </p:nvSpPr>
        <p:spPr>
          <a:xfrm>
            <a:off x="548640" y="7498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6" name="Text 4"/>
          <p:cNvSpPr/>
          <p:nvPr/>
        </p:nvSpPr>
        <p:spPr>
          <a:xfrm>
            <a:off x="1298448" y="749808"/>
            <a:ext cx="10332720" cy="603504"/>
          </a:xfrm>
          <a:prstGeom prst="rect">
            <a:avLst/>
          </a:prstGeom>
          <a:noFill/>
          <a:ln/>
        </p:spPr>
        <p:txBody>
          <a:bodyPr wrap="square" lIns="0" tIns="0" rIns="0" bIns="0" rtlCol="0" anchor="ctr"/>
          <a:lstStyle/>
          <a:p>
            <a:pPr indent="0" marL="0">
              <a:buNone/>
            </a:pPr>
            <a:r>
              <a:rPr lang="en-US" sz="2700" b="1" dirty="0">
                <a:solidFill>
                  <a:srgbClr val="0E2A47"/>
                </a:solidFill>
                <a:latin typeface="Cambria" pitchFamily="34" charset="0"/>
                <a:ea typeface="Cambria" pitchFamily="34" charset="-122"/>
                <a:cs typeface="Cambria" pitchFamily="34" charset="-120"/>
              </a:rPr>
              <a:t>Numerical accuracy is underspecified</a:t>
            </a:r>
            <a:endParaRPr lang="en-US" sz="2700" dirty="0"/>
          </a:p>
        </p:txBody>
      </p:sp>
      <p:sp>
        <p:nvSpPr>
          <p:cNvPr id="7" name="Shape 5"/>
          <p:cNvSpPr/>
          <p:nvPr/>
        </p:nvSpPr>
        <p:spPr>
          <a:xfrm>
            <a:off x="548640" y="1783080"/>
            <a:ext cx="5486400" cy="2606040"/>
          </a:xfrm>
          <a:prstGeom prst="roundRect">
            <a:avLst>
              <a:gd name="adj" fmla="val 2456"/>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8" name="Text 6"/>
          <p:cNvSpPr/>
          <p:nvPr/>
        </p:nvSpPr>
        <p:spPr>
          <a:xfrm>
            <a:off x="786384" y="19659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Sources of ambiguity</a:t>
            </a:r>
            <a:endParaRPr lang="en-US" sz="1500" dirty="0"/>
          </a:p>
        </p:txBody>
      </p:sp>
      <p:sp>
        <p:nvSpPr>
          <p:cNvPr id="9" name="Text 7"/>
          <p:cNvSpPr/>
          <p:nvPr/>
        </p:nvSpPr>
        <p:spPr>
          <a:xfrm>
            <a:off x="786384" y="2404872"/>
            <a:ext cx="5047488" cy="181965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Official tests give examples, not full accuracy contracts</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Accumulation precision, rounding, approximations</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Math-library &amp; implementation-defined edge cases</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ONNX Runtime vs ONNX Reference behaviour differ</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node tests carry no per-operator tolerance (data.json = real models)</a:t>
            </a:r>
            <a:endParaRPr lang="en-US" sz="1250" dirty="0"/>
          </a:p>
        </p:txBody>
      </p:sp>
      <p:sp>
        <p:nvSpPr>
          <p:cNvPr id="10" name="Shape 8"/>
          <p:cNvSpPr/>
          <p:nvPr/>
        </p:nvSpPr>
        <p:spPr>
          <a:xfrm>
            <a:off x="548640" y="4526280"/>
            <a:ext cx="5486400" cy="1600200"/>
          </a:xfrm>
          <a:prstGeom prst="roundRect">
            <a:avLst>
              <a:gd name="adj" fmla="val 400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1" name="Text 9"/>
          <p:cNvSpPr/>
          <p:nvPr/>
        </p:nvSpPr>
        <p:spPr>
          <a:xfrm>
            <a:off x="786384" y="47091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ONNX backend default check</a:t>
            </a:r>
            <a:endParaRPr lang="en-US" sz="1500" dirty="0"/>
          </a:p>
        </p:txBody>
      </p:sp>
      <p:sp>
        <p:nvSpPr>
          <p:cNvPr id="12" name="Text 10"/>
          <p:cNvSpPr/>
          <p:nvPr/>
        </p:nvSpPr>
        <p:spPr>
          <a:xfrm>
            <a:off x="786384" y="5148072"/>
            <a:ext cx="5047488" cy="81381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rtol = 1e-3, atol = 1e-7, overridable per real-model test</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abs(actual − expected) ≤ atol + rtol·|expected|</a:t>
            </a:r>
            <a:endParaRPr lang="en-US" sz="1250" dirty="0"/>
          </a:p>
        </p:txBody>
      </p:sp>
      <p:sp>
        <p:nvSpPr>
          <p:cNvPr id="13" name="Shape 11"/>
          <p:cNvSpPr/>
          <p:nvPr/>
        </p:nvSpPr>
        <p:spPr>
          <a:xfrm>
            <a:off x="6217920" y="1783080"/>
            <a:ext cx="5394960" cy="4343400"/>
          </a:xfrm>
          <a:prstGeom prst="roundRect">
            <a:avLst>
              <a:gd name="adj" fmla="val 1684"/>
            </a:avLst>
          </a:prstGeom>
          <a:solidFill>
            <a:srgbClr val="0E2A47"/>
          </a:solidFill>
          <a:ln/>
          <a:effectLst>
            <a:outerShdw sx="100000" sy="100000" kx="0" ky="0" algn="bl" rotWithShape="0" blurRad="114300" dist="38100" dir="5400000">
              <a:srgbClr val="0A1F38">
                <a:alpha val="12000"/>
              </a:srgbClr>
            </a:outerShdw>
          </a:effectLst>
        </p:spPr>
      </p:sp>
      <p:sp>
        <p:nvSpPr>
          <p:cNvPr id="14" name="Text 12"/>
          <p:cNvSpPr/>
          <p:nvPr/>
        </p:nvSpPr>
        <p:spPr>
          <a:xfrm>
            <a:off x="6446520" y="1920240"/>
            <a:ext cx="4937760" cy="365760"/>
          </a:xfrm>
          <a:prstGeom prst="rect">
            <a:avLst/>
          </a:prstGeom>
          <a:noFill/>
          <a:ln/>
        </p:spPr>
        <p:txBody>
          <a:bodyPr wrap="square" lIns="0" tIns="0" rIns="0" bIns="0" rtlCol="0" anchor="ctr"/>
          <a:lstStyle/>
          <a:p>
            <a:pPr indent="0" marL="0">
              <a:buNone/>
            </a:pPr>
            <a:r>
              <a:rPr lang="en-US" sz="1450" b="1" dirty="0">
                <a:solidFill>
                  <a:srgbClr val="E8A13A"/>
                </a:solidFill>
                <a:latin typeface="Calibri" pitchFamily="34" charset="0"/>
                <a:ea typeface="Calibri" pitchFamily="34" charset="-122"/>
                <a:cs typeface="Calibri" pitchFamily="34" charset="-120"/>
              </a:rPr>
              <a:t>Why this matters to backend authors</a:t>
            </a:r>
            <a:endParaRPr lang="en-US" sz="1450" dirty="0"/>
          </a:p>
        </p:txBody>
      </p:sp>
      <p:sp>
        <p:nvSpPr>
          <p:cNvPr id="15" name="Text 13"/>
          <p:cNvSpPr/>
          <p:nvPr/>
        </p:nvSpPr>
        <p:spPr>
          <a:xfrm>
            <a:off x="6446520" y="2331720"/>
            <a:ext cx="4983480" cy="3657600"/>
          </a:xfrm>
          <a:prstGeom prst="rect">
            <a:avLst/>
          </a:prstGeom>
          <a:noFill/>
          <a:ln/>
        </p:spPr>
        <p:txBody>
          <a:bodyPr wrap="square" lIns="0" tIns="0" rIns="0" bIns="0" rtlCol="0" anchor="t"/>
          <a:lstStyle/>
          <a:p>
            <a:pPr indent="0" marL="0">
              <a:spcAft>
                <a:spcPts val="1000"/>
              </a:spcAft>
              <a:buNone/>
            </a:pPr>
            <a:r>
              <a:rPr lang="en-US" sz="1350" dirty="0">
                <a:solidFill>
                  <a:srgbClr val="DCE8F0"/>
                </a:solidFill>
                <a:latin typeface="Calibri" pitchFamily="34" charset="0"/>
                <a:ea typeface="Calibri" pitchFamily="34" charset="-122"/>
                <a:cs typeface="Calibri" pitchFamily="34" charset="-120"/>
              </a:rPr>
              <a:t>Validation is an engineering policy unless the standard defines the contract.</a:t>
            </a:r>
            <a:endParaRPr lang="en-US" sz="1350" dirty="0"/>
          </a:p>
          <a:p>
            <a:pPr indent="0" marL="0">
              <a:spcAft>
                <a:spcPts val="1000"/>
              </a:spcAft>
              <a:buNone/>
            </a:pPr>
            <a:r>
              <a:rPr lang="en-US" sz="1350" dirty="0">
                <a:solidFill>
                  <a:srgbClr val="DCE8F0"/>
                </a:solidFill>
                <a:latin typeface="Calibri" pitchFamily="34" charset="0"/>
                <a:ea typeface="Calibri" pitchFamily="34" charset="-122"/>
                <a:cs typeface="Calibri" pitchFamily="34" charset="-120"/>
              </a:rPr>
              <a:t>A single fixed rtol/atol is not equally meaningful across dtypes — float16, float32 and float64 have very different spacing between representable values.</a:t>
            </a:r>
            <a:endParaRPr lang="en-US" sz="1350" dirty="0"/>
          </a:p>
          <a:p>
            <a:pPr indent="0" marL="0">
              <a:buNone/>
            </a:pPr>
            <a:r>
              <a:rPr lang="en-US" sz="1350" b="1" dirty="0">
                <a:solidFill>
                  <a:srgbClr val="FFFFFF"/>
                </a:solidFill>
                <a:latin typeface="Calibri" pitchFamily="34" charset="0"/>
                <a:ea typeface="Calibri" pitchFamily="34" charset="-122"/>
                <a:cs typeface="Calibri" pitchFamily="34" charset="-120"/>
              </a:rPr>
              <a:t>ULP-based measurement asks the real question: how many representable floating-point values apart are these results?</a:t>
            </a:r>
            <a:endParaRPr lang="en-US" sz="1350" dirty="0"/>
          </a:p>
        </p:txBody>
      </p:sp>
      <p:sp>
        <p:nvSpPr>
          <p:cNvPr id="16" name="Text 1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7" name="Text 1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3 · LANDSCAPE</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Everyone picks a different tolerance policy</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651760"/>
                <a:gridCol w="2560320"/>
                <a:gridCol w="5852160"/>
              </a:tblGrid>
              <a:tr h="502920">
                <a:tc>
                  <a:txBody>
                    <a:bodyPr/>
                    <a:lstStyle/>
                    <a:p>
                      <a:pPr algn="l" indent="0" marL="0">
                        <a:buNone/>
                      </a:pPr>
                      <a:r>
                        <a:rPr lang="en-US" sz="1200" b="1" dirty="0">
                          <a:solidFill>
                            <a:srgbClr val="FFFFFF"/>
                          </a:solidFill>
                        </a:rPr>
                        <a:t>Framework / tool</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0E2A47"/>
                    </a:solidFill>
                  </a:tcPr>
                </a:tc>
                <a:tc>
                  <a:txBody>
                    <a:bodyPr/>
                    <a:lstStyle/>
                    <a:p>
                      <a:pPr algn="l" indent="0" marL="0">
                        <a:buNone/>
                      </a:pPr>
                      <a:r>
                        <a:rPr lang="en-US" sz="1200" b="1" dirty="0">
                          <a:solidFill>
                            <a:srgbClr val="FFFFFF"/>
                          </a:solidFill>
                        </a:rPr>
                        <a:t>Mechanism</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0E2A47"/>
                    </a:solidFill>
                  </a:tcPr>
                </a:tc>
                <a:tc>
                  <a:txBody>
                    <a:bodyPr/>
                    <a:lstStyle/>
                    <a:p>
                      <a:pPr algn="l" indent="0" marL="0">
                        <a:buNone/>
                      </a:pPr>
                      <a:r>
                        <a:rPr lang="en-US" sz="1200" b="1" dirty="0">
                          <a:solidFill>
                            <a:srgbClr val="FFFFFF"/>
                          </a:solidFill>
                        </a:rPr>
                        <a:t>Notable point</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0E2A47"/>
                    </a:solidFill>
                  </a:tcPr>
                </a:tc>
              </a:tr>
              <a:tr h="502920">
                <a:tc>
                  <a:txBody>
                    <a:bodyPr/>
                    <a:lstStyle/>
                    <a:p>
                      <a:pPr algn="l" indent="0" marL="0">
                        <a:buNone/>
                      </a:pPr>
                      <a:r>
                        <a:rPr lang="en-US" sz="1200" b="1" dirty="0">
                          <a:solidFill>
                            <a:srgbClr val="0E2A47"/>
                          </a:solidFill>
                          <a:latin typeface="Calibri" pitchFamily="34" charset="0"/>
                          <a:ea typeface="Calibri" pitchFamily="34" charset="-122"/>
                          <a:cs typeface="Calibri" pitchFamily="34" charset="-120"/>
                        </a:rPr>
                        <a:t>ONNX backend</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100" dirty="0">
                          <a:solidFill>
                            <a:srgbClr val="33475B"/>
                          </a:solidFill>
                          <a:latin typeface="Consolas" pitchFamily="34" charset="0"/>
                          <a:ea typeface="Consolas" pitchFamily="34" charset="-122"/>
                          <a:cs typeface="Consolas" pitchFamily="34" charset="-120"/>
                        </a:rPr>
                        <a:t>assert_allclose</a:t>
                      </a:r>
                      <a:endParaRPr lang="en-US" sz="11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latin typeface="Calibri" pitchFamily="34" charset="0"/>
                          <a:ea typeface="Calibri" pitchFamily="34" charset="-122"/>
                          <a:cs typeface="Calibri" pitchFamily="34" charset="-120"/>
                        </a:rPr>
                        <a:t>rtol 1e-3, atol 1e-7; data.json only for real models</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r>
              <a:tr h="502920">
                <a:tc>
                  <a:txBody>
                    <a:bodyPr/>
                    <a:lstStyle/>
                    <a:p>
                      <a:pPr algn="l" indent="0" marL="0">
                        <a:buNone/>
                      </a:pPr>
                      <a:r>
                        <a:rPr lang="en-US" sz="1200" b="1" dirty="0">
                          <a:solidFill>
                            <a:srgbClr val="0E2A47"/>
                          </a:solidFill>
                          <a:latin typeface="Calibri" pitchFamily="34" charset="0"/>
                          <a:ea typeface="Calibri" pitchFamily="34" charset="-122"/>
                          <a:cs typeface="Calibri" pitchFamily="34" charset="-120"/>
                        </a:rPr>
                        <a:t>ONNX Runtime</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75B"/>
                          </a:solidFill>
                          <a:latin typeface="Consolas" pitchFamily="34" charset="0"/>
                          <a:ea typeface="Consolas" pitchFamily="34" charset="-122"/>
                          <a:cs typeface="Consolas" pitchFamily="34" charset="-120"/>
                        </a:rPr>
                        <a:t>per-sample tol</a:t>
                      </a:r>
                      <a:endParaRPr lang="en-US" sz="11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5B"/>
                          </a:solidFill>
                          <a:latin typeface="Calibri" pitchFamily="34" charset="0"/>
                          <a:ea typeface="Calibri" pitchFamily="34" charset="-122"/>
                          <a:cs typeface="Calibri" pitchFamily="34" charset="-120"/>
                        </a:rPr>
                        <a:t>1e-3 defaults; override via config.txt</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E2A47"/>
                          </a:solidFill>
                          <a:latin typeface="Calibri" pitchFamily="34" charset="0"/>
                          <a:ea typeface="Calibri" pitchFamily="34" charset="-122"/>
                          <a:cs typeface="Calibri" pitchFamily="34" charset="-120"/>
                        </a:rPr>
                        <a:t>PyTorch</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100" dirty="0">
                          <a:solidFill>
                            <a:srgbClr val="33475B"/>
                          </a:solidFill>
                          <a:latin typeface="Consolas" pitchFamily="34" charset="0"/>
                          <a:ea typeface="Consolas" pitchFamily="34" charset="-122"/>
                          <a:cs typeface="Consolas" pitchFamily="34" charset="-120"/>
                        </a:rPr>
                        <a:t>assert_close</a:t>
                      </a:r>
                      <a:endParaRPr lang="en-US" sz="11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latin typeface="Calibri" pitchFamily="34" charset="0"/>
                          <a:ea typeface="Calibri" pitchFamily="34" charset="-122"/>
                          <a:cs typeface="Calibri" pitchFamily="34" charset="-120"/>
                        </a:rPr>
                        <a:t>dtype-dependent defaults (fp16/bf16/fp32/fp64)</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r>
              <a:tr h="502920">
                <a:tc>
                  <a:txBody>
                    <a:bodyPr/>
                    <a:lstStyle/>
                    <a:p>
                      <a:pPr algn="l" indent="0" marL="0">
                        <a:buNone/>
                      </a:pPr>
                      <a:r>
                        <a:rPr lang="en-US" sz="1200" b="1" dirty="0">
                          <a:solidFill>
                            <a:srgbClr val="0E2A47"/>
                          </a:solidFill>
                          <a:latin typeface="Calibri" pitchFamily="34" charset="0"/>
                          <a:ea typeface="Calibri" pitchFamily="34" charset="-122"/>
                          <a:cs typeface="Calibri" pitchFamily="34" charset="-120"/>
                        </a:rPr>
                        <a:t>NumPy / JAX</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75B"/>
                          </a:solidFill>
                          <a:latin typeface="Consolas" pitchFamily="34" charset="0"/>
                          <a:ea typeface="Consolas" pitchFamily="34" charset="-122"/>
                          <a:cs typeface="Consolas" pitchFamily="34" charset="-120"/>
                        </a:rPr>
                        <a:t>allclose</a:t>
                      </a:r>
                      <a:endParaRPr lang="en-US" sz="11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5B"/>
                          </a:solidFill>
                          <a:latin typeface="Calibri" pitchFamily="34" charset="0"/>
                          <a:ea typeface="Calibri" pitchFamily="34" charset="-122"/>
                          <a:cs typeface="Calibri" pitchFamily="34" charset="-120"/>
                        </a:rPr>
                        <a:t>atol + rtol·|expected|; differing defaults</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E2A47"/>
                          </a:solidFill>
                          <a:latin typeface="Calibri" pitchFamily="34" charset="0"/>
                          <a:ea typeface="Calibri" pitchFamily="34" charset="-122"/>
                          <a:cs typeface="Calibri" pitchFamily="34" charset="-120"/>
                        </a:rPr>
                        <a:t>TensorFlow</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100" dirty="0">
                          <a:solidFill>
                            <a:srgbClr val="33475B"/>
                          </a:solidFill>
                          <a:latin typeface="Consolas" pitchFamily="34" charset="0"/>
                          <a:ea typeface="Consolas" pitchFamily="34" charset="-122"/>
                          <a:cs typeface="Consolas" pitchFamily="34" charset="-120"/>
                        </a:rPr>
                        <a:t>assertAllClose…</a:t>
                      </a:r>
                      <a:endParaRPr lang="en-US" sz="11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latin typeface="Calibri" pitchFamily="34" charset="0"/>
                          <a:ea typeface="Calibri" pitchFamily="34" charset="-122"/>
                          <a:cs typeface="Calibri" pitchFamily="34" charset="-120"/>
                        </a:rPr>
                        <a:t>dtype-aware: AllCloseAccordingToType</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r>
              <a:tr h="502920">
                <a:tc>
                  <a:txBody>
                    <a:bodyPr/>
                    <a:lstStyle/>
                    <a:p>
                      <a:pPr algn="l" indent="0" marL="0">
                        <a:buNone/>
                      </a:pPr>
                      <a:r>
                        <a:rPr lang="en-US" sz="1200" b="1" dirty="0">
                          <a:solidFill>
                            <a:srgbClr val="0E2A47"/>
                          </a:solidFill>
                          <a:latin typeface="Calibri" pitchFamily="34" charset="0"/>
                          <a:ea typeface="Calibri" pitchFamily="34" charset="-122"/>
                          <a:cs typeface="Calibri" pitchFamily="34" charset="-120"/>
                        </a:rPr>
                        <a:t>MXNet</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475B"/>
                          </a:solidFill>
                          <a:latin typeface="Consolas" pitchFamily="34" charset="0"/>
                          <a:ea typeface="Consolas" pitchFamily="34" charset="-122"/>
                          <a:cs typeface="Consolas" pitchFamily="34" charset="-120"/>
                        </a:rPr>
                        <a:t>assert_almost_equal</a:t>
                      </a:r>
                      <a:endParaRPr lang="en-US" sz="11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475B"/>
                          </a:solidFill>
                          <a:latin typeface="Calibri" pitchFamily="34" charset="0"/>
                          <a:ea typeface="Calibri" pitchFamily="34" charset="-122"/>
                          <a:cs typeface="Calibri" pitchFamily="34" charset="-120"/>
                        </a:rPr>
                        <a:t>equal if relative OR absolute check passes</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E2A47"/>
                          </a:solidFill>
                          <a:latin typeface="Calibri" pitchFamily="34" charset="0"/>
                          <a:ea typeface="Calibri" pitchFamily="34" charset="-122"/>
                          <a:cs typeface="Calibri" pitchFamily="34" charset="-120"/>
                        </a:rPr>
                        <a:t>NVIDIA Polygraphy</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100" dirty="0">
                          <a:solidFill>
                            <a:srgbClr val="33475B"/>
                          </a:solidFill>
                          <a:latin typeface="Consolas" pitchFamily="34" charset="0"/>
                          <a:ea typeface="Consolas" pitchFamily="34" charset="-122"/>
                          <a:cs typeface="Consolas" pitchFamily="34" charset="-120"/>
                        </a:rPr>
                        <a:t>comparator CLI</a:t>
                      </a:r>
                      <a:endParaRPr lang="en-US" sz="11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latin typeface="Calibri" pitchFamily="34" charset="0"/>
                          <a:ea typeface="Calibri" pitchFamily="34" charset="-122"/>
                          <a:cs typeface="Calibri" pitchFamily="34" charset="-120"/>
                        </a:rPr>
                        <a:t>per-output rtol/atol; FP32 too strict for FP16/INT8</a:t>
                      </a:r>
                      <a:endParaRPr lang="en-US" sz="1200" dirty="0">
                        <a:latin typeface="Calibri" charset="0"/>
                        <a:ea typeface="Calibri" charset="0"/>
                        <a:cs typeface="Calibri"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r>
            </a:tbl>
          </a:graphicData>
        </a:graphic>
      </p:graphicFrame>
      <p:sp>
        <p:nvSpPr>
          <p:cNvPr id="6" name="Text 3"/>
          <p:cNvSpPr/>
          <p:nvPr/>
        </p:nvSpPr>
        <p:spPr>
          <a:xfrm>
            <a:off x="548640" y="5989320"/>
            <a:ext cx="11064240" cy="457200"/>
          </a:xfrm>
          <a:prstGeom prst="rect">
            <a:avLst/>
          </a:prstGeom>
          <a:noFill/>
          <a:ln/>
        </p:spPr>
        <p:txBody>
          <a:bodyPr wrap="square" lIns="0" tIns="0" rIns="0" bIns="0" rtlCol="0" anchor="ctr"/>
          <a:lstStyle/>
          <a:p>
            <a:pPr indent="0" marL="0">
              <a:buNone/>
            </a:pPr>
            <a:r>
              <a:rPr lang="en-US" sz="1250" i="1" dirty="0">
                <a:solidFill>
                  <a:srgbClr val="6B7C8F"/>
                </a:solidFill>
                <a:latin typeface="Calibri" pitchFamily="34" charset="0"/>
                <a:ea typeface="Calibri" pitchFamily="34" charset="-122"/>
                <a:cs typeface="Calibri" pitchFamily="34" charset="-120"/>
              </a:rPr>
              <a:t>Across the ecosystem the comparison shape is similar (absolute + relative), but defaults and dtype-awareness vary widely — there is no single shared contract.</a:t>
            </a:r>
            <a:endParaRPr lang="en-US" sz="1250" dirty="0"/>
          </a:p>
        </p:txBody>
      </p:sp>
      <p:sp>
        <p:nvSpPr>
          <p:cNvPr id="7" name="Text 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8" name="Text 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3 · THE EMX APPROACH</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ULP-based, dtype-aware verification</a:t>
            </a:r>
            <a:endParaRPr lang="en-US" sz="2800" dirty="0"/>
          </a:p>
        </p:txBody>
      </p:sp>
      <p:sp>
        <p:nvSpPr>
          <p:cNvPr id="5" name="Shape 3"/>
          <p:cNvSpPr/>
          <p:nvPr/>
        </p:nvSpPr>
        <p:spPr>
          <a:xfrm>
            <a:off x="548640" y="1828800"/>
            <a:ext cx="5669280" cy="3383280"/>
          </a:xfrm>
          <a:prstGeom prst="roundRect">
            <a:avLst>
              <a:gd name="adj" fmla="val 1622"/>
            </a:avLst>
          </a:prstGeom>
          <a:solidFill>
            <a:srgbClr val="0C2138"/>
          </a:solidFill>
          <a:ln/>
          <a:effectLst>
            <a:outerShdw sx="100000" sy="100000" kx="0" ky="0" algn="bl" rotWithShape="0" blurRad="114300" dist="38100" dir="5400000">
              <a:srgbClr val="0A1F38">
                <a:alpha val="14000"/>
              </a:srgbClr>
            </a:outerShdw>
          </a:effectLst>
        </p:spPr>
      </p:sp>
      <p:sp>
        <p:nvSpPr>
          <p:cNvPr id="6" name="Text 4"/>
          <p:cNvSpPr/>
          <p:nvPr/>
        </p:nvSpPr>
        <p:spPr>
          <a:xfrm>
            <a:off x="731520" y="1901952"/>
            <a:ext cx="5303520" cy="274320"/>
          </a:xfrm>
          <a:prstGeom prst="rect">
            <a:avLst/>
          </a:prstGeom>
          <a:noFill/>
          <a:ln/>
        </p:spPr>
        <p:txBody>
          <a:bodyPr wrap="square" lIns="0" tIns="0" rIns="0" bIns="0" rtlCol="0" anchor="ctr"/>
          <a:lstStyle/>
          <a:p>
            <a:pPr indent="0" marL="0">
              <a:buNone/>
            </a:pPr>
            <a:r>
              <a:rPr lang="en-US" sz="1050" b="1" dirty="0">
                <a:solidFill>
                  <a:srgbClr val="7FA8C0"/>
                </a:solidFill>
                <a:latin typeface="Calibri" pitchFamily="34" charset="0"/>
                <a:ea typeface="Calibri" pitchFamily="34" charset="-122"/>
                <a:cs typeface="Calibri" pitchFamily="34" charset="-120"/>
              </a:rPr>
              <a:t>How emx-onnx-cgen compares outputs</a:t>
            </a:r>
            <a:endParaRPr lang="en-US" sz="1050" dirty="0"/>
          </a:p>
        </p:txBody>
      </p:sp>
      <p:sp>
        <p:nvSpPr>
          <p:cNvPr id="7" name="Text 5"/>
          <p:cNvSpPr/>
          <p:nvPr/>
        </p:nvSpPr>
        <p:spPr>
          <a:xfrm>
            <a:off x="731520" y="2212848"/>
            <a:ext cx="5303520" cy="2889504"/>
          </a:xfrm>
          <a:prstGeom prst="rect">
            <a:avLst/>
          </a:prstGeom>
          <a:noFill/>
          <a:ln/>
        </p:spPr>
        <p:txBody>
          <a:bodyPr wrap="square" lIns="0" tIns="0" rIns="0" bIns="0" rtlCol="0" anchor="t"/>
          <a:lstStyle/>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1. ignore tiny absolute differences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diff &lt;= atol_eps * eps(dtype)   -&gt;  ok</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2. else measure ULP distance          */</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ulp = ulp_distance(actual, expected)</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report max ulp;  ulp &lt;= max_ulp  -&gt;  ok</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non-floating outputs must match exactly */</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CLI:  --atol-eps  --max-ulp</a:t>
            </a:r>
            <a:endParaRPr lang="en-US" sz="1250" dirty="0"/>
          </a:p>
          <a:p>
            <a:pPr algn="l" indent="0" marL="0">
              <a:lnSpc>
                <a:spcPct val="105000"/>
              </a:lnSpc>
              <a:buNone/>
            </a:pPr>
            <a:r>
              <a:rPr lang="en-US" sz="1250" dirty="0">
                <a:solidFill>
                  <a:srgbClr val="D7E4EC"/>
                </a:solidFill>
                <a:latin typeface="Consolas" pitchFamily="34" charset="0"/>
                <a:ea typeface="Consolas" pitchFamily="34" charset="-122"/>
                <a:cs typeface="Consolas" pitchFamily="34" charset="-120"/>
              </a:rPr>
              <a:t>      --fp32-accumulation-strategy fp64</a:t>
            </a:r>
            <a:endParaRPr lang="en-US" sz="1250" dirty="0"/>
          </a:p>
        </p:txBody>
      </p:sp>
      <p:sp>
        <p:nvSpPr>
          <p:cNvPr id="8" name="Shape 6"/>
          <p:cNvSpPr/>
          <p:nvPr/>
        </p:nvSpPr>
        <p:spPr>
          <a:xfrm>
            <a:off x="6492240" y="1828800"/>
            <a:ext cx="5120640" cy="1783080"/>
          </a:xfrm>
          <a:prstGeom prst="roundRect">
            <a:avLst>
              <a:gd name="adj" fmla="val 3590"/>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6729984" y="2011680"/>
            <a:ext cx="468172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Why ULP, not fixed rtol/atol</a:t>
            </a:r>
            <a:endParaRPr lang="en-US" sz="1500" dirty="0"/>
          </a:p>
        </p:txBody>
      </p:sp>
      <p:sp>
        <p:nvSpPr>
          <p:cNvPr id="10" name="Text 8"/>
          <p:cNvSpPr/>
          <p:nvPr/>
        </p:nvSpPr>
        <p:spPr>
          <a:xfrm>
            <a:off x="6729984" y="2450592"/>
            <a:ext cx="4681728" cy="99669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fp16 / fp32 / fp64 spacing differs enormously</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ULP = how many representable values apart</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Closer to the question that actually matters</a:t>
            </a:r>
            <a:endParaRPr lang="en-US" sz="1250" dirty="0"/>
          </a:p>
        </p:txBody>
      </p:sp>
      <p:sp>
        <p:nvSpPr>
          <p:cNvPr id="11" name="Shape 9"/>
          <p:cNvSpPr/>
          <p:nvPr/>
        </p:nvSpPr>
        <p:spPr>
          <a:xfrm>
            <a:off x="6492240" y="3749040"/>
            <a:ext cx="5120640" cy="1463040"/>
          </a:xfrm>
          <a:prstGeom prst="roundRect">
            <a:avLst>
              <a:gd name="adj" fmla="val 5000"/>
            </a:avLst>
          </a:prstGeom>
          <a:solidFill>
            <a:srgbClr val="0E2A47"/>
          </a:solidFill>
          <a:ln/>
        </p:spPr>
      </p:sp>
      <p:sp>
        <p:nvSpPr>
          <p:cNvPr id="12" name="Text 10"/>
          <p:cNvSpPr/>
          <p:nvPr/>
        </p:nvSpPr>
        <p:spPr>
          <a:xfrm>
            <a:off x="6720840" y="3858768"/>
            <a:ext cx="4663440" cy="365760"/>
          </a:xfrm>
          <a:prstGeom prst="rect">
            <a:avLst/>
          </a:prstGeom>
          <a:noFill/>
          <a:ln/>
        </p:spPr>
        <p:txBody>
          <a:bodyPr wrap="square" lIns="0" tIns="0" rIns="0" bIns="0" rtlCol="0" anchor="ctr"/>
          <a:lstStyle/>
          <a:p>
            <a:pPr indent="0" marL="0">
              <a:buNone/>
            </a:pPr>
            <a:r>
              <a:rPr lang="en-US" sz="1350" b="1" dirty="0">
                <a:solidFill>
                  <a:srgbClr val="E8A13A"/>
                </a:solidFill>
                <a:latin typeface="Calibri" pitchFamily="34" charset="0"/>
                <a:ea typeface="Calibri" pitchFamily="34" charset="-122"/>
                <a:cs typeface="Calibri" pitchFamily="34" charset="-120"/>
              </a:rPr>
              <a:t>Consequence in practice</a:t>
            </a:r>
            <a:endParaRPr lang="en-US" sz="1350" dirty="0"/>
          </a:p>
        </p:txBody>
      </p:sp>
      <p:sp>
        <p:nvSpPr>
          <p:cNvPr id="13" name="Text 11"/>
          <p:cNvSpPr/>
          <p:nvPr/>
        </p:nvSpPr>
        <p:spPr>
          <a:xfrm>
            <a:off x="6720840" y="4224528"/>
            <a:ext cx="4663440" cy="960120"/>
          </a:xfrm>
          <a:prstGeom prst="rect">
            <a:avLst/>
          </a:prstGeom>
          <a:noFill/>
          <a:ln/>
        </p:spPr>
        <p:txBody>
          <a:bodyPr wrap="square" lIns="0" tIns="0" rIns="0" bIns="0" rtlCol="0" anchor="t"/>
          <a:lstStyle/>
          <a:p>
            <a:pPr indent="0" marL="0">
              <a:buNone/>
            </a:pPr>
            <a:r>
              <a:rPr lang="en-US" sz="1200" dirty="0">
                <a:solidFill>
                  <a:srgbClr val="CFE0EC"/>
                </a:solidFill>
                <a:latin typeface="Calibri" pitchFamily="34" charset="0"/>
                <a:ea typeface="Calibri" pitchFamily="34" charset="-122"/>
                <a:cs typeface="Calibri" pitchFamily="34" charset="-120"/>
              </a:rPr>
              <a:t>Some ONNX reference outputs appear computed at very high precision. Under strict ULP checks, this required 64-bit accumulation for selected official tests — exposed as --fp32-accumulation-strategy fp64.</a:t>
            </a:r>
            <a:endParaRPr lang="en-US" sz="1200" dirty="0"/>
          </a:p>
        </p:txBody>
      </p:sp>
      <p:sp>
        <p:nvSpPr>
          <p:cNvPr id="14" name="Text 12"/>
          <p:cNvSpPr/>
          <p:nvPr/>
        </p:nvSpPr>
        <p:spPr>
          <a:xfrm>
            <a:off x="548640" y="5440680"/>
            <a:ext cx="5669280" cy="640080"/>
          </a:xfrm>
          <a:prstGeom prst="rect">
            <a:avLst/>
          </a:prstGeom>
          <a:noFill/>
          <a:ln/>
        </p:spPr>
        <p:txBody>
          <a:bodyPr wrap="square" lIns="0" tIns="0" rIns="0" bIns="0" rtlCol="0" anchor="t"/>
          <a:lstStyle/>
          <a:p>
            <a:pPr indent="0" marL="0">
              <a:buNone/>
            </a:pPr>
            <a:r>
              <a:rPr lang="en-US" sz="1200" i="1" dirty="0">
                <a:solidFill>
                  <a:srgbClr val="6B7C8F"/>
                </a:solidFill>
                <a:latin typeface="Calibri" pitchFamily="34" charset="0"/>
                <a:ea typeface="Calibri" pitchFamily="34" charset="-122"/>
                <a:cs typeface="Calibri" pitchFamily="34" charset="-120"/>
              </a:rPr>
              <a:t>emx ignores absolute diffs up to atol_eps·eps(dtype), then measures ULP distance — exact match required for non-float outputs.</a:t>
            </a:r>
            <a:endParaRPr lang="en-US" sz="1200" dirty="0"/>
          </a:p>
        </p:txBody>
      </p:sp>
      <p:sp>
        <p:nvSpPr>
          <p:cNvPr id="15" name="Text 13"/>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6" name="Text 14"/>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 DTYPE MAPPING</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ONNX dtype mapping is uneven in C</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743200"/>
                <a:gridCol w="2926080"/>
                <a:gridCol w="5394960"/>
              </a:tblGrid>
              <a:tr h="548640">
                <a:tc>
                  <a:txBody>
                    <a:bodyPr/>
                    <a:lstStyle/>
                    <a:p>
                      <a:pPr algn="l" indent="0" marL="0">
                        <a:buNone/>
                      </a:pPr>
                      <a:r>
                        <a:rPr lang="en-US" sz="1200" b="1" dirty="0">
                          <a:solidFill>
                            <a:srgbClr val="FFFFFF"/>
                          </a:solidFill>
                        </a:rPr>
                        <a:t>ONNX type</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0E2A47"/>
                    </a:solidFill>
                  </a:tcPr>
                </a:tc>
                <a:tc>
                  <a:txBody>
                    <a:bodyPr/>
                    <a:lstStyle/>
                    <a:p>
                      <a:pPr algn="l" indent="0" marL="0">
                        <a:buNone/>
                      </a:pPr>
                      <a:r>
                        <a:rPr lang="en-US" sz="1200" b="1" dirty="0">
                          <a:solidFill>
                            <a:srgbClr val="FFFFFF"/>
                          </a:solidFill>
                        </a:rPr>
                        <a:t>C representation</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0E2A47"/>
                    </a:solidFill>
                  </a:tcPr>
                </a:tc>
                <a:tc>
                  <a:txBody>
                    <a:bodyPr/>
                    <a:lstStyle/>
                    <a:p>
                      <a:pPr algn="l" indent="0" marL="0">
                        <a:buNone/>
                      </a:pPr>
                      <a:r>
                        <a:rPr lang="en-US" sz="1200" b="1" dirty="0">
                          <a:solidFill>
                            <a:srgbClr val="FFFFFF"/>
                          </a:solidFill>
                        </a:rPr>
                        <a:t>Note</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0E2A47"/>
                    </a:solidFill>
                  </a:tcPr>
                </a:tc>
              </a:tr>
              <a:tr h="548640">
                <a:tc>
                  <a:txBody>
                    <a:bodyPr/>
                    <a:lstStyle/>
                    <a:p>
                      <a:pPr algn="l" indent="0" marL="0">
                        <a:buNone/>
                      </a:pPr>
                      <a:r>
                        <a:rPr lang="en-US" sz="1200" b="1" dirty="0">
                          <a:solidFill>
                            <a:srgbClr val="0E2A47"/>
                          </a:solidFill>
                          <a:latin typeface="Consolas" pitchFamily="34" charset="0"/>
                          <a:ea typeface="Consolas" pitchFamily="34" charset="-122"/>
                          <a:cs typeface="Consolas" pitchFamily="34" charset="-120"/>
                        </a:rPr>
                        <a:t>int / uint, bool</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EAF5F3"/>
                    </a:solidFill>
                  </a:tcPr>
                </a:tc>
                <a:tc>
                  <a:txBody>
                    <a:bodyPr/>
                    <a:lstStyle/>
                    <a:p>
                      <a:pPr algn="l" indent="0" marL="0">
                        <a:buNone/>
                      </a:pPr>
                      <a:r>
                        <a:rPr lang="en-US" sz="1200" dirty="0">
                          <a:solidFill>
                            <a:srgbClr val="33475B"/>
                          </a:solidFill>
                          <a:latin typeface="Consolas" pitchFamily="34" charset="0"/>
                          <a:ea typeface="Consolas" pitchFamily="34" charset="-122"/>
                          <a:cs typeface="Consolas" pitchFamily="34" charset="-120"/>
                        </a:rPr>
                        <a:t>fixed-width ints, _Bool</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EAF5F3"/>
                    </a:solidFill>
                  </a:tcPr>
                </a:tc>
                <a:tc>
                  <a:txBody>
                    <a:bodyPr/>
                    <a:lstStyle/>
                    <a:p>
                      <a:pPr algn="l" indent="0" marL="0">
                        <a:buNone/>
                      </a:pPr>
                      <a:r>
                        <a:rPr lang="en-US" sz="1200" dirty="0">
                          <a:solidFill>
                            <a:srgbClr val="33475B"/>
                          </a:solidFill>
                        </a:rPr>
                        <a:t>boring in a good way</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EAF5F3"/>
                    </a:solidFill>
                  </a:tcPr>
                </a:tc>
              </a:tr>
              <a:tr h="548640">
                <a:tc>
                  <a:txBody>
                    <a:bodyPr/>
                    <a:lstStyle/>
                    <a:p>
                      <a:pPr algn="l" indent="0" marL="0">
                        <a:buNone/>
                      </a:pPr>
                      <a:r>
                        <a:rPr lang="en-US" sz="1200" b="1" dirty="0">
                          <a:solidFill>
                            <a:srgbClr val="0E2A47"/>
                          </a:solidFill>
                          <a:latin typeface="Consolas" pitchFamily="34" charset="0"/>
                          <a:ea typeface="Consolas" pitchFamily="34" charset="-122"/>
                          <a:cs typeface="Consolas" pitchFamily="34" charset="-120"/>
                        </a:rPr>
                        <a:t>float, double</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EAF5F3"/>
                    </a:solidFill>
                  </a:tcPr>
                </a:tc>
                <a:tc>
                  <a:txBody>
                    <a:bodyPr/>
                    <a:lstStyle/>
                    <a:p>
                      <a:pPr algn="l" indent="0" marL="0">
                        <a:buNone/>
                      </a:pPr>
                      <a:r>
                        <a:rPr lang="en-US" sz="1200" dirty="0">
                          <a:solidFill>
                            <a:srgbClr val="33475B"/>
                          </a:solidFill>
                          <a:latin typeface="Consolas" pitchFamily="34" charset="0"/>
                          <a:ea typeface="Consolas" pitchFamily="34" charset="-122"/>
                          <a:cs typeface="Consolas" pitchFamily="34" charset="-120"/>
                        </a:rPr>
                        <a:t>float, double</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EAF5F3"/>
                    </a:solidFill>
                  </a:tcPr>
                </a:tc>
                <a:tc>
                  <a:txBody>
                    <a:bodyPr/>
                    <a:lstStyle/>
                    <a:p>
                      <a:pPr algn="l" indent="0" marL="0">
                        <a:buNone/>
                      </a:pPr>
                      <a:r>
                        <a:rPr lang="en-US" sz="1200" dirty="0">
                          <a:solidFill>
                            <a:srgbClr val="33475B"/>
                          </a:solidFill>
                        </a:rPr>
                        <a:t>natural mapping</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EAF5F3"/>
                    </a:solidFill>
                  </a:tcPr>
                </a:tc>
              </a:tr>
              <a:tr h="548640">
                <a:tc>
                  <a:txBody>
                    <a:bodyPr/>
                    <a:lstStyle/>
                    <a:p>
                      <a:pPr algn="l" indent="0" marL="0">
                        <a:buNone/>
                      </a:pPr>
                      <a:r>
                        <a:rPr lang="en-US" sz="1200" b="1" dirty="0">
                          <a:solidFill>
                            <a:srgbClr val="0E2A47"/>
                          </a:solidFill>
                          <a:latin typeface="Consolas" pitchFamily="34" charset="0"/>
                          <a:ea typeface="Consolas" pitchFamily="34" charset="-122"/>
                          <a:cs typeface="Consolas" pitchFamily="34" charset="-120"/>
                        </a:rPr>
                        <a:t>float16</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latin typeface="Consolas" pitchFamily="34" charset="0"/>
                          <a:ea typeface="Consolas" pitchFamily="34" charset="-122"/>
                          <a:cs typeface="Consolas" pitchFamily="34" charset="-120"/>
                        </a:rPr>
                        <a:t>_Float16</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rPr>
                        <a:t>where compiler/target supports it</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r>
              <a:tr h="548640">
                <a:tc>
                  <a:txBody>
                    <a:bodyPr/>
                    <a:lstStyle/>
                    <a:p>
                      <a:pPr algn="l" indent="0" marL="0">
                        <a:buNone/>
                      </a:pPr>
                      <a:r>
                        <a:rPr lang="en-US" sz="1200" b="1" dirty="0">
                          <a:solidFill>
                            <a:srgbClr val="0E2A47"/>
                          </a:solidFill>
                          <a:latin typeface="Consolas" pitchFamily="34" charset="0"/>
                          <a:ea typeface="Consolas" pitchFamily="34" charset="-122"/>
                          <a:cs typeface="Consolas" pitchFamily="34" charset="-120"/>
                        </a:rPr>
                        <a:t>bfloat16</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latin typeface="Consolas" pitchFamily="34" charset="0"/>
                          <a:ea typeface="Consolas" pitchFamily="34" charset="-122"/>
                          <a:cs typeface="Consolas" pitchFamily="34" charset="-120"/>
                        </a:rPr>
                        <a:t>__bf16</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c>
                  <a:txBody>
                    <a:bodyPr/>
                    <a:lstStyle/>
                    <a:p>
                      <a:pPr algn="l" indent="0" marL="0">
                        <a:buNone/>
                      </a:pPr>
                      <a:r>
                        <a:rPr lang="en-US" sz="1200" dirty="0">
                          <a:solidFill>
                            <a:srgbClr val="33475B"/>
                          </a:solidFill>
                        </a:rPr>
                        <a:t>compiler/target-specific extension</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2F6F8"/>
                    </a:solidFill>
                  </a:tcPr>
                </a:tc>
              </a:tr>
              <a:tr h="548640">
                <a:tc>
                  <a:txBody>
                    <a:bodyPr/>
                    <a:lstStyle/>
                    <a:p>
                      <a:pPr algn="l" indent="0" marL="0">
                        <a:buNone/>
                      </a:pPr>
                      <a:r>
                        <a:rPr lang="en-US" sz="1200" b="1" dirty="0">
                          <a:solidFill>
                            <a:srgbClr val="0E2A47"/>
                          </a:solidFill>
                          <a:latin typeface="Consolas" pitchFamily="34" charset="0"/>
                          <a:ea typeface="Consolas" pitchFamily="34" charset="-122"/>
                          <a:cs typeface="Consolas" pitchFamily="34" charset="-120"/>
                        </a:rPr>
                        <a:t>int2 / int4 / uint4</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BF3E7"/>
                    </a:solidFill>
                  </a:tcPr>
                </a:tc>
                <a:tc>
                  <a:txBody>
                    <a:bodyPr/>
                    <a:lstStyle/>
                    <a:p>
                      <a:pPr algn="l" indent="0" marL="0">
                        <a:buNone/>
                      </a:pPr>
                      <a:r>
                        <a:rPr lang="en-US" sz="1200" dirty="0">
                          <a:solidFill>
                            <a:srgbClr val="33475B"/>
                          </a:solidFill>
                          <a:latin typeface="Consolas" pitchFamily="34" charset="0"/>
                          <a:ea typeface="Consolas" pitchFamily="34" charset="-122"/>
                          <a:cs typeface="Consolas" pitchFamily="34" charset="-120"/>
                        </a:rPr>
                        <a:t>_BitInt(N) (C23)</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BF3E7"/>
                    </a:solidFill>
                  </a:tcPr>
                </a:tc>
                <a:tc>
                  <a:txBody>
                    <a:bodyPr/>
                    <a:lstStyle/>
                    <a:p>
                      <a:pPr algn="l" indent="0" marL="0">
                        <a:buNone/>
                      </a:pPr>
                      <a:r>
                        <a:rPr lang="en-US" sz="1200" dirty="0">
                          <a:solidFill>
                            <a:srgbClr val="33475B"/>
                          </a:solidFill>
                        </a:rPr>
                        <a:t>type range only — arrays may waste memory</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BF3E7"/>
                    </a:solidFill>
                  </a:tcPr>
                </a:tc>
              </a:tr>
              <a:tr h="548640">
                <a:tc>
                  <a:txBody>
                    <a:bodyPr/>
                    <a:lstStyle/>
                    <a:p>
                      <a:pPr algn="l" indent="0" marL="0">
                        <a:buNone/>
                      </a:pPr>
                      <a:r>
                        <a:rPr lang="en-US" sz="1200" b="1" dirty="0">
                          <a:solidFill>
                            <a:srgbClr val="0E2A47"/>
                          </a:solidFill>
                          <a:latin typeface="Consolas" pitchFamily="34" charset="0"/>
                          <a:ea typeface="Consolas" pitchFamily="34" charset="-122"/>
                          <a:cs typeface="Consolas" pitchFamily="34" charset="-120"/>
                        </a:rPr>
                        <a:t>FP8 / FP4</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BF3E7"/>
                    </a:solidFill>
                  </a:tcPr>
                </a:tc>
                <a:tc>
                  <a:txBody>
                    <a:bodyPr/>
                    <a:lstStyle/>
                    <a:p>
                      <a:pPr algn="l" indent="0" marL="0">
                        <a:buNone/>
                      </a:pPr>
                      <a:r>
                        <a:rPr lang="en-US" sz="1200" dirty="0">
                          <a:solidFill>
                            <a:srgbClr val="33475B"/>
                          </a:solidFill>
                          <a:latin typeface="Consolas" pitchFamily="34" charset="0"/>
                          <a:ea typeface="Consolas" pitchFamily="34" charset="-122"/>
                          <a:cs typeface="Consolas" pitchFamily="34" charset="-120"/>
                        </a:rPr>
                        <a:t>uint8 + converters</a:t>
                      </a:r>
                      <a:endParaRPr lang="en-US" sz="1200" dirty="0">
                        <a:latin typeface="Consolas" charset="0"/>
                        <a:ea typeface="Consolas" charset="0"/>
                        <a:cs typeface="Consolas" charset="0"/>
                      </a:endParaRPr>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BF3E7"/>
                    </a:solidFill>
                  </a:tcPr>
                </a:tc>
                <a:tc>
                  <a:txBody>
                    <a:bodyPr/>
                    <a:lstStyle/>
                    <a:p>
                      <a:pPr algn="l" indent="0" marL="0">
                        <a:buNone/>
                      </a:pPr>
                      <a:r>
                        <a:rPr lang="en-US" sz="1200" dirty="0">
                          <a:solidFill>
                            <a:srgbClr val="33475B"/>
                          </a:solidFill>
                        </a:rPr>
                        <a:t>not standard C arithmetic types</a:t>
                      </a:r>
                      <a:endParaRPr lang="en-US" sz="1200" dirty="0"/>
                    </a:p>
                  </a:txBody>
                  <a:tcPr marL="76200" marR="76200" marT="38100" marB="38100" anchor="ctr">
                    <a:lnL w="6350" cap="flat" cmpd="sng" algn="ctr">
                      <a:solidFill>
                        <a:srgbClr val="DBE6EA"/>
                      </a:solidFill>
                      <a:prstDash val="solid"/>
                      <a:round/>
                      <a:headEnd type="none" w="med" len="med"/>
                      <a:tailEnd type="none" w="med" len="med"/>
                    </a:lnL>
                    <a:lnR w="6350" cap="flat" cmpd="sng" algn="ctr">
                      <a:solidFill>
                        <a:srgbClr val="DBE6EA"/>
                      </a:solidFill>
                      <a:prstDash val="solid"/>
                      <a:round/>
                      <a:headEnd type="none" w="med" len="med"/>
                      <a:tailEnd type="none" w="med" len="med"/>
                    </a:lnR>
                    <a:lnT w="6350" cap="flat" cmpd="sng" algn="ctr">
                      <a:solidFill>
                        <a:srgbClr val="DBE6EA"/>
                      </a:solidFill>
                      <a:prstDash val="solid"/>
                      <a:round/>
                      <a:headEnd type="none" w="med" len="med"/>
                      <a:tailEnd type="none" w="med" len="med"/>
                    </a:lnT>
                    <a:lnB w="6350" cap="flat" cmpd="sng" algn="ctr">
                      <a:solidFill>
                        <a:srgbClr val="DBE6EA"/>
                      </a:solidFill>
                      <a:prstDash val="solid"/>
                      <a:round/>
                      <a:headEnd type="none" w="med" len="med"/>
                      <a:tailEnd type="none" w="med" len="med"/>
                    </a:lnB>
                    <a:solidFill>
                      <a:srgbClr val="FBF3E7"/>
                    </a:solidFill>
                  </a:tcPr>
                </a:tc>
              </a:tr>
            </a:tbl>
          </a:graphicData>
        </a:graphic>
      </p:graphicFrame>
      <p:sp>
        <p:nvSpPr>
          <p:cNvPr id="6" name="Text 3"/>
          <p:cNvSpPr/>
          <p:nvPr/>
        </p:nvSpPr>
        <p:spPr>
          <a:xfrm>
            <a:off x="548640" y="5852160"/>
            <a:ext cx="11064240" cy="640080"/>
          </a:xfrm>
          <a:prstGeom prst="rect">
            <a:avLst/>
          </a:prstGeom>
          <a:noFill/>
          <a:ln/>
        </p:spPr>
        <p:txBody>
          <a:bodyPr wrap="square" lIns="0" tIns="0" rIns="0" bIns="0" rtlCol="0" anchor="t"/>
          <a:lstStyle/>
          <a:p>
            <a:pPr indent="0" marL="0">
              <a:buNone/>
            </a:pPr>
            <a:r>
              <a:rPr lang="en-US" sz="1250" b="1" dirty="0">
                <a:solidFill>
                  <a:srgbClr val="E8A13A"/>
                </a:solidFill>
                <a:latin typeface="Calibri" pitchFamily="34" charset="0"/>
                <a:ea typeface="Calibri" pitchFamily="34" charset="-122"/>
                <a:cs typeface="Calibri" pitchFamily="34" charset="-120"/>
              </a:rPr>
              <a:t>Takeaway:  </a:t>
            </a:r>
            <a:pPr indent="0" marL="0">
              <a:buNone/>
            </a:pPr>
            <a:r>
              <a:rPr lang="en-US" sz="1250" dirty="0">
                <a:solidFill>
                  <a:srgbClr val="33475B"/>
                </a:solidFill>
                <a:latin typeface="Calibri" pitchFamily="34" charset="0"/>
                <a:ea typeface="Calibri" pitchFamily="34" charset="-122"/>
                <a:cs typeface="Calibri" pitchFamily="34" charset="-120"/>
              </a:rPr>
              <a:t>common numeric types are easy; reduced-precision and sub-byte types expose the gap between ONNX's type system and portable C. FP8 today is more useful for type coverage than for efficient portable execution.</a:t>
            </a:r>
            <a:endParaRPr lang="en-US" sz="1250" dirty="0"/>
          </a:p>
        </p:txBody>
      </p:sp>
      <p:sp>
        <p:nvSpPr>
          <p:cNvPr id="7" name="Text 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8" name="Text 5"/>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 CODE QUALITY</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Generated-code quality is a backend feature</a:t>
            </a:r>
            <a:endParaRPr lang="en-US" sz="2800" dirty="0"/>
          </a:p>
        </p:txBody>
      </p:sp>
      <p:sp>
        <p:nvSpPr>
          <p:cNvPr id="5" name="Shape 3"/>
          <p:cNvSpPr/>
          <p:nvPr/>
        </p:nvSpPr>
        <p:spPr>
          <a:xfrm>
            <a:off x="548640" y="1783080"/>
            <a:ext cx="5486400" cy="4160520"/>
          </a:xfrm>
          <a:prstGeom prst="roundRect">
            <a:avLst>
              <a:gd name="adj" fmla="val 1538"/>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19659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Desired properties of generated C</a:t>
            </a:r>
            <a:endParaRPr lang="en-US" sz="1500" dirty="0"/>
          </a:p>
        </p:txBody>
      </p:sp>
      <p:sp>
        <p:nvSpPr>
          <p:cNvPr id="7" name="Text 5"/>
          <p:cNvSpPr/>
          <p:nvPr/>
        </p:nvSpPr>
        <p:spPr>
          <a:xfrm>
            <a:off x="786384" y="2404872"/>
            <a:ext cx="5047488" cy="3374136"/>
          </a:xfrm>
          <a:prstGeom prst="rect">
            <a:avLst/>
          </a:prstGeom>
          <a:noFill/>
          <a:ln/>
        </p:spPr>
        <p:txBody>
          <a:bodyPr wrap="square" lIns="0" tIns="0" rIns="0" bIns="0" rtlCol="0" anchor="t"/>
          <a:lstStyle/>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Readable and reviewable</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Deterministic and stable across runs</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Auditable, explicit memory layout</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No dynamic allocation</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Minimal runtime dependencies</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Simple, small public API</a:t>
            </a:r>
            <a:endParaRPr lang="en-US" sz="1250" dirty="0"/>
          </a:p>
        </p:txBody>
      </p:sp>
      <p:sp>
        <p:nvSpPr>
          <p:cNvPr id="8" name="Shape 6"/>
          <p:cNvSpPr/>
          <p:nvPr/>
        </p:nvSpPr>
        <p:spPr>
          <a:xfrm>
            <a:off x="6217920" y="1783080"/>
            <a:ext cx="5394960" cy="2011680"/>
          </a:xfrm>
          <a:prstGeom prst="roundRect">
            <a:avLst>
              <a:gd name="adj" fmla="val 3636"/>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6446520" y="1920240"/>
            <a:ext cx="493776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External validation</a:t>
            </a:r>
            <a:endParaRPr lang="en-US" sz="1500" dirty="0"/>
          </a:p>
        </p:txBody>
      </p:sp>
      <p:sp>
        <p:nvSpPr>
          <p:cNvPr id="10" name="Text 8"/>
          <p:cNvSpPr/>
          <p:nvPr/>
        </p:nvSpPr>
        <p:spPr>
          <a:xfrm>
            <a:off x="6446520" y="2304288"/>
            <a:ext cx="4937760" cy="141732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The public ONNX Backend Scoreboard lists emx-onnx-cgen directly after ONNX Reference in the stable-build table — a useful compatibility signal, since it is based on ONNX backend unit tests.</a:t>
            </a:r>
            <a:endParaRPr lang="en-US" sz="1300" dirty="0"/>
          </a:p>
        </p:txBody>
      </p:sp>
      <p:sp>
        <p:nvSpPr>
          <p:cNvPr id="11" name="Shape 9"/>
          <p:cNvSpPr/>
          <p:nvPr/>
        </p:nvSpPr>
        <p:spPr>
          <a:xfrm>
            <a:off x="6217920" y="3977640"/>
            <a:ext cx="5394960" cy="1965960"/>
          </a:xfrm>
          <a:prstGeom prst="roundRect">
            <a:avLst>
              <a:gd name="adj" fmla="val 3721"/>
            </a:avLst>
          </a:prstGeom>
          <a:solidFill>
            <a:srgbClr val="0E2A47"/>
          </a:solidFill>
          <a:ln/>
        </p:spPr>
      </p:sp>
      <p:sp>
        <p:nvSpPr>
          <p:cNvPr id="12" name="Text 10"/>
          <p:cNvSpPr/>
          <p:nvPr/>
        </p:nvSpPr>
        <p:spPr>
          <a:xfrm>
            <a:off x="6446520" y="4096512"/>
            <a:ext cx="4937760" cy="365760"/>
          </a:xfrm>
          <a:prstGeom prst="rect">
            <a:avLst/>
          </a:prstGeom>
          <a:noFill/>
          <a:ln/>
        </p:spPr>
        <p:txBody>
          <a:bodyPr wrap="square" lIns="0" tIns="0" rIns="0" bIns="0" rtlCol="0" anchor="ctr"/>
          <a:lstStyle/>
          <a:p>
            <a:pPr indent="0" marL="0">
              <a:buNone/>
            </a:pPr>
            <a:r>
              <a:rPr lang="en-US" sz="1350" b="1" dirty="0">
                <a:solidFill>
                  <a:srgbClr val="E8A13A"/>
                </a:solidFill>
                <a:latin typeface="Calibri" pitchFamily="34" charset="0"/>
                <a:ea typeface="Calibri" pitchFamily="34" charset="-122"/>
                <a:cs typeface="Calibri" pitchFamily="34" charset="-120"/>
              </a:rPr>
              <a:t>But unit-test execution ≠ backend quality</a:t>
            </a:r>
            <a:endParaRPr lang="en-US" sz="1350" dirty="0"/>
          </a:p>
        </p:txBody>
      </p:sp>
      <p:sp>
        <p:nvSpPr>
          <p:cNvPr id="13" name="Text 11"/>
          <p:cNvSpPr/>
          <p:nvPr/>
        </p:nvSpPr>
        <p:spPr>
          <a:xfrm>
            <a:off x="6446520" y="4480560"/>
            <a:ext cx="4937760" cy="1371600"/>
          </a:xfrm>
          <a:prstGeom prst="rect">
            <a:avLst/>
          </a:prstGeom>
          <a:noFill/>
          <a:ln/>
        </p:spPr>
        <p:txBody>
          <a:bodyPr wrap="square" lIns="0" tIns="0" rIns="0" bIns="0" rtlCol="0" anchor="t"/>
          <a:lstStyle/>
          <a:p>
            <a:pPr indent="0" marL="0">
              <a:buNone/>
            </a:pPr>
            <a:r>
              <a:rPr lang="en-US" sz="1250" dirty="0">
                <a:solidFill>
                  <a:srgbClr val="CFE0EC"/>
                </a:solidFill>
                <a:latin typeface="Calibri" pitchFamily="34" charset="0"/>
                <a:ea typeface="Calibri" pitchFamily="34" charset="-122"/>
                <a:cs typeface="Calibri" pitchFamily="34" charset="-120"/>
              </a:rPr>
              <a:t>The scoreboard does not capture deterministic generated C, static memory planning, readable source, auditability, or safety-oriented build integration. For embedded and safety-adjacent targets, those are the real backend features.</a:t>
            </a:r>
            <a:endParaRPr lang="en-US" sz="1250" dirty="0"/>
          </a:p>
        </p:txBody>
      </p:sp>
      <p:sp>
        <p:nvSpPr>
          <p:cNvPr id="14" name="Text 1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5" name="Text 13"/>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2A47"/>
        </a:solidFill>
      </p:bgPr>
    </p:bg>
    <p:spTree>
      <p:nvGrpSpPr>
        <p:cNvPr id="1" name=""/>
        <p:cNvGrpSpPr/>
        <p:nvPr/>
      </p:nvGrpSpPr>
      <p:grpSpPr>
        <a:xfrm>
          <a:off x="0" y="0"/>
          <a:ext cx="0" cy="0"/>
          <a:chOff x="0" y="0"/>
          <a:chExt cx="0" cy="0"/>
        </a:xfrm>
      </p:grpSpPr>
      <p:sp>
        <p:nvSpPr>
          <p:cNvPr id="2" name="Text 0"/>
          <p:cNvSpPr/>
          <p:nvPr/>
        </p:nvSpPr>
        <p:spPr>
          <a:xfrm>
            <a:off x="777240" y="914400"/>
            <a:ext cx="2743200" cy="1463040"/>
          </a:xfrm>
          <a:prstGeom prst="rect">
            <a:avLst/>
          </a:prstGeom>
          <a:noFill/>
          <a:ln/>
        </p:spPr>
        <p:txBody>
          <a:bodyPr wrap="square" lIns="0" tIns="0" rIns="0" bIns="0" rtlCol="0" anchor="ctr"/>
          <a:lstStyle/>
          <a:p>
            <a:pPr indent="0" marL="0">
              <a:buNone/>
            </a:pPr>
            <a:r>
              <a:rPr lang="en-US" sz="9600" b="1" dirty="0">
                <a:solidFill>
                  <a:srgbClr val="1C436B"/>
                </a:solidFill>
                <a:latin typeface="Cambria" pitchFamily="34" charset="0"/>
                <a:ea typeface="Cambria" pitchFamily="34" charset="-122"/>
                <a:cs typeface="Cambria" pitchFamily="34" charset="-120"/>
              </a:rPr>
              <a:t>05</a:t>
            </a:r>
            <a:endParaRPr lang="en-US" sz="9600" dirty="0"/>
          </a:p>
        </p:txBody>
      </p:sp>
      <p:sp>
        <p:nvSpPr>
          <p:cNvPr id="3" name="Shape 1"/>
          <p:cNvSpPr/>
          <p:nvPr/>
        </p:nvSpPr>
        <p:spPr>
          <a:xfrm>
            <a:off x="822960" y="2697480"/>
            <a:ext cx="640080" cy="109728"/>
          </a:xfrm>
          <a:prstGeom prst="roundRect">
            <a:avLst>
              <a:gd name="adj" fmla="val 50000"/>
            </a:avLst>
          </a:prstGeom>
          <a:solidFill>
            <a:srgbClr val="16A39A"/>
          </a:solidFill>
          <a:ln/>
        </p:spPr>
      </p:sp>
      <p:sp>
        <p:nvSpPr>
          <p:cNvPr id="4" name="Text 2"/>
          <p:cNvSpPr/>
          <p:nvPr/>
        </p:nvSpPr>
        <p:spPr>
          <a:xfrm>
            <a:off x="777240" y="28803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Status &amp; community</a:t>
            </a:r>
            <a:endParaRPr lang="en-US" sz="4000" dirty="0"/>
          </a:p>
        </p:txBody>
      </p:sp>
      <p:sp>
        <p:nvSpPr>
          <p:cNvPr id="5" name="Text 3"/>
          <p:cNvSpPr/>
          <p:nvPr/>
        </p:nvSpPr>
        <p:spPr>
          <a:xfrm>
            <a:off x="795528" y="3840480"/>
            <a:ext cx="10058400" cy="548640"/>
          </a:xfrm>
          <a:prstGeom prst="rect">
            <a:avLst/>
          </a:prstGeom>
          <a:noFill/>
          <a:ln/>
        </p:spPr>
        <p:txBody>
          <a:bodyPr wrap="square" lIns="0" tIns="0" rIns="0" bIns="0" rtlCol="0" anchor="ctr"/>
          <a:lstStyle/>
          <a:p>
            <a:pPr indent="0" marL="0">
              <a:buNone/>
            </a:pPr>
            <a:r>
              <a:rPr lang="en-US" sz="1700" dirty="0">
                <a:solidFill>
                  <a:srgbClr val="9FC0D6"/>
                </a:solidFill>
                <a:latin typeface="Calibri" pitchFamily="34" charset="0"/>
                <a:ea typeface="Calibri" pitchFamily="34" charset="-122"/>
                <a:cs typeface="Calibri" pitchFamily="34" charset="-120"/>
              </a:rPr>
              <a:t>Where it stands and what to take away</a:t>
            </a:r>
            <a:endParaRPr lang="en-US" sz="1700" dirty="0"/>
          </a:p>
        </p:txBody>
      </p:sp>
      <p:sp>
        <p:nvSpPr>
          <p:cNvPr id="6" name="Text 4"/>
          <p:cNvSpPr/>
          <p:nvPr/>
        </p:nvSpPr>
        <p:spPr>
          <a:xfrm>
            <a:off x="822960" y="4572000"/>
            <a:ext cx="10424160" cy="1737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Opset 26, broad ORT operator support, visible coverage</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The scoreboard as credibility — with caveats</a:t>
            </a:r>
            <a:endParaRPr lang="en-US" sz="1400" dirty="0"/>
          </a:p>
          <a:p>
            <a:pPr marL="203200" indent="-203200">
              <a:spcAft>
                <a:spcPts val="700"/>
              </a:spcAft>
              <a:buSzPct val="100000"/>
              <a:buChar char="→"/>
            </a:pPr>
            <a:r>
              <a:rPr lang="en-US" sz="1400" dirty="0">
                <a:solidFill>
                  <a:srgbClr val="CFE0EC"/>
                </a:solidFill>
                <a:latin typeface="Calibri" pitchFamily="34" charset="0"/>
                <a:ea typeface="Calibri" pitchFamily="34" charset="-122"/>
                <a:cs typeface="Calibri" pitchFamily="34" charset="-120"/>
              </a:rPr>
              <a:t>What an AOT-friendly ONNX could specify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STATUS</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Where it stands today</a:t>
            </a:r>
            <a:endParaRPr lang="en-US" sz="2800" dirty="0"/>
          </a:p>
        </p:txBody>
      </p:sp>
      <p:sp>
        <p:nvSpPr>
          <p:cNvPr id="5" name="Shape 3"/>
          <p:cNvSpPr/>
          <p:nvPr/>
        </p:nvSpPr>
        <p:spPr>
          <a:xfrm>
            <a:off x="548640" y="1874520"/>
            <a:ext cx="3611880" cy="1691640"/>
          </a:xfrm>
          <a:prstGeom prst="roundRect">
            <a:avLst>
              <a:gd name="adj" fmla="val 4324"/>
            </a:avLst>
          </a:prstGeom>
          <a:solidFill>
            <a:srgbClr val="0E2A47"/>
          </a:solidFill>
          <a:ln/>
          <a:effectLst>
            <a:outerShdw sx="100000" sy="100000" kx="0" ky="0" algn="bl" rotWithShape="0" blurRad="114300" dist="38100" dir="5400000">
              <a:srgbClr val="0A1F38">
                <a:alpha val="14000"/>
              </a:srgbClr>
            </a:outerShdw>
          </a:effectLst>
        </p:spPr>
      </p:sp>
      <p:sp>
        <p:nvSpPr>
          <p:cNvPr id="6" name="Text 4"/>
          <p:cNvSpPr/>
          <p:nvPr/>
        </p:nvSpPr>
        <p:spPr>
          <a:xfrm>
            <a:off x="777240" y="2057400"/>
            <a:ext cx="3154680" cy="777240"/>
          </a:xfrm>
          <a:prstGeom prst="rect">
            <a:avLst/>
          </a:prstGeom>
          <a:noFill/>
          <a:ln/>
        </p:spPr>
        <p:txBody>
          <a:bodyPr wrap="square" lIns="0" tIns="0" rIns="0" bIns="0" rtlCol="0" anchor="ctr"/>
          <a:lstStyle/>
          <a:p>
            <a:pPr indent="0" marL="0">
              <a:buNone/>
            </a:pPr>
            <a:r>
              <a:rPr lang="en-US" sz="3800" b="1" dirty="0">
                <a:solidFill>
                  <a:srgbClr val="E8A13A"/>
                </a:solidFill>
                <a:latin typeface="Cambria" pitchFamily="34" charset="0"/>
                <a:ea typeface="Cambria" pitchFamily="34" charset="-122"/>
                <a:cs typeface="Cambria" pitchFamily="34" charset="-120"/>
              </a:rPr>
              <a:t>Opset 26</a:t>
            </a:r>
            <a:endParaRPr lang="en-US" sz="3800" dirty="0"/>
          </a:p>
        </p:txBody>
      </p:sp>
      <p:sp>
        <p:nvSpPr>
          <p:cNvPr id="7" name="Text 5"/>
          <p:cNvSpPr/>
          <p:nvPr/>
        </p:nvSpPr>
        <p:spPr>
          <a:xfrm>
            <a:off x="777240" y="2788920"/>
            <a:ext cx="3154680" cy="685800"/>
          </a:xfrm>
          <a:prstGeom prst="rect">
            <a:avLst/>
          </a:prstGeom>
          <a:noFill/>
          <a:ln/>
        </p:spPr>
        <p:txBody>
          <a:bodyPr wrap="square" lIns="0" tIns="0" rIns="0" bIns="0" rtlCol="0" anchor="t"/>
          <a:lstStyle/>
          <a:p>
            <a:pPr indent="0" marL="0">
              <a:buNone/>
            </a:pPr>
            <a:r>
              <a:rPr lang="en-US" sz="1300" dirty="0">
                <a:solidFill>
                  <a:srgbClr val="CFE0EC"/>
                </a:solidFill>
                <a:latin typeface="Calibri" pitchFamily="34" charset="0"/>
                <a:ea typeface="Calibri" pitchFamily="34" charset="-122"/>
                <a:cs typeface="Calibri" pitchFamily="34" charset="-120"/>
              </a:rPr>
              <a:t>ONNX 1.21.0 target</a:t>
            </a:r>
            <a:endParaRPr lang="en-US" sz="1300" dirty="0"/>
          </a:p>
        </p:txBody>
      </p:sp>
      <p:sp>
        <p:nvSpPr>
          <p:cNvPr id="8" name="Shape 6"/>
          <p:cNvSpPr/>
          <p:nvPr/>
        </p:nvSpPr>
        <p:spPr>
          <a:xfrm>
            <a:off x="4416552" y="1874520"/>
            <a:ext cx="3611880" cy="1691640"/>
          </a:xfrm>
          <a:prstGeom prst="roundRect">
            <a:avLst>
              <a:gd name="adj" fmla="val 4324"/>
            </a:avLst>
          </a:prstGeom>
          <a:solidFill>
            <a:srgbClr val="0E2A47"/>
          </a:solidFill>
          <a:ln/>
          <a:effectLst>
            <a:outerShdw sx="100000" sy="100000" kx="0" ky="0" algn="bl" rotWithShape="0" blurRad="114300" dist="38100" dir="5400000">
              <a:srgbClr val="0A1F38">
                <a:alpha val="14000"/>
              </a:srgbClr>
            </a:outerShdw>
          </a:effectLst>
        </p:spPr>
      </p:sp>
      <p:sp>
        <p:nvSpPr>
          <p:cNvPr id="9" name="Text 7"/>
          <p:cNvSpPr/>
          <p:nvPr/>
        </p:nvSpPr>
        <p:spPr>
          <a:xfrm>
            <a:off x="4645152" y="2057400"/>
            <a:ext cx="3154680" cy="777240"/>
          </a:xfrm>
          <a:prstGeom prst="rect">
            <a:avLst/>
          </a:prstGeom>
          <a:noFill/>
          <a:ln/>
        </p:spPr>
        <p:txBody>
          <a:bodyPr wrap="square" lIns="0" tIns="0" rIns="0" bIns="0" rtlCol="0" anchor="ctr"/>
          <a:lstStyle/>
          <a:p>
            <a:pPr indent="0" marL="0">
              <a:buNone/>
            </a:pPr>
            <a:r>
              <a:rPr lang="en-US" sz="3800" b="1" dirty="0">
                <a:solidFill>
                  <a:srgbClr val="E8A13A"/>
                </a:solidFill>
                <a:latin typeface="Cambria" pitchFamily="34" charset="0"/>
                <a:ea typeface="Cambria" pitchFamily="34" charset="-122"/>
                <a:cs typeface="Cambria" pitchFamily="34" charset="-120"/>
              </a:rPr>
              <a:t>ORT 1.26</a:t>
            </a:r>
            <a:endParaRPr lang="en-US" sz="3800" dirty="0"/>
          </a:p>
        </p:txBody>
      </p:sp>
      <p:sp>
        <p:nvSpPr>
          <p:cNvPr id="10" name="Text 8"/>
          <p:cNvSpPr/>
          <p:nvPr/>
        </p:nvSpPr>
        <p:spPr>
          <a:xfrm>
            <a:off x="4645152" y="2788920"/>
            <a:ext cx="3154680" cy="685800"/>
          </a:xfrm>
          <a:prstGeom prst="rect">
            <a:avLst/>
          </a:prstGeom>
          <a:noFill/>
          <a:ln/>
        </p:spPr>
        <p:txBody>
          <a:bodyPr wrap="square" lIns="0" tIns="0" rIns="0" bIns="0" rtlCol="0" anchor="t"/>
          <a:lstStyle/>
          <a:p>
            <a:pPr indent="0" marL="0">
              <a:buNone/>
            </a:pPr>
            <a:r>
              <a:rPr lang="en-US" sz="1300" dirty="0">
                <a:solidFill>
                  <a:srgbClr val="CFE0EC"/>
                </a:solidFill>
                <a:latin typeface="Calibri" pitchFamily="34" charset="0"/>
                <a:ea typeface="Calibri" pitchFamily="34" charset="-122"/>
                <a:cs typeface="Calibri" pitchFamily="34" charset="-120"/>
              </a:rPr>
              <a:t>broad Microsoft operator support</a:t>
            </a:r>
            <a:endParaRPr lang="en-US" sz="1300" dirty="0"/>
          </a:p>
        </p:txBody>
      </p:sp>
      <p:sp>
        <p:nvSpPr>
          <p:cNvPr id="11" name="Shape 9"/>
          <p:cNvSpPr/>
          <p:nvPr/>
        </p:nvSpPr>
        <p:spPr>
          <a:xfrm>
            <a:off x="8284464" y="1874520"/>
            <a:ext cx="3611880" cy="1691640"/>
          </a:xfrm>
          <a:prstGeom prst="roundRect">
            <a:avLst>
              <a:gd name="adj" fmla="val 4324"/>
            </a:avLst>
          </a:prstGeom>
          <a:solidFill>
            <a:srgbClr val="0E2A47"/>
          </a:solidFill>
          <a:ln/>
          <a:effectLst>
            <a:outerShdw sx="100000" sy="100000" kx="0" ky="0" algn="bl" rotWithShape="0" blurRad="114300" dist="38100" dir="5400000">
              <a:srgbClr val="0A1F38">
                <a:alpha val="14000"/>
              </a:srgbClr>
            </a:outerShdw>
          </a:effectLst>
        </p:spPr>
      </p:sp>
      <p:sp>
        <p:nvSpPr>
          <p:cNvPr id="12" name="Text 10"/>
          <p:cNvSpPr/>
          <p:nvPr/>
        </p:nvSpPr>
        <p:spPr>
          <a:xfrm>
            <a:off x="8513064" y="2057400"/>
            <a:ext cx="3154680" cy="777240"/>
          </a:xfrm>
          <a:prstGeom prst="rect">
            <a:avLst/>
          </a:prstGeom>
          <a:noFill/>
          <a:ln/>
        </p:spPr>
        <p:txBody>
          <a:bodyPr wrap="square" lIns="0" tIns="0" rIns="0" bIns="0" rtlCol="0" anchor="ctr"/>
          <a:lstStyle/>
          <a:p>
            <a:pPr indent="0" marL="0">
              <a:buNone/>
            </a:pPr>
            <a:r>
              <a:rPr lang="en-US" sz="3800" b="1" dirty="0">
                <a:solidFill>
                  <a:srgbClr val="E8A13A"/>
                </a:solidFill>
                <a:latin typeface="Cambria" pitchFamily="34" charset="0"/>
                <a:ea typeface="Cambria" pitchFamily="34" charset="-122"/>
                <a:cs typeface="Cambria" pitchFamily="34" charset="-120"/>
              </a:rPr>
              <a:t>#2</a:t>
            </a:r>
            <a:endParaRPr lang="en-US" sz="3800" dirty="0"/>
          </a:p>
        </p:txBody>
      </p:sp>
      <p:sp>
        <p:nvSpPr>
          <p:cNvPr id="13" name="Text 11"/>
          <p:cNvSpPr/>
          <p:nvPr/>
        </p:nvSpPr>
        <p:spPr>
          <a:xfrm>
            <a:off x="8513064" y="2788920"/>
            <a:ext cx="3154680" cy="685800"/>
          </a:xfrm>
          <a:prstGeom prst="rect">
            <a:avLst/>
          </a:prstGeom>
          <a:noFill/>
          <a:ln/>
        </p:spPr>
        <p:txBody>
          <a:bodyPr wrap="square" lIns="0" tIns="0" rIns="0" bIns="0" rtlCol="0" anchor="t"/>
          <a:lstStyle/>
          <a:p>
            <a:pPr indent="0" marL="0">
              <a:buNone/>
            </a:pPr>
            <a:r>
              <a:rPr lang="en-US" sz="1300" dirty="0">
                <a:solidFill>
                  <a:srgbClr val="CFE0EC"/>
                </a:solidFill>
                <a:latin typeface="Calibri" pitchFamily="34" charset="0"/>
                <a:ea typeface="Calibri" pitchFamily="34" charset="-122"/>
                <a:cs typeface="Calibri" pitchFamily="34" charset="-120"/>
              </a:rPr>
              <a:t>after ONNX Reference on the</a:t>
            </a:r>
            <a:endParaRPr lang="en-US" sz="1300" dirty="0"/>
          </a:p>
          <a:p>
            <a:pPr indent="0" marL="0">
              <a:buNone/>
            </a:pPr>
            <a:r>
              <a:rPr lang="en-US" sz="1300" dirty="0">
                <a:solidFill>
                  <a:srgbClr val="CFE0EC"/>
                </a:solidFill>
                <a:latin typeface="Calibri" pitchFamily="34" charset="0"/>
                <a:ea typeface="Calibri" pitchFamily="34" charset="-122"/>
                <a:cs typeface="Calibri" pitchFamily="34" charset="-120"/>
              </a:rPr>
              <a:t>Backend Scoreboard (stable)</a:t>
            </a:r>
            <a:endParaRPr lang="en-US" sz="1300" dirty="0"/>
          </a:p>
        </p:txBody>
      </p:sp>
      <p:sp>
        <p:nvSpPr>
          <p:cNvPr id="14" name="Shape 12"/>
          <p:cNvSpPr/>
          <p:nvPr/>
        </p:nvSpPr>
        <p:spPr>
          <a:xfrm>
            <a:off x="548640" y="3840480"/>
            <a:ext cx="5486400" cy="2286000"/>
          </a:xfrm>
          <a:prstGeom prst="roundRect">
            <a:avLst>
              <a:gd name="adj" fmla="val 280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5" name="Text 13"/>
          <p:cNvSpPr/>
          <p:nvPr/>
        </p:nvSpPr>
        <p:spPr>
          <a:xfrm>
            <a:off x="786384" y="40233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Coverage is reported, reproducible, visible</a:t>
            </a:r>
            <a:endParaRPr lang="en-US" sz="1500" dirty="0"/>
          </a:p>
        </p:txBody>
      </p:sp>
      <p:sp>
        <p:nvSpPr>
          <p:cNvPr id="16" name="Text 14"/>
          <p:cNvSpPr/>
          <p:nvPr/>
        </p:nvSpPr>
        <p:spPr>
          <a:xfrm>
            <a:off x="786384" y="4462272"/>
            <a:ext cx="5047488" cy="1499616"/>
          </a:xfrm>
          <a:prstGeom prst="rect">
            <a:avLst/>
          </a:prstGeom>
          <a:noFill/>
          <a:ln/>
        </p:spPr>
        <p:txBody>
          <a:bodyPr wrap="square" lIns="0" tIns="0" rIns="0" bIns="0" rtlCol="0" anchor="t"/>
          <a:lstStyle/>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SUPPORT_OPS.md — operator support status</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ONNX_SUPPORT.md — official backend model coverage</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ONNX_SUPPORT.md — ORT artifact corpus coverage</a:t>
            </a:r>
            <a:endParaRPr lang="en-US" sz="1250" dirty="0"/>
          </a:p>
          <a:p>
            <a:pPr algn="l" marL="177800" indent="-177800">
              <a:spcAft>
                <a:spcPts val="600"/>
              </a:spcAft>
              <a:buSzPct val="100000"/>
              <a:buChar char="•"/>
            </a:pPr>
            <a:r>
              <a:rPr lang="en-US" sz="1250" dirty="0">
                <a:solidFill>
                  <a:srgbClr val="33475B"/>
                </a:solidFill>
                <a:latin typeface="Calibri" pitchFamily="34" charset="0"/>
                <a:ea typeface="Calibri" pitchFamily="34" charset="-122"/>
                <a:cs typeface="Calibri" pitchFamily="34" charset="-120"/>
              </a:rPr>
              <a:t>Unsupported cases documented as expected errors</a:t>
            </a:r>
            <a:endParaRPr lang="en-US" sz="1250" dirty="0"/>
          </a:p>
        </p:txBody>
      </p:sp>
      <p:sp>
        <p:nvSpPr>
          <p:cNvPr id="17" name="Shape 15"/>
          <p:cNvSpPr/>
          <p:nvPr/>
        </p:nvSpPr>
        <p:spPr>
          <a:xfrm>
            <a:off x="6217920" y="3840480"/>
            <a:ext cx="5394960" cy="2286000"/>
          </a:xfrm>
          <a:prstGeom prst="roundRect">
            <a:avLst>
              <a:gd name="adj" fmla="val 320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8" name="Text 16"/>
          <p:cNvSpPr/>
          <p:nvPr/>
        </p:nvSpPr>
        <p:spPr>
          <a:xfrm>
            <a:off x="6446520" y="3977640"/>
            <a:ext cx="4937760" cy="36576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emx-ort-test-artifacts</a:t>
            </a:r>
            <a:endParaRPr lang="en-US" sz="1500" dirty="0"/>
          </a:p>
        </p:txBody>
      </p:sp>
      <p:sp>
        <p:nvSpPr>
          <p:cNvPr id="19" name="Text 17"/>
          <p:cNvSpPr/>
          <p:nvPr/>
        </p:nvSpPr>
        <p:spPr>
          <a:xfrm>
            <a:off x="6446520" y="4370832"/>
            <a:ext cx="4937760" cy="100584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Exports ORT tests into backend-test-like artifacts (model.onnx + test_data_set_*), reusable outside the ORT C++ harness — a broader, runtime-oriented reality check beyond the compact official node tests.</a:t>
            </a:r>
            <a:endParaRPr lang="en-US" sz="1200" dirty="0"/>
          </a:p>
        </p:txBody>
      </p:sp>
      <p:sp>
        <p:nvSpPr>
          <p:cNvPr id="20" name="Text 18"/>
          <p:cNvSpPr/>
          <p:nvPr/>
        </p:nvSpPr>
        <p:spPr>
          <a:xfrm>
            <a:off x="6446520" y="5532120"/>
            <a:ext cx="4937760" cy="502920"/>
          </a:xfrm>
          <a:prstGeom prst="rect">
            <a:avLst/>
          </a:prstGeom>
          <a:noFill/>
          <a:ln/>
        </p:spPr>
        <p:txBody>
          <a:bodyPr wrap="square" lIns="0" tIns="0" rIns="0" bIns="0" rtlCol="0" anchor="t"/>
          <a:lstStyle/>
          <a:p>
            <a:pPr indent="0" marL="0">
              <a:buNone/>
            </a:pPr>
            <a:r>
              <a:rPr lang="en-US" sz="1050" dirty="0">
                <a:solidFill>
                  <a:srgbClr val="0E7C77"/>
                </a:solidFill>
                <a:latin typeface="Consolas" pitchFamily="34" charset="0"/>
                <a:ea typeface="Consolas" pitchFamily="34" charset="-122"/>
                <a:cs typeface="Consolas" pitchFamily="34" charset="-120"/>
              </a:rPr>
              <a:t>ORT test case → ONNX model + test_data_set_* → backend-runnable</a:t>
            </a:r>
            <a:endParaRPr lang="en-US" sz="1050" dirty="0"/>
          </a:p>
        </p:txBody>
      </p:sp>
      <p:sp>
        <p:nvSpPr>
          <p:cNvPr id="21" name="Text 19"/>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22" name="Text 20"/>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10515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CREDIBILITY — WITH CAVEATS</a:t>
            </a:r>
            <a:endParaRPr lang="en-US" sz="1200" dirty="0"/>
          </a:p>
        </p:txBody>
      </p:sp>
      <p:sp>
        <p:nvSpPr>
          <p:cNvPr id="4" name="Text 2"/>
          <p:cNvSpPr/>
          <p:nvPr/>
        </p:nvSpPr>
        <p:spPr>
          <a:xfrm>
            <a:off x="548640" y="841248"/>
            <a:ext cx="11064240" cy="822960"/>
          </a:xfrm>
          <a:prstGeom prst="rect">
            <a:avLst/>
          </a:prstGeom>
          <a:noFill/>
          <a:ln/>
        </p:spPr>
        <p:txBody>
          <a:bodyPr wrap="square" lIns="0" tIns="0" rIns="0" bIns="0" rtlCol="0" anchor="ctr"/>
          <a:lstStyle/>
          <a:p>
            <a:pPr indent="0" marL="0">
              <a:buNone/>
            </a:pPr>
            <a:r>
              <a:rPr lang="en-US" sz="2800" b="1" dirty="0">
                <a:solidFill>
                  <a:srgbClr val="0E2A47"/>
                </a:solidFill>
                <a:latin typeface="Cambria" pitchFamily="34" charset="0"/>
                <a:ea typeface="Cambria" pitchFamily="34" charset="-122"/>
                <a:cs typeface="Cambria" pitchFamily="34" charset="-120"/>
              </a:rPr>
              <a:t>Reading the ONNX Backend Scoreboard</a:t>
            </a:r>
            <a:endParaRPr lang="en-US" sz="2800" dirty="0"/>
          </a:p>
        </p:txBody>
      </p:sp>
      <p:sp>
        <p:nvSpPr>
          <p:cNvPr id="5" name="Shape 3"/>
          <p:cNvSpPr/>
          <p:nvPr/>
        </p:nvSpPr>
        <p:spPr>
          <a:xfrm>
            <a:off x="548640" y="1783080"/>
            <a:ext cx="5486400" cy="4160520"/>
          </a:xfrm>
          <a:prstGeom prst="roundRect">
            <a:avLst>
              <a:gd name="adj" fmla="val 1538"/>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786384" y="1965960"/>
            <a:ext cx="5047488"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What it does tell us</a:t>
            </a:r>
            <a:endParaRPr lang="en-US" sz="1500" dirty="0"/>
          </a:p>
        </p:txBody>
      </p:sp>
      <p:sp>
        <p:nvSpPr>
          <p:cNvPr id="7" name="Text 5"/>
          <p:cNvSpPr/>
          <p:nvPr/>
        </p:nvSpPr>
        <p:spPr>
          <a:xfrm>
            <a:off x="786384" y="2404872"/>
            <a:ext cx="5047488" cy="3374136"/>
          </a:xfrm>
          <a:prstGeom prst="rect">
            <a:avLst/>
          </a:prstGeom>
          <a:noFill/>
          <a:ln/>
        </p:spPr>
        <p:txBody>
          <a:bodyPr wrap="square" lIns="0" tIns="0" rIns="0" bIns="0" rtlCol="0" anchor="t"/>
          <a:lstStyle/>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emx-onnx-cgen is a visible ONNX backend, not a local experiment</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Listed directly after ONNX Reference (current stable build)</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Score is based on the ONNX backend unit tests</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A genuine, external compatibility signal</a:t>
            </a:r>
            <a:endParaRPr lang="en-US" sz="1250" dirty="0"/>
          </a:p>
        </p:txBody>
      </p:sp>
      <p:sp>
        <p:nvSpPr>
          <p:cNvPr id="8" name="Shape 6"/>
          <p:cNvSpPr/>
          <p:nvPr/>
        </p:nvSpPr>
        <p:spPr>
          <a:xfrm>
            <a:off x="6217920" y="1783080"/>
            <a:ext cx="5394960" cy="4160520"/>
          </a:xfrm>
          <a:prstGeom prst="roundRect">
            <a:avLst>
              <a:gd name="adj" fmla="val 1538"/>
            </a:avLst>
          </a:prstGeom>
          <a:solidFill>
            <a:srgbClr val="FBEEE9"/>
          </a:solidFill>
          <a:ln w="12700">
            <a:solidFill>
              <a:srgbClr val="EFD6CC"/>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6455664" y="1965960"/>
            <a:ext cx="4956048" cy="365760"/>
          </a:xfrm>
          <a:prstGeom prst="rect">
            <a:avLst/>
          </a:prstGeom>
          <a:noFill/>
          <a:ln/>
        </p:spPr>
        <p:txBody>
          <a:bodyPr wrap="square" lIns="0" tIns="0" rIns="0" bIns="0" rtlCol="0" anchor="ctr"/>
          <a:lstStyle/>
          <a:p>
            <a:pPr indent="0" marL="0">
              <a:buNone/>
            </a:pPr>
            <a:r>
              <a:rPr lang="en-US" sz="1500" b="1" dirty="0">
                <a:solidFill>
                  <a:srgbClr val="B5503A"/>
                </a:solidFill>
                <a:latin typeface="Calibri" pitchFamily="34" charset="0"/>
                <a:ea typeface="Calibri" pitchFamily="34" charset="-122"/>
                <a:cs typeface="Calibri" pitchFamily="34" charset="-120"/>
              </a:rPr>
              <a:t>What it does NOT measure</a:t>
            </a:r>
            <a:endParaRPr lang="en-US" sz="1500" dirty="0"/>
          </a:p>
        </p:txBody>
      </p:sp>
      <p:sp>
        <p:nvSpPr>
          <p:cNvPr id="10" name="Text 8"/>
          <p:cNvSpPr/>
          <p:nvPr/>
        </p:nvSpPr>
        <p:spPr>
          <a:xfrm>
            <a:off x="6455664" y="2404872"/>
            <a:ext cx="4956048" cy="3374136"/>
          </a:xfrm>
          <a:prstGeom prst="rect">
            <a:avLst/>
          </a:prstGeom>
          <a:noFill/>
          <a:ln/>
        </p:spPr>
        <p:txBody>
          <a:bodyPr wrap="square" lIns="0" tIns="0" rIns="0" bIns="0" rtlCol="0" anchor="t"/>
          <a:lstStyle/>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Deterministic generated C</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Static memory planning</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Readable, auditable source</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Safety-oriented build integration</a:t>
            </a:r>
            <a:endParaRPr lang="en-US" sz="1250" dirty="0"/>
          </a:p>
          <a:p>
            <a:pPr algn="l" marL="177800" indent="-177800">
              <a:spcAft>
                <a:spcPts val="900"/>
              </a:spcAft>
              <a:buSzPct val="100000"/>
              <a:buChar char="✕"/>
            </a:pPr>
            <a:r>
              <a:rPr lang="en-US" sz="1250" dirty="0">
                <a:solidFill>
                  <a:srgbClr val="33475B"/>
                </a:solidFill>
                <a:latin typeface="Calibri" pitchFamily="34" charset="0"/>
                <a:ea typeface="Calibri" pitchFamily="34" charset="-122"/>
                <a:cs typeface="Calibri" pitchFamily="34" charset="-120"/>
              </a:rPr>
              <a:t>Generated-code quality overall</a:t>
            </a:r>
            <a:endParaRPr lang="en-US" sz="1250" dirty="0"/>
          </a:p>
        </p:txBody>
      </p:sp>
      <p:sp>
        <p:nvSpPr>
          <p:cNvPr id="11" name="Text 9"/>
          <p:cNvSpPr/>
          <p:nvPr/>
        </p:nvSpPr>
        <p:spPr>
          <a:xfrm>
            <a:off x="548640" y="6080760"/>
            <a:ext cx="11064240" cy="457200"/>
          </a:xfrm>
          <a:prstGeom prst="rect">
            <a:avLst/>
          </a:prstGeom>
          <a:noFill/>
          <a:ln/>
        </p:spPr>
        <p:txBody>
          <a:bodyPr wrap="square" lIns="0" tIns="0" rIns="0" bIns="0" rtlCol="0" anchor="ctr"/>
          <a:lstStyle/>
          <a:p>
            <a:pPr indent="0" marL="0">
              <a:buNone/>
            </a:pPr>
            <a:r>
              <a:rPr lang="en-US" sz="1300" i="1" dirty="0">
                <a:solidFill>
                  <a:srgbClr val="6B7C8F"/>
                </a:solidFill>
                <a:latin typeface="Calibri" pitchFamily="34" charset="0"/>
                <a:ea typeface="Calibri" pitchFamily="34" charset="-122"/>
                <a:cs typeface="Calibri" pitchFamily="34" charset="-120"/>
              </a:rPr>
              <a:t>Use the placement as credibility — then make clear that executing the unit tests is one dimension of backend quality, not the whole story.</a:t>
            </a:r>
            <a:endParaRPr lang="en-US" sz="1300" dirty="0"/>
          </a:p>
        </p:txBody>
      </p:sp>
      <p:sp>
        <p:nvSpPr>
          <p:cNvPr id="12"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  ·  master deck</a:t>
            </a:r>
            <a:endParaRPr lang="en-US" sz="900" dirty="0"/>
          </a:p>
        </p:txBody>
      </p:sp>
      <p:sp>
        <p:nvSpPr>
          <p:cNvPr id="13" name="Text 11"/>
          <p:cNvSpPr/>
          <p:nvPr/>
        </p:nvSpPr>
        <p:spPr>
          <a:xfrm>
            <a:off x="11185855" y="6473952"/>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548640" y="475488"/>
            <a:ext cx="201168" cy="201168"/>
          </a:xfrm>
          <a:prstGeom prst="roundRect">
            <a:avLst>
              <a:gd name="adj" fmla="val 22727"/>
            </a:avLst>
          </a:prstGeom>
          <a:solidFill>
            <a:srgbClr val="16A39A"/>
          </a:solidFill>
          <a:ln/>
        </p:spPr>
      </p:sp>
      <p:sp>
        <p:nvSpPr>
          <p:cNvPr id="3" name="Text 1"/>
          <p:cNvSpPr/>
          <p:nvPr/>
        </p:nvSpPr>
        <p:spPr>
          <a:xfrm>
            <a:off x="841248" y="429768"/>
            <a:ext cx="8229600" cy="301752"/>
          </a:xfrm>
          <a:prstGeom prst="rect">
            <a:avLst/>
          </a:prstGeom>
          <a:noFill/>
          <a:ln/>
        </p:spPr>
        <p:txBody>
          <a:bodyPr wrap="square" lIns="0" tIns="0" rIns="0" bIns="0" rtlCol="0" anchor="ctr"/>
          <a:lstStyle/>
          <a:p>
            <a:pPr indent="0" marL="0">
              <a:buNone/>
            </a:pPr>
            <a:r>
              <a:rPr lang="en-US" sz="1200" b="1" spc="200" kern="0" dirty="0">
                <a:solidFill>
                  <a:srgbClr val="16A39A"/>
                </a:solidFill>
                <a:latin typeface="Calibri" pitchFamily="34" charset="0"/>
                <a:ea typeface="Calibri" pitchFamily="34" charset="-122"/>
                <a:cs typeface="Calibri" pitchFamily="34" charset="-120"/>
              </a:rPr>
              <a:t>FOR THE ONNX COMMUNITY</a:t>
            </a:r>
            <a:endParaRPr lang="en-US" sz="1200" dirty="0"/>
          </a:p>
        </p:txBody>
      </p:sp>
      <p:sp>
        <p:nvSpPr>
          <p:cNvPr id="4" name="Text 2"/>
          <p:cNvSpPr/>
          <p:nvPr/>
        </p:nvSpPr>
        <p:spPr>
          <a:xfrm>
            <a:off x="548640" y="822960"/>
            <a:ext cx="1097280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Takeaways</a:t>
            </a:r>
            <a:endParaRPr lang="en-US" sz="3200" dirty="0"/>
          </a:p>
        </p:txBody>
      </p:sp>
      <p:sp>
        <p:nvSpPr>
          <p:cNvPr id="5" name="Shape 3"/>
          <p:cNvSpPr/>
          <p:nvPr/>
        </p:nvSpPr>
        <p:spPr>
          <a:xfrm>
            <a:off x="548640" y="1783080"/>
            <a:ext cx="3611880" cy="1417320"/>
          </a:xfrm>
          <a:prstGeom prst="roundRect">
            <a:avLst>
              <a:gd name="adj" fmla="val 5161"/>
            </a:avLst>
          </a:prstGeom>
          <a:solidFill>
            <a:srgbClr val="13355A"/>
          </a:solidFill>
          <a:ln w="12700">
            <a:solidFill>
              <a:srgbClr val="1E4A78"/>
            </a:solidFill>
            <a:prstDash val="solid"/>
          </a:ln>
        </p:spPr>
      </p:sp>
      <p:sp>
        <p:nvSpPr>
          <p:cNvPr id="6" name="Text 4"/>
          <p:cNvSpPr/>
          <p:nvPr/>
        </p:nvSpPr>
        <p:spPr>
          <a:xfrm>
            <a:off x="777240" y="194767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Boundedness</a:t>
            </a:r>
            <a:endParaRPr lang="en-US" sz="1500" dirty="0"/>
          </a:p>
        </p:txBody>
      </p:sp>
      <p:sp>
        <p:nvSpPr>
          <p:cNvPr id="7" name="Text 5"/>
          <p:cNvSpPr/>
          <p:nvPr/>
        </p:nvSpPr>
        <p:spPr>
          <a:xfrm>
            <a:off x="777240" y="233172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An AOT-friendly ONNX profile should state what must be bounded or static for deterministic codegen.</a:t>
            </a:r>
            <a:endParaRPr lang="en-US" sz="1150" dirty="0"/>
          </a:p>
        </p:txBody>
      </p:sp>
      <p:sp>
        <p:nvSpPr>
          <p:cNvPr id="8" name="Shape 6"/>
          <p:cNvSpPr/>
          <p:nvPr/>
        </p:nvSpPr>
        <p:spPr>
          <a:xfrm>
            <a:off x="4407408" y="1783080"/>
            <a:ext cx="3611880" cy="1417320"/>
          </a:xfrm>
          <a:prstGeom prst="roundRect">
            <a:avLst>
              <a:gd name="adj" fmla="val 5161"/>
            </a:avLst>
          </a:prstGeom>
          <a:solidFill>
            <a:srgbClr val="13355A"/>
          </a:solidFill>
          <a:ln w="12700">
            <a:solidFill>
              <a:srgbClr val="1E4A78"/>
            </a:solidFill>
            <a:prstDash val="solid"/>
          </a:ln>
        </p:spPr>
      </p:sp>
      <p:sp>
        <p:nvSpPr>
          <p:cNvPr id="9" name="Text 7"/>
          <p:cNvSpPr/>
          <p:nvPr/>
        </p:nvSpPr>
        <p:spPr>
          <a:xfrm>
            <a:off x="4636008" y="194767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Shared inference</a:t>
            </a:r>
            <a:endParaRPr lang="en-US" sz="1500" dirty="0"/>
          </a:p>
        </p:txBody>
      </p:sp>
      <p:sp>
        <p:nvSpPr>
          <p:cNvPr id="10" name="Text 8"/>
          <p:cNvSpPr/>
          <p:nvPr/>
        </p:nvSpPr>
        <p:spPr>
          <a:xfrm>
            <a:off x="4636008" y="233172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Reliable, reusable shape/type inference for dynamic models — extensible to external domains like ORT contrib.</a:t>
            </a:r>
            <a:endParaRPr lang="en-US" sz="1150" dirty="0"/>
          </a:p>
        </p:txBody>
      </p:sp>
      <p:sp>
        <p:nvSpPr>
          <p:cNvPr id="11" name="Shape 9"/>
          <p:cNvSpPr/>
          <p:nvPr/>
        </p:nvSpPr>
        <p:spPr>
          <a:xfrm>
            <a:off x="8266176" y="1783080"/>
            <a:ext cx="3611880" cy="1417320"/>
          </a:xfrm>
          <a:prstGeom prst="roundRect">
            <a:avLst>
              <a:gd name="adj" fmla="val 5161"/>
            </a:avLst>
          </a:prstGeom>
          <a:solidFill>
            <a:srgbClr val="13355A"/>
          </a:solidFill>
          <a:ln w="12700">
            <a:solidFill>
              <a:srgbClr val="1E4A78"/>
            </a:solidFill>
            <a:prstDash val="solid"/>
          </a:ln>
        </p:spPr>
      </p:sp>
      <p:sp>
        <p:nvSpPr>
          <p:cNvPr id="12" name="Text 10"/>
          <p:cNvSpPr/>
          <p:nvPr/>
        </p:nvSpPr>
        <p:spPr>
          <a:xfrm>
            <a:off x="8494776" y="194767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Persisted facts</a:t>
            </a:r>
            <a:endParaRPr lang="en-US" sz="1500" dirty="0"/>
          </a:p>
        </p:txBody>
      </p:sp>
      <p:sp>
        <p:nvSpPr>
          <p:cNvPr id="13" name="Text 11"/>
          <p:cNvSpPr/>
          <p:nvPr/>
        </p:nvSpPr>
        <p:spPr>
          <a:xfrm>
            <a:off x="8494776" y="233172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Inferred shapes/types should be storable in the model; a small DSL could drive C++ &amp; Python, numeric + symbolic.</a:t>
            </a:r>
            <a:endParaRPr lang="en-US" sz="1150" dirty="0"/>
          </a:p>
        </p:txBody>
      </p:sp>
      <p:sp>
        <p:nvSpPr>
          <p:cNvPr id="14" name="Shape 12"/>
          <p:cNvSpPr/>
          <p:nvPr/>
        </p:nvSpPr>
        <p:spPr>
          <a:xfrm>
            <a:off x="548640" y="3474720"/>
            <a:ext cx="3611880" cy="1417320"/>
          </a:xfrm>
          <a:prstGeom prst="roundRect">
            <a:avLst>
              <a:gd name="adj" fmla="val 5161"/>
            </a:avLst>
          </a:prstGeom>
          <a:solidFill>
            <a:srgbClr val="13355A"/>
          </a:solidFill>
          <a:ln w="12700">
            <a:solidFill>
              <a:srgbClr val="1E4A78"/>
            </a:solidFill>
            <a:prstDash val="solid"/>
          </a:ln>
        </p:spPr>
      </p:sp>
      <p:sp>
        <p:nvSpPr>
          <p:cNvPr id="15" name="Text 13"/>
          <p:cNvSpPr/>
          <p:nvPr/>
        </p:nvSpPr>
        <p:spPr>
          <a:xfrm>
            <a:off x="777240" y="363931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Accuracy contracts</a:t>
            </a:r>
            <a:endParaRPr lang="en-US" sz="1500" dirty="0"/>
          </a:p>
        </p:txBody>
      </p:sp>
      <p:sp>
        <p:nvSpPr>
          <p:cNvPr id="16" name="Text 14"/>
          <p:cNvSpPr/>
          <p:nvPr/>
        </p:nvSpPr>
        <p:spPr>
          <a:xfrm>
            <a:off x="777240" y="402336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Numerical accuracy requirements should be explicit in specs and official tests.</a:t>
            </a:r>
            <a:endParaRPr lang="en-US" sz="1150" dirty="0"/>
          </a:p>
        </p:txBody>
      </p:sp>
      <p:sp>
        <p:nvSpPr>
          <p:cNvPr id="17" name="Shape 15"/>
          <p:cNvSpPr/>
          <p:nvPr/>
        </p:nvSpPr>
        <p:spPr>
          <a:xfrm>
            <a:off x="4407408" y="3474720"/>
            <a:ext cx="3611880" cy="1417320"/>
          </a:xfrm>
          <a:prstGeom prst="roundRect">
            <a:avLst>
              <a:gd name="adj" fmla="val 5161"/>
            </a:avLst>
          </a:prstGeom>
          <a:solidFill>
            <a:srgbClr val="13355A"/>
          </a:solidFill>
          <a:ln w="12700">
            <a:solidFill>
              <a:srgbClr val="1E4A78"/>
            </a:solidFill>
            <a:prstDash val="solid"/>
          </a:ln>
        </p:spPr>
      </p:sp>
      <p:sp>
        <p:nvSpPr>
          <p:cNvPr id="18" name="Text 16"/>
          <p:cNvSpPr/>
          <p:nvPr/>
        </p:nvSpPr>
        <p:spPr>
          <a:xfrm>
            <a:off x="4636008" y="363931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Code quality</a:t>
            </a:r>
            <a:endParaRPr lang="en-US" sz="1500" dirty="0"/>
          </a:p>
        </p:txBody>
      </p:sp>
      <p:sp>
        <p:nvSpPr>
          <p:cNvPr id="19" name="Text 17"/>
          <p:cNvSpPr/>
          <p:nvPr/>
        </p:nvSpPr>
        <p:spPr>
          <a:xfrm>
            <a:off x="4636008" y="402336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Determinism, readability and auditability are backend features — not cosmetics.</a:t>
            </a:r>
            <a:endParaRPr lang="en-US" sz="1150" dirty="0"/>
          </a:p>
        </p:txBody>
      </p:sp>
      <p:sp>
        <p:nvSpPr>
          <p:cNvPr id="20" name="Shape 18"/>
          <p:cNvSpPr/>
          <p:nvPr/>
        </p:nvSpPr>
        <p:spPr>
          <a:xfrm>
            <a:off x="8266176" y="3474720"/>
            <a:ext cx="3611880" cy="1417320"/>
          </a:xfrm>
          <a:prstGeom prst="roundRect">
            <a:avLst>
              <a:gd name="adj" fmla="val 5161"/>
            </a:avLst>
          </a:prstGeom>
          <a:solidFill>
            <a:srgbClr val="13355A"/>
          </a:solidFill>
          <a:ln w="12700">
            <a:solidFill>
              <a:srgbClr val="1E4A78"/>
            </a:solidFill>
            <a:prstDash val="solid"/>
          </a:ln>
        </p:spPr>
      </p:sp>
      <p:sp>
        <p:nvSpPr>
          <p:cNvPr id="21" name="Text 19"/>
          <p:cNvSpPr/>
          <p:nvPr/>
        </p:nvSpPr>
        <p:spPr>
          <a:xfrm>
            <a:off x="8494776" y="363931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Portable test artifacts</a:t>
            </a:r>
            <a:endParaRPr lang="en-US" sz="1500" dirty="0"/>
          </a:p>
        </p:txBody>
      </p:sp>
      <p:sp>
        <p:nvSpPr>
          <p:cNvPr id="22" name="Text 20"/>
          <p:cNvSpPr/>
          <p:nvPr/>
        </p:nvSpPr>
        <p:spPr>
          <a:xfrm>
            <a:off x="8494776" y="402336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ORT-exported, backend-test-like artifacts let any backend share a broader corpus.</a:t>
            </a:r>
            <a:endParaRPr lang="en-US" sz="1150" dirty="0"/>
          </a:p>
        </p:txBody>
      </p:sp>
      <p:sp>
        <p:nvSpPr>
          <p:cNvPr id="23" name="Text 21"/>
          <p:cNvSpPr/>
          <p:nvPr/>
        </p:nvSpPr>
        <p:spPr>
          <a:xfrm>
            <a:off x="548640" y="5943600"/>
            <a:ext cx="11064240" cy="457200"/>
          </a:xfrm>
          <a:prstGeom prst="rect">
            <a:avLst/>
          </a:prstGeom>
          <a:noFill/>
          <a:ln/>
        </p:spPr>
        <p:txBody>
          <a:bodyPr wrap="square" lIns="0" tIns="0" rIns="0" bIns="0" rtlCol="0" anchor="ctr"/>
          <a:lstStyle/>
          <a:p>
            <a:pPr indent="0" marL="0">
              <a:buNone/>
            </a:pPr>
            <a:r>
              <a:rPr lang="en-US" sz="1400" i="1" dirty="0">
                <a:solidFill>
                  <a:srgbClr val="9FC0D6"/>
                </a:solidFill>
                <a:latin typeface="Calibri" pitchFamily="34" charset="0"/>
                <a:ea typeface="Calibri" pitchFamily="34" charset="-122"/>
                <a:cs typeface="Calibri" pitchFamily="34" charset="-120"/>
              </a:rPr>
              <a:t>ONNX is excellent interchange — deterministic AOT compilation just needs a few constraints made explicit.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F38"/>
        </a:solidFill>
      </p:bgPr>
    </p:bg>
    <p:spTree>
      <p:nvGrpSpPr>
        <p:cNvPr id="1" name=""/>
        <p:cNvGrpSpPr/>
        <p:nvPr/>
      </p:nvGrpSpPr>
      <p:grpSpPr>
        <a:xfrm>
          <a:off x="0" y="0"/>
          <a:ext cx="0" cy="0"/>
          <a:chOff x="0" y="0"/>
          <a:chExt cx="0" cy="0"/>
        </a:xfrm>
      </p:grpSpPr>
      <p:sp>
        <p:nvSpPr>
          <p:cNvPr id="2" name="Text 0"/>
          <p:cNvSpPr/>
          <p:nvPr/>
        </p:nvSpPr>
        <p:spPr>
          <a:xfrm>
            <a:off x="777240" y="640080"/>
            <a:ext cx="106070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Discussion</a:t>
            </a:r>
            <a:endParaRPr lang="en-US" sz="4400" dirty="0"/>
          </a:p>
        </p:txBody>
      </p:sp>
      <p:sp>
        <p:nvSpPr>
          <p:cNvPr id="3" name="Text 1"/>
          <p:cNvSpPr/>
          <p:nvPr/>
        </p:nvSpPr>
        <p:spPr>
          <a:xfrm>
            <a:off x="795528" y="1554480"/>
            <a:ext cx="10607040" cy="548640"/>
          </a:xfrm>
          <a:prstGeom prst="rect">
            <a:avLst/>
          </a:prstGeom>
          <a:noFill/>
          <a:ln/>
        </p:spPr>
        <p:txBody>
          <a:bodyPr wrap="square" lIns="0" tIns="0" rIns="0" bIns="0" rtlCol="0" anchor="ctr"/>
          <a:lstStyle/>
          <a:p>
            <a:pPr indent="0" marL="0">
              <a:buNone/>
            </a:pPr>
            <a:r>
              <a:rPr lang="en-US" sz="1800" dirty="0">
                <a:solidFill>
                  <a:srgbClr val="E8A13A"/>
                </a:solidFill>
                <a:latin typeface="Calibri" pitchFamily="34" charset="0"/>
                <a:ea typeface="Calibri" pitchFamily="34" charset="-122"/>
                <a:cs typeface="Calibri" pitchFamily="34" charset="-120"/>
              </a:rPr>
              <a:t>What would an AOT-friendly ONNX profile need to specify?</a:t>
            </a:r>
            <a:endParaRPr lang="en-US" sz="1800" dirty="0"/>
          </a:p>
        </p:txBody>
      </p:sp>
      <p:sp>
        <p:nvSpPr>
          <p:cNvPr id="4" name="Text 2"/>
          <p:cNvSpPr/>
          <p:nvPr/>
        </p:nvSpPr>
        <p:spPr>
          <a:xfrm>
            <a:off x="822960" y="2377440"/>
            <a:ext cx="10515600" cy="3108960"/>
          </a:xfrm>
          <a:prstGeom prst="rect">
            <a:avLst/>
          </a:prstGeom>
          <a:noFill/>
          <a:ln/>
        </p:spPr>
        <p:txBody>
          <a:bodyPr wrap="square" lIns="0" tIns="0" rIns="0" bIns="0" rtlCol="0" anchor="t"/>
          <a:lstStyle/>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Should ONNX have a stronger shared shape/type inference artifact for dynamic models?</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How should external operator domains register inference rules?</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Could custom operators carry portable shape/type rules inside ONNX?</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Which operators most need clearer numerical contracts?</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How should scoreboards represent deterministic codegen &amp; generated-code quality?</a:t>
            </a:r>
            <a:endParaRPr lang="en-US" sz="1650" dirty="0"/>
          </a:p>
        </p:txBody>
      </p:sp>
      <p:sp>
        <p:nvSpPr>
          <p:cNvPr id="5" name="Shape 3"/>
          <p:cNvSpPr/>
          <p:nvPr/>
        </p:nvSpPr>
        <p:spPr>
          <a:xfrm>
            <a:off x="822960" y="5715000"/>
            <a:ext cx="3200400" cy="0"/>
          </a:xfrm>
          <a:prstGeom prst="line">
            <a:avLst/>
          </a:prstGeom>
          <a:noFill/>
          <a:ln w="25400">
            <a:solidFill>
              <a:srgbClr val="16A39A"/>
            </a:solidFill>
            <a:prstDash val="solid"/>
          </a:ln>
        </p:spPr>
      </p:sp>
      <p:sp>
        <p:nvSpPr>
          <p:cNvPr id="6" name="Text 4"/>
          <p:cNvSpPr/>
          <p:nvPr/>
        </p:nvSpPr>
        <p:spPr>
          <a:xfrm>
            <a:off x="822960" y="5897880"/>
            <a:ext cx="100584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Thank you  ·  emx-onnx-cgen is open source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Lessons learned from building an AOT ONNX-to-C compiler (master deck)</dc:title>
  <dc:subject>PptxGenJS Presentation</dc:subject>
  <dc:creator>emmtrix Technologies</dc:creator>
  <cp:lastModifiedBy>emmtrix Technologies</cp:lastModifiedBy>
  <cp:revision>1</cp:revision>
  <dcterms:created xsi:type="dcterms:W3CDTF">2026-06-24T01:35:49Z</dcterms:created>
  <dcterms:modified xsi:type="dcterms:W3CDTF">2026-06-24T01:35:49Z</dcterms:modified>
</cp:coreProperties>
</file>