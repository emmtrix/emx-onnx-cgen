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cfd676b294b93" /><Relationship Type="http://schemas.openxmlformats.org/officeDocument/2006/relationships/extended-properties" Target="/docProps/app.xml" Id="R46331cc86b654ea4" /><Relationship Type="http://schemas.openxmlformats.org/officeDocument/2006/relationships/officeDocument" Target="/ppt/presentation.xml" Id="Rc94231013c8d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ac6f420ae54eca"/>
  </p:sldMasterIdLst>
  <p:notesMasterIdLst>
    <p:notesMasterId xmlns:r="http://schemas.openxmlformats.org/officeDocument/2006/relationships" r:id="R22151482b4ac4739"/>
  </p:notesMasterIdLst>
  <p:sldIdLst>
    <p:sldId xmlns:r="http://schemas.openxmlformats.org/officeDocument/2006/relationships" id="256" r:id="Ra2f2b89030424732"/>
    <p:sldId xmlns:r="http://schemas.openxmlformats.org/officeDocument/2006/relationships" id="257" r:id="R8a40de28910d467a"/>
    <p:sldId xmlns:r="http://schemas.openxmlformats.org/officeDocument/2006/relationships" id="258" r:id="R875d472b66964114"/>
    <p:sldId xmlns:r="http://schemas.openxmlformats.org/officeDocument/2006/relationships" id="259" r:id="R0191940a7830468d"/>
    <p:sldId xmlns:r="http://schemas.openxmlformats.org/officeDocument/2006/relationships" id="260" r:id="R1cfb7bf2faf343e0"/>
    <p:sldId xmlns:r="http://schemas.openxmlformats.org/officeDocument/2006/relationships" id="261" r:id="Rd09f12f63f2e4495"/>
    <p:sldId xmlns:r="http://schemas.openxmlformats.org/officeDocument/2006/relationships" id="262" r:id="Rf8a60107d76942c8"/>
    <p:sldId xmlns:r="http://schemas.openxmlformats.org/officeDocument/2006/relationships" id="263" r:id="R4f1917f024e5490e"/>
    <p:sldId xmlns:r="http://schemas.openxmlformats.org/officeDocument/2006/relationships" id="264" r:id="R3435ff9333fd4a56"/>
    <p:sldId xmlns:r="http://schemas.openxmlformats.org/officeDocument/2006/relationships" id="265" r:id="Rd3c9f504e61a4447"/>
    <p:sldId xmlns:r="http://schemas.openxmlformats.org/officeDocument/2006/relationships" id="266" r:id="R27b707353bbd43f6"/>
    <p:sldId xmlns:r="http://schemas.openxmlformats.org/officeDocument/2006/relationships" id="267" r:id="R4002c5ed22904faa"/>
    <p:sldId xmlns:r="http://schemas.openxmlformats.org/officeDocument/2006/relationships" id="268" r:id="Rf3c374c5c69b43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cb8e7f7b7488d" /><Relationship Type="http://schemas.openxmlformats.org/officeDocument/2006/relationships/slideMaster" Target="/ppt/slideMasters/slideMaster1.xml" Id="R83ac6f420ae54eca" /><Relationship Type="http://schemas.openxmlformats.org/officeDocument/2006/relationships/notesMaster" Target="/ppt/notesMasters/notesMaster1.xml" Id="R22151482b4ac4739" /><Relationship Type="http://schemas.openxmlformats.org/officeDocument/2006/relationships/presProps" Target="/ppt/presProps.xml" Id="Rc79cb0a4aa6d4016" /><Relationship Type="http://schemas.openxmlformats.org/officeDocument/2006/relationships/tableStyles" Target="/ppt/tableStyles.xml" Id="R9708e8206b7b4b23" /><Relationship Type="http://schemas.openxmlformats.org/officeDocument/2006/relationships/slide" Target="/ppt/slides/slide1.xml" Id="Ra2f2b89030424732" /><Relationship Type="http://schemas.openxmlformats.org/officeDocument/2006/relationships/slide" Target="/ppt/slides/slide2.xml" Id="R8a40de28910d467a" /><Relationship Type="http://schemas.openxmlformats.org/officeDocument/2006/relationships/slide" Target="/ppt/slides/slide3.xml" Id="R875d472b66964114" /><Relationship Type="http://schemas.openxmlformats.org/officeDocument/2006/relationships/slide" Target="/ppt/slides/slide4.xml" Id="R0191940a7830468d" /><Relationship Type="http://schemas.openxmlformats.org/officeDocument/2006/relationships/slide" Target="/ppt/slides/slide5.xml" Id="R1cfb7bf2faf343e0" /><Relationship Type="http://schemas.openxmlformats.org/officeDocument/2006/relationships/slide" Target="/ppt/slides/slide6.xml" Id="Rd09f12f63f2e4495" /><Relationship Type="http://schemas.openxmlformats.org/officeDocument/2006/relationships/slide" Target="/ppt/slides/slide7.xml" Id="Rf8a60107d76942c8" /><Relationship Type="http://schemas.openxmlformats.org/officeDocument/2006/relationships/slide" Target="/ppt/slides/slide8.xml" Id="R4f1917f024e5490e" /><Relationship Type="http://schemas.openxmlformats.org/officeDocument/2006/relationships/slide" Target="/ppt/slides/slide9.xml" Id="R3435ff9333fd4a56" /><Relationship Type="http://schemas.openxmlformats.org/officeDocument/2006/relationships/slide" Target="/ppt/slides/slide10.xml" Id="Rd3c9f504e61a4447" /><Relationship Type="http://schemas.openxmlformats.org/officeDocument/2006/relationships/slide" Target="/ppt/slides/slide11.xml" Id="R27b707353bbd43f6" /><Relationship Type="http://schemas.openxmlformats.org/officeDocument/2006/relationships/slide" Target="/ppt/slides/slide12.xml" Id="R4002c5ed22904faa" /><Relationship Type="http://schemas.openxmlformats.org/officeDocument/2006/relationships/slide" Target="/ppt/slides/slide13.xml" Id="Rf3c374c5c69b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e09527fd81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58b6bf12b4482b" /><Relationship Type="http://schemas.openxmlformats.org/officeDocument/2006/relationships/notesMaster" Target="/ppt/notesMasters/notesMaster1.xml" Id="R9ffa73bd6e7a4a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b24e3f3894c4e" /><Relationship Type="http://schemas.openxmlformats.org/officeDocument/2006/relationships/notesMaster" Target="/ppt/notesMasters/notesMaster1.xml" Id="R965a98a80080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85d7bcda5740cd" /><Relationship Type="http://schemas.openxmlformats.org/officeDocument/2006/relationships/notesMaster" Target="/ppt/notesMasters/notesMaster1.xml" Id="R5ae9876da13845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b205e42fb64ad6" /><Relationship Type="http://schemas.openxmlformats.org/officeDocument/2006/relationships/notesMaster" Target="/ppt/notesMasters/notesMaster1.xml" Id="R2a342260ef004f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d15036c3574b50" /><Relationship Type="http://schemas.openxmlformats.org/officeDocument/2006/relationships/notesMaster" Target="/ppt/notesMasters/notesMaster1.xml" Id="Rb93c01d105f541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b8aff1c73476a" /><Relationship Type="http://schemas.openxmlformats.org/officeDocument/2006/relationships/notesMaster" Target="/ppt/notesMasters/notesMaster1.xml" Id="R2ac4422e541340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b76c501494eab" /><Relationship Type="http://schemas.openxmlformats.org/officeDocument/2006/relationships/notesMaster" Target="/ppt/notesMasters/notesMaster1.xml" Id="R9be76c679eb447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5d4b3b4f2e49c2" /><Relationship Type="http://schemas.openxmlformats.org/officeDocument/2006/relationships/notesMaster" Target="/ppt/notesMasters/notesMaster1.xml" Id="R11c0065749244d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4dbaf4d5bd4e76" /><Relationship Type="http://schemas.openxmlformats.org/officeDocument/2006/relationships/notesMaster" Target="/ppt/notesMasters/notesMaster1.xml" Id="R4eafd963799c4c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1ece0f3a2a408e" /><Relationship Type="http://schemas.openxmlformats.org/officeDocument/2006/relationships/notesMaster" Target="/ppt/notesMasters/notesMaster1.xml" Id="R4a39550114fb4a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bf07d1a5af4c50" /><Relationship Type="http://schemas.openxmlformats.org/officeDocument/2006/relationships/notesMaster" Target="/ppt/notesMasters/notesMaster1.xml" Id="R20126695a90e49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4696a81f4542ac" /><Relationship Type="http://schemas.openxmlformats.org/officeDocument/2006/relationships/notesMaster" Target="/ppt/notesMasters/notesMaster1.xml" Id="Ra3013f6127be4f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0841940a0f4bd4" /><Relationship Type="http://schemas.openxmlformats.org/officeDocument/2006/relationships/notesMaster" Target="/ppt/notesMasters/notesMaster1.xml" Id="R6315bf3194d2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submitted title. Frame this as practical compiler lessons, not a product pitch. The talk asks what ONNX needs when used as input to deterministic embedded AOT compilation.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origin story: onnx2c proved the direction, but code quality and dynamic dimensions made a new compiler attractive. The 100% coverage target came later and changed the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the VLA idea was interesting. The point is not that VLA solves dynamic ONNX; it preserves more tensor structure than flat pointers while still needing bounds.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transition from prototype to compiler. Explain that the coverage goal changed the design: pass boundaries, deterministic output, and reproducible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concise. The audience needs the compiler context before the ONNX lessons. Emphasize that output C is an engineering artifact, not just a transport format.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compile/verify parity. Then introduce emx-ort-test-artifacts as the principle of exporting ORT tests into portable ONNX-style artifacts, including validation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ONNX lesson. Dynamic dims, strings, and sequences are the same class of problem: ONNX can represent open-ended values, while static C must reserve bounded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analogy explicit. For strings, the unbounded thing is characters. For sequences, it is the number of tensor objects, plus possibly per-item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vision. A DSL could specify shape/type rules once and drive both C++ and Python inference, including symbolic evaluation via SymPy. Custom operators could carry their own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not only an implementation detail. If reference data is high precision and tolerances are unclear, backend authors must guess. Our ULP-based path was chosen to scale better by dtype.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emx-onnx-cgen to the emmtrix compiler flow. The important distinction from compiler-internal IR stacks is that C is the handoff artifact into downstream tools and safety-oriented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ONNX Backend Scoreboard briefly. Do not turn the talk into a ranking discussion. Use it to show that the backend is serious, then pivot back to AOT-specific lessons.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constructively. Invite discussion around AOT-friendly profiles, shared inference artifacts, external operator rules, accuracy metadata, and backend scoreboards that capture more than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c4ae12edd40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35051417c248d3" /><Relationship Type="http://schemas.openxmlformats.org/officeDocument/2006/relationships/slideLayout" Target="/ppt/slideLayouts/slideLayout1.xml" Id="R79be980bbba44d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be980bbba44d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59abf18f84325" /><Relationship Type="http://schemas.openxmlformats.org/officeDocument/2006/relationships/notesSlide" Target="/ppt/notesSlides/notesSlide1.xml" Id="R63438af3fac142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70c6488ee400f" /><Relationship Type="http://schemas.openxmlformats.org/officeDocument/2006/relationships/notesSlide" Target="/ppt/notesSlides/notesSlide2.xml" Id="R0c5c5c5d9ba3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6a01a6a5a44cf" /><Relationship Type="http://schemas.openxmlformats.org/officeDocument/2006/relationships/notesSlide" Target="/ppt/notesSlides/notesSlide3.xml" Id="R07d3172c5808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e964fd1d94fae" /><Relationship Type="http://schemas.openxmlformats.org/officeDocument/2006/relationships/notesSlide" Target="/ppt/notesSlides/notesSlide4.xml" Id="Rea0a64d75e0e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b79f3c49645a2" /><Relationship Type="http://schemas.openxmlformats.org/officeDocument/2006/relationships/notesSlide" Target="/ppt/notesSlides/notesSlide5.xml" Id="Rc619c587e9e941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8fbf9aaeb408f" /><Relationship Type="http://schemas.openxmlformats.org/officeDocument/2006/relationships/notesSlide" Target="/ppt/notesSlides/notesSlide6.xml" Id="Rb4c0a632793046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ba51079d34149" /><Relationship Type="http://schemas.openxmlformats.org/officeDocument/2006/relationships/notesSlide" Target="/ppt/notesSlides/notesSlide7.xml" Id="R4bf23c719f44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cad03e6cd40dd" /><Relationship Type="http://schemas.openxmlformats.org/officeDocument/2006/relationships/notesSlide" Target="/ppt/notesSlides/notesSlide8.xml" Id="Rae90220bd17a41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0b9bfe95a49f6" /><Relationship Type="http://schemas.openxmlformats.org/officeDocument/2006/relationships/notesSlide" Target="/ppt/notesSlides/notesSlide9.xml" Id="Rd531c462af9c45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51116c30c4a4a" /><Relationship Type="http://schemas.openxmlformats.org/officeDocument/2006/relationships/notesSlide" Target="/ppt/notesSlides/notesSlide10.xml" Id="R6a0f1bfae5884b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336d335444455" /><Relationship Type="http://schemas.openxmlformats.org/officeDocument/2006/relationships/notesSlide" Target="/ppt/notesSlides/notesSlide11.xml" Id="R64abda9f968a49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d3fdff5f74abd" /><Relationship Type="http://schemas.openxmlformats.org/officeDocument/2006/relationships/notesSlide" Target="/ppt/notesSlides/notesSlide12.xml" Id="Rc2510558660842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6fdbcafba4f75" /><Relationship Type="http://schemas.openxmlformats.org/officeDocument/2006/relationships/notesSlide" Target="/ppt/notesSlides/notesSlide13.xml" Id="Rd51afa0679ea46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FABA94-1BFA-4F9B-98B1-458084A8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12257-E858-4E1B-BEF8-4A8BC6C5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ONNX Community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361B9-9EAF-486B-8F17-8ED8899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033"/>
                </a:solidFill>
              </a:defRPr>
            </a:pPr>
            <a:r>
              <a:rPr sz="4050" b="1">
                <a:solidFill>
                  <a:srgbClr val="102033"/>
                </a:solidFill>
              </a:rPr>
              <a:t>Lessons learned from building an AOT ONNX-to-C compiler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BBFDD-49AF-45AE-897E-2E55A82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170"/>
                </a:solidFill>
              </a:defRPr>
            </a:pPr>
            <a:r>
              <a:rPr sz="1800" b="0">
                <a:solidFill>
                  <a:srgbClr val="516170"/>
                </a:solidFill>
              </a:rPr>
              <a:t>emx-onnx-cgen for embedded and resource-constrained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64E6A-8D66-430D-927A-3BD6C904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ACB04-944F-4AB9-81DE-66388716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EFF59-CF74-4F12-8A2F-8BDC6AA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7410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Thesis: ONNX is a strong interchange format, but deterministic AOT C compilation needs additional bounds, inference facts, and numerical contracts.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E8C4D-22DE-472E-B16C-0B90AD8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AOT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ONNX -&gt;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42DDD-1E35-4E50-A60E-2CC3B48A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4CFBD-C8BB-424E-99DB-73BC50B5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049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6195C9-09C5-4BD6-91DC-2C6DB98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PROJECT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9C72E-792C-4E1F-A695-27802D5C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Why we started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55D82-8FD1-4890-9369-7FE7D94F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0507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6BE78-ED37-4582-B5A7-3A4771FE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1619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Used onnx2c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8EE4D-B9BA-4C2C-A8FE-2CE25BA5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6170"/>
                </a:solidFill>
              </a:defRPr>
            </a:pPr>
            <a:r>
              <a:rPr sz="1275" b="0">
                <a:solidFill>
                  <a:srgbClr val="516170"/>
                </a:solidFill>
              </a:rPr>
              <a:t>ONNX-to-C was useful, but generated C was hard to shape.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4AFC1-CCC8-46B2-ABED-E5D66BC1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2880C-FAB0-4E03-9F3A-B525168D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1619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Wanted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A6DFB-1B43-422B-85EC-9538192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6170"/>
                </a:solidFill>
              </a:defRPr>
            </a:pPr>
            <a:r>
              <a:rPr sz="1275" b="0">
                <a:solidFill>
                  <a:srgbClr val="516170"/>
                </a:solidFill>
              </a:rPr>
              <a:t>Embedded code must be readable, deterministic, and reviewable.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8C243-F048-4FC4-9A8A-9DEE0DA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05075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CFA0-A3DE-41A3-8733-9F8BCB5B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76450"/>
            <a:ext cx="1619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Tried VLA ABI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E87F6-A223-42AB-8FFF-B4064A52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43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6170"/>
                </a:solidFill>
              </a:defRPr>
            </a:pPr>
            <a:r>
              <a:rPr sz="1275" b="0">
                <a:solidFill>
                  <a:srgbClr val="516170"/>
                </a:solidFill>
              </a:rPr>
              <a:t>Runtime extents can be expressed in C signatures for known rank.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EF620-EF63-49AF-AB9B-B3E2270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1619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Coverage ambition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6AB00-873A-4653-9A0E-A9A33C2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6170"/>
                </a:solidFill>
              </a:defRPr>
            </a:pPr>
            <a:r>
              <a:rPr sz="1275" b="0">
                <a:solidFill>
                  <a:srgbClr val="516170"/>
                </a:solidFill>
              </a:rPr>
              <a:t>The prototype grew into a broad compiler and verification project.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584D2-B68C-4E99-A38D-75FB351E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44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AA027-0509-4685-858D-0AF822E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FE5FF-5B61-4246-854E-98B7E860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954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Generated C is not an implementation detail. For embedded systems it becomes an artifact for review, analysis, verification, and downstream optimization.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71FA2-623D-434C-9100-33B3F8F6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47C5C-B9B2-45C3-8076-143A533B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0159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3CD51-5504-462B-950E-85959D7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DYNAMIC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843DF-1853-40FA-B869-C0AE6C65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The VLA trigger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A5FF6-0CEF-4FE0-8227-39BD210E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Flat pointer ABI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50BF7-E657-4CAB-8DFC-B8111A1D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N-dimensional VLA ABI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75B79-B1FD-49AA-A769-54FDE72F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762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85299-EBB1-4820-905C-93C9DDC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43053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void add_flat(int N, int C,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const float *a,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const float *b,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float *out) {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int idx = n * C + c;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out[idx] = a[idx] + b[idx];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CA7FA-7089-43C2-BEAF-A7158547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4608C-B937-42AD-A5CC-E6CE2C35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28850"/>
            <a:ext cx="43053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void add_vla(int N, int C,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const float a[N][C],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const float b[N][C],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float out[N][C]) {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  out[n][c] = a[n][c] + b[n][c];</a:t>
            </a:r>
          </a:p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4D455-5956-4BFB-87EE-4B87430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95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DA84E-0B4D-475F-9614-62A61DDE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10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Both address contiguous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0B913-6574-48F2-8B04-4DAAB5A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01F6C-0EE8-488F-88A6-D7498C3D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10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VLA parameters keep rank and extents in the C 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8BF1A-B0D8-41EB-A9A8-43E78EE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4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CEC49-F37C-4DA9-A6C0-0FFDD8F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67350"/>
            <a:ext cx="910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Array bounds become semantic information for review and analysis.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9FD7B-C3A6-40C8-83F6-320C8C3F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6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874B9-E26E-4C8D-AB79-1BD64CF6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91200"/>
            <a:ext cx="910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033"/>
                </a:solidFill>
              </a:defRPr>
            </a:pPr>
            <a:r>
              <a:rPr sz="1425" b="0">
                <a:solidFill>
                  <a:srgbClr val="102033"/>
                </a:solidFill>
              </a:rPr>
              <a:t>VLAs still do not solve unbounded memory planning.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EBC29-4BB1-4D10-AD20-24235FE6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AA087-C98E-49E4-A79A-2F24E165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6235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19D38-2DE8-4065-95C2-F9F1CB2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4DD6C-68C9-44CD-A019-EB148BD7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From experiment to compiler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3D3D7-AD33-4CAE-AEC3-120E2EDB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81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98951-603A-4E24-ADCA-74F1D57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4668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Load ONNX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98EC7-C8E9-4DF6-A2F6-85D10E4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81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7E898-E822-415D-B2B8-3D99374A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81250"/>
            <a:ext cx="14668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Import 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2D800-CB7E-439C-86E5-19746289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60237-B605-4FF5-95AD-F95E3230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4668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Normalize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12485-B108-4B81-BC6F-A13253D6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E03F0-8455-419A-AF36-307E65C3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4668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59618-4B66-4D45-BD42-E0BD7419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B7988-7E4C-4AA2-AAD0-665D295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14668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Emit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0A2AF-1FCA-4540-A864-D1F44F76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81250"/>
            <a:ext cx="14668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7B3F7-3EC5-4C4B-8B15-E90B40F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030D5-B074-4D77-B816-4FF8223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Coverage pressure forced explicit phase boundaries.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8D294-F724-46E4-A0EC-608CB8FF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D5FE5-2C54-4DED-96E8-62F1D05D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Unsupported semantics need actionable diagnostics, not implicit fallbacks.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49052-E44E-4B4A-B381-B0E8C8B5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D1118-658F-4F45-A66D-5D884CA2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Generated output must be stable enough for golden tests and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001A7-5E52-410A-AE57-4AF65414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8F328-CD70-42D9-B8E4-E1F7EEEB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D1758-0CD9-4D73-9DD1-0130348A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48325"/>
            <a:ext cx="874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100% test coverage was an architecture constraint, not an after-the-fact badge.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AD94B-C999-43AF-BC94-7A6E4156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B44E5C-2AEB-48ED-9F3C-6226DC3E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7021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B91B6-C50C-4CFF-B5CE-ED6E07BE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GENERATED C AS ARTIFACT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EF0A8-C6AB-4958-8C09-3E8FE59E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What emx-onnx-cgen produces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2C6B5-41F6-4217-84C2-2B476736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3B551-7413-42C9-9F14-6D39B751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Ahead-of-time ONNX-to-C compiler for embedded and resource-constrained targets.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26950-1FA7-4B27-A2A7-4CEBF1DF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1281A-AB48-42F9-B4B6-530613D2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Portable, deterministic C with minimal runtime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C4F8C-DEA3-4B9B-90FF-91ECE3A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D0553-6CAC-4C6A-81A0-E660299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No hidden runtime dispatch and no required dynamic allocation.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F3FDB-E8E3-4F75-8868-C5866C69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7CD2B-A9BC-47AE-A6FF-DE33957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520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Small public API: load weights, then call the model function.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711F6-1C9D-4181-9E3E-C467E12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2952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model_load(path)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68744-CC83-4C55-A05D-49CB9E1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4683E-4828-40A7-BF2F-A318397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5242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model(inputs, outputs)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21564-50CB-46FA-97CE-2C11658F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00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31AD1-8204-4C2A-BE1A-A5E59D0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095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Clean C for review</a:t>
            </a:r>
          </a:p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and downstream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71450-F553-400B-8CCD-509AE2F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962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3A46B-EA77-4027-8944-4E603373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1E184-937F-46C9-9178-4485892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The C source is part of the compiler contract: readable, analyzable, and suitable for embedded build flows.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2B549-8C12-4C2D-B39D-172EE17A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3CAE3-04F4-4D47-B505-21675B18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9732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0CE56E-E73E-4678-978A-BCD0BC50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TESTING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B40C9-8A4A-4241-8820-559D916F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Verification became a product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373B9-65F0-4783-B1E6-830606F7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38375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92BD7-258C-42BB-9153-7CB30A51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479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98194-3CC8-42BC-B826-BDA4F5A3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-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CDEB9-6F73-47BA-990C-344952C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0" cy="-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6C0FF-CBDC-47BA-BA4C-C3FCCA34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619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Generate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871C5-80D5-4AAD-B3AF-2F11898D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619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Compile &amp;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78B14-9E0D-497D-B95B-647057E6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1619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Run ORT /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049AD-ACCA-47F6-B73C-E10007C1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1619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Compare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D1C20-A032-4E24-8035-3918511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Invariant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2AC22-9E2E-4634-AA46-1D8E43DF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Verification-only inputs must not silently change generated code.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E1673-D126-4D58-9EF1-A759C82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Extra corpus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F06B0-189C-475A-8017-7DF3C019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619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emx-ort-test-artifacts turns ORT tests into ONNX-backend-test-like model + data directories.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7EF10-0F40-4A3F-AF4E-BBEDDFEF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05255-1166-4BA0-BB86-31405FBD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7044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B1CEF-7B5D-4FA6-ADCE-D29994AD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AOT COMPILER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B6705-101B-41CA-8F5E-B5F3B5E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Lesson 1: ONNX is effectively unbounded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7569F-A0A5-4D65-BF00-AD01CC9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24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16170"/>
                </a:solidFill>
              </a:defRPr>
            </a:pPr>
            <a:r>
              <a:rPr sz="1425" b="1">
                <a:solidFill>
                  <a:srgbClr val="516170"/>
                </a:solidFill>
              </a:rPr>
              <a:t>ONNX feature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68D0F-FECD-4187-B2C1-61FCB3E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16170"/>
                </a:solidFill>
              </a:defRPr>
            </a:pPr>
            <a:r>
              <a:rPr sz="1425" b="1">
                <a:solidFill>
                  <a:srgbClr val="516170"/>
                </a:solidFill>
              </a:rPr>
              <a:t>What is open-ended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CB2C-7D35-4F88-9F5D-81774924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24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16170"/>
                </a:solidFill>
              </a:defRPr>
            </a:pPr>
            <a:r>
              <a:rPr sz="1425" b="1">
                <a:solidFill>
                  <a:srgbClr val="516170"/>
                </a:solidFill>
              </a:rPr>
              <a:t>AOT C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BC63D-6EDF-4BAA-92CC-61043D1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8B9DF-A6E9-4309-813C-9A197B25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Tensor dims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A42D2-4B81-42BF-BDF4-0B3B2B0B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5309"/>
                </a:solidFill>
              </a:defRPr>
            </a:pPr>
            <a:r>
              <a:rPr sz="1500" b="0">
                <a:solidFill>
                  <a:srgbClr val="B45309"/>
                </a:solidFill>
              </a:rPr>
              <a:t>symbolic /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EEA0C-3016-47BD-ADDF-37CC31F1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need max or static storage 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0DB4F-CF42-408D-98A6-73BC469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36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9B10A-6FA5-4E62-AD88-14288BF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Sequences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B6802-B4A8-4894-AA37-542AF134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5309"/>
                </a:solidFill>
              </a:defRPr>
            </a:pPr>
            <a:r>
              <a:rPr sz="1500" b="0">
                <a:solidFill>
                  <a:srgbClr val="B45309"/>
                </a:solidFill>
              </a:rPr>
              <a:t>length not bounded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41450-F730-4FB1-AD37-A52ED49C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3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need EMX_SEQUENCE_MAX_LEN-like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378E1-B8DA-4D37-B91D-210AB1AF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1036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75B91-2034-49F6-AE17-5A5287E8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Strings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3C497-FA62-4A5A-B90E-A1D96604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52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5309"/>
                </a:solidFill>
              </a:defRPr>
            </a:pPr>
            <a:r>
              <a:rPr sz="1500" b="0">
                <a:solidFill>
                  <a:srgbClr val="B45309"/>
                </a:solidFill>
              </a:rPr>
              <a:t>element length not bounded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DACE2-CA5E-4F63-93C9-496BFE4A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52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need EMX_STRING_MAX_LEN-like bound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D1FC9-E198-4E45-9A51-843C7412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36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A0E08-300E-492C-9992-14FF56B4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Dynamic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31CAC-1B88-4A3F-9142-1DC300DD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5309"/>
                </a:solidFill>
              </a:defRPr>
            </a:pPr>
            <a:r>
              <a:rPr sz="1500" b="0">
                <a:solidFill>
                  <a:srgbClr val="B45309"/>
                </a:solidFill>
              </a:rPr>
              <a:t>data-dependent 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1A9F7-6D93-4F45-8EBE-0F2688FE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766E"/>
                </a:solidFill>
              </a:defRPr>
            </a:pPr>
            <a:r>
              <a:rPr sz="1500" b="0">
                <a:solidFill>
                  <a:srgbClr val="0F766E"/>
                </a:solidFill>
              </a:rPr>
              <a:t>need capacity or reject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A92AC-70DC-49BA-AA93-7DBE85DE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76875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0BB79-58CD-4C53-B632-52ADA064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7687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68E23-FD32-4A0B-9E07-8A6EFDE0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48325"/>
            <a:ext cx="893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Interchange flexibility is useful. Deterministic static memory planning needs explicit bounds.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012DDC-08A9-4AC8-8568-56F1D4BC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983FC-706C-449F-8EEB-8CE8A762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7391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842D0-A35D-4AA9-9418-D4A93C11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CONTAINERS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36692-3277-42AF-8FCA-A8C8C05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Sequence length is the string-length problem again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730F7-3959-49F4-8CE4-82D433E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2571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String tensor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3FDCE-F5B1-4B76-941F-5BE28185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2571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44F3E-D444-48DF-9391-587272D1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57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</a:defRPr>
            </a:pPr>
            <a:r>
              <a:rPr sz="1800" b="1">
                <a:solidFill>
                  <a:srgbClr val="B45309"/>
                </a:solidFill>
              </a:rPr>
              <a:t>Missing: max characters per 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3225E-7D59-4B0D-ABA6-3DC5F9CE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669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C policy: char[..., EMX_STRING_MAX_LEN]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D492A-2FB2-4F7C-87B1-58CF2E37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57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Missing: max number of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109EB-C755-4D06-9A9D-732453C8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67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C policy: T[EMX_SEQUENCE_MAX_LEN][shape...] +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8E396-441A-44BB-91A6-756DCCA8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38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6CAAE-678D-4A32-A8FD-5785D893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16170"/>
                </a:solidFill>
              </a:defRPr>
            </a:pPr>
            <a:r>
              <a:rPr sz="1500" b="1">
                <a:solidFill>
                  <a:srgbClr val="516170"/>
                </a:solidFill>
              </a:rPr>
              <a:t>Same compiler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184A1-2978-47FE-9DC7-D7D91CF8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911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How much storage can I reserve before execution?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A288-B8AE-4528-861A-3F1A73C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C1BDB-B183-446D-B018-7B12C4F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3749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12ADE-34FF-4262-9A4B-EBB1BE6C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COMMUNITY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10508-3715-4025-90E2-E932F785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Lesson 2: Shape/type inference should be shared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44E22-B888-4A74-ABB7-1257719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035A0-F3E1-4370-A14F-6CAD490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539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Current inference is not reliable enough for all dynamic compiler use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BB10A-A30A-4037-96DE-EAAFD85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16CA5-2A75-4CCF-96BB-C8A3343C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539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Backends, MLIR importers, verifiers, and code generators duplicate logic.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7FCD3-E8D8-4265-8327-5504DC83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0AE94-C151-4F8E-9AC5-A25493DE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539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External domains such as ORT contrib operators need extensibility.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10F3F-CCB8-4ED4-8DA8-45463BC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33747-0C55-4E80-8EF4-E74BB53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539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Inferred facts should be persistable in the ONNX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4A392-4A38-4D20-BF92-9E03F5A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9AB0E-AE95-4479-AAED-D1B7011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2857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Shape/type DSL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B3AB7-8C18-40B0-B9A4-9F9D819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-762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7EC74-C8E4-4208-8241-4164FB4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12382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8D1A3-0035-41C5-8627-3A6855FC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2000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C++ inference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294E1-D451-4267-A52C-D12CCCD6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2095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Python + SymPy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A0629-85E0-4BCD-97C3-523DF6D5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672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5826F-EC42-4657-AE84-F0A32C2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3333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Persisted ONNX facts</a:t>
            </a:r>
          </a:p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(value_info / metadata)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E04A2-DA5C-4EAF-9721-87E03B2F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89199-4471-40FD-98C2-8BFF94F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3063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A5FAA-3054-44EB-A227-B3A7E6C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NUMERICAL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CBEFA-51F3-4A0E-85EF-55224520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Lesson 3: Accuracy is a contract too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A4008-92DD-4BAE-A55B-FB3E09F7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EB47E-7270-4F26-AB3F-39E27EA7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716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ONNX specs and tests often do not define complete numerical contracts.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D4214-53C9-43E2-A7A6-8ABD24AA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1D01D-8270-4D2D-A999-6B32F60F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4787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Tolerance models differ: ONNX backend tests, ORT tests, PyTorch, TensorFlow, NumPy.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9293B-AB6D-45CD-8935-F3E1A44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034F-95A2-499C-A46A-C9C37E86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Fixed rtol/atol is not equally meaningful for fp16, fp32, fp64, and fp8-like types.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EB28A-A6F1-4B07-97D6-94FF9614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F9720-AF0F-4EBA-9021-69B583DE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Strict verification exposed cases where 64-bit accumulation was needed.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4408B-C82D-4E25-B35D-9580673E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2FDBB-B11C-46C7-87E7-D603C3C8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emx-onnx-cgen</a:t>
            </a:r>
          </a:p>
          <a:p xmlns:a="http://schemas.openxmlformats.org/drawingml/2006/main">
            <a:pPr algn="ctr"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539A0-0613-48AA-8B9C-56202E3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1. ignore tiny abs diff</a:t>
            </a:r>
          </a:p>
          <a:p xmlns:a="http://schemas.openxmlformats.org/drawingml/2006/main">
            <a:pPr algn="ctr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2. compute ULP distance</a:t>
            </a:r>
          </a:p>
          <a:p xmlns:a="http://schemas.openxmlformats.org/drawingml/2006/main">
            <a:pPr algn="ctr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3. exact non-float 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3E413-D3A3-4644-AAB5-6BEF4B04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948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914B9-83E7-43F0-8944-AA991B72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292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65ED9-15D4-4E7F-9972-9C5E3CED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006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Where should operator- and dtype-specific accuracy expectations live?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65040-BFBE-4A9D-8E1A-5862EE88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3D4B1-69C9-4A64-9411-237FA57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2843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C88B0-0EB0-40E1-AA81-63EBB3A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COMPILER ECOSYSTEM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5268-8806-46D7-A8A9-B9813C63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C is the handoff IR in the emmtrix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A9993-A145-412D-8552-8E522EFA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432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5CD44-8EEF-4866-B1B7-52A0C55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6764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ONNX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6DA27-00F7-4D4C-B224-8196C001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34EFE-48DD-470A-BD00-BB694FE7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6764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Clean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8D5A4-ACF4-4EF2-A2EA-325BA21C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8E3B1-20A6-4CD8-A060-D494507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16764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Vectorizer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AD07C-E568-4DB2-B730-B5992310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EDD06-6933-4368-BC16-CC7D42F7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43150"/>
            <a:ext cx="16764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Target compiler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E82F1-F6F9-4FE0-A01D-AF32B11C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16764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Embedded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96471-D672-48BD-91F2-7053E079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D277F-84E2-4323-8589-BDA40E84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0050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Similar spirit to staged lowering in MLIR, but the exposed artifact is C source.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5FC2F-1961-495D-85CF-180A55E9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28E24-40A7-49CC-8128-0571C160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C is readable, auditable, and fits existing embedded build systems.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5FF58-CAEE-47C3-8213-990CB88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00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45227-558C-435D-8CC0-7EA31C54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2440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Heterogeneous C/C++ compilers, including safety-critical toolchains, remain usable.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94527-DAF8-484D-845C-A1CACE96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F741E-B388-4DBA-9C48-CD48A84B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86350"/>
            <a:ext cx="910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Therefore generated-code quality is a backend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36B91-403D-4802-B7A7-428278A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BAE19-1DD0-43CB-9E19-433F7B88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32137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1246B-DCEE-47E0-9688-CA31A2FB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EXTERNAL SIGNAL, NOT THE MAIN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EAAA5-4E41-4B26-91C0-6733CE8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Current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6B436-2676-4C99-B68C-6D00718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AB076-EEC0-4003-9C17-76C04CB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710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Targets current ONNX and broad Microsoft/ORT operator coverage.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3FD50-0D5C-4BAF-B639-90744F8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058F7-92FE-44B9-98E2-984BDDFF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710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Generated support reports track operator, official ONNX, and ORT-derived artifact corpora.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71F2D-F74D-4C37-BDEA-1AD45AE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ED999-238D-46DD-A6D7-E81A432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710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ONNX Backend Scoreboard lists emx-onnx-cgen directly after ONNX Reference in the stable-build 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D7C85-1ED3-41EA-B487-CD6BDEC6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F2BEF-45B7-4965-BCAB-235B606B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710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Scoreboards measure unit-test execution, not all AOT compiler qualities.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8EE8E-E57A-4322-902C-50B25B14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305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4DC0F-86D8-4FCF-8E53-13335A3B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Scoreboard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B29BE-AB1D-4B01-8407-48E1179F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1733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1. ONNX Reference</a:t>
            </a:r>
          </a:p>
          <a:p xmlns:a="http://schemas.openxmlformats.org/drawingml/2006/main">
            <a:pPr algn="ctr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2. emx-onnx-cgen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82F17-0CAC-4208-8009-0D79E30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170"/>
                </a:solidFill>
              </a:defRPr>
            </a:pPr>
            <a:r>
              <a:rPr sz="1200" b="0">
                <a:solidFill>
                  <a:srgbClr val="516170"/>
                </a:solidFill>
              </a:rPr>
              <a:t>Based on ONNX backend unit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F5266-28E6-4BB9-8B72-3A80FF29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C9BCE-DF97-4E83-BBB3-FC284BCC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2D1EE-4277-48BE-B6C4-6E6EDB82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912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Credibility matters, but the deeper lessons are about determinism, bounds, inference, and generated C as an engineering artifact.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F4B3B-5038-492B-BF25-ECD206A8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4EA07-BB76-4250-8560-5478019E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59994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8E867-6607-46E2-A9E8-58A77487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651CA-72A8-4494-81C7-65C9267E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Takeaways for the ONNX community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AA342-CED6-42E2-9586-D1B4C551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Boundedness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C6E8C-AF2C-4E21-9062-4E040A60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28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AOT-friendly models need explicit maxima for shapes, sequences, strings, and dynamic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0092C-B56F-4992-8B73-B26ADDD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50210-F22D-455B-B28C-837D9345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Reusable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08688-87CB-4E60-8997-10510797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Shape/type facts should be computed once, extensibly, and persistable in ONNX.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ED0BD-B939-428F-A88E-7D2135D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3D97A-CBCD-439C-9B3C-1E1655A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Accuracy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0FDB4-5B20-4653-9FC6-F3780570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908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Tests should carry clearer operator- and dtype-aware comparison contracts.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8BA5E-7F34-4734-87BB-F60336C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269EA-5B49-4B92-8C17-E17CD13C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45309"/>
                </a:solidFill>
              </a:defRPr>
            </a:pPr>
            <a:r>
              <a:rPr sz="1875" b="1">
                <a:solidFill>
                  <a:srgbClr val="B45309"/>
                </a:solidFill>
              </a:rPr>
              <a:t>Backend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BFDE6-C83B-493C-A9B2-E6B9384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719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ORT-derived tests can become portable ONNX-style artifacts for other backends.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83889-61A0-446B-A1D3-AB1FC433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9DB02-15AF-4A1A-8ED9-8D363BB2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Generated C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6AFFB-DD14-4B05-BD2E-6CBF85BA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033"/>
                </a:solidFill>
              </a:defRPr>
            </a:pPr>
            <a:r>
              <a:rPr sz="1650" b="0">
                <a:solidFill>
                  <a:srgbClr val="102033"/>
                </a:solidFill>
              </a:rPr>
              <a:t>Determinism, readability, and auditability are backend features.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1C3BA-A9A3-4C13-920A-EC20CAD2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664FD-7288-4422-8DA3-CB7EE99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</a:rPr>
              <a:t>Discussion: What should an AOT-friendly ONNX profile specify?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2F913-EE05-412E-9298-6BE0BCD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emx-onnx-cgen | ONNX Community 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A307E-882F-4B00-96F2-1FB0B3D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743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2026-06-24T00:21:14.6410000Z</dcterms:created>
  <dcterms:modified xsi:type="dcterms:W3CDTF">2026-06-24T00:21:14.6410000Z</dcterms:modified>
</coreProperties>
</file>